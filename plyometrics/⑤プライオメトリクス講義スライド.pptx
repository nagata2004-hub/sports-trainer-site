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3A5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88952" cy="73152"/>
          </a:xfrm>
          <a:prstGeom prst="rect">
            <a:avLst/>
          </a:prstGeom>
          <a:solidFill>
            <a:srgbClr val="2E86C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371600"/>
            <a:ext cx="10360152" cy="822960"/>
          </a:xfrm>
          <a:prstGeom prst="rect">
            <a:avLst/>
          </a:prstGeom>
          <a:noFill/>
        </p:spPr>
        <p:txBody>
          <a:bodyPr wrap="square">
            <a:spAutoFit/>
          </a:bodyPr>
          <a:lstStyle/>
          <a:p>
            <a:pPr algn="ctr"/>
            <a:r>
              <a:rPr sz="2200" b="0">
                <a:solidFill>
                  <a:srgbClr val="AED6F1"/>
                </a:solidFill>
                <a:latin typeface="Meiryo"/>
              </a:rPr>
              <a:t>S&amp;C領域</a:t>
            </a:r>
          </a:p>
        </p:txBody>
      </p:sp>
      <p:sp>
        <p:nvSpPr>
          <p:cNvPr id="5" name="TextBox 4"/>
          <p:cNvSpPr txBox="1"/>
          <p:nvPr/>
        </p:nvSpPr>
        <p:spPr>
          <a:xfrm>
            <a:off x="457200" y="1920240"/>
            <a:ext cx="11274552" cy="1280160"/>
          </a:xfrm>
          <a:prstGeom prst="rect">
            <a:avLst/>
          </a:prstGeom>
          <a:noFill/>
        </p:spPr>
        <p:txBody>
          <a:bodyPr wrap="square">
            <a:spAutoFit/>
          </a:bodyPr>
          <a:lstStyle/>
          <a:p>
            <a:pPr algn="ctr"/>
            <a:r>
              <a:rPr sz="5200" b="1">
                <a:solidFill>
                  <a:srgbClr val="FFFFFF"/>
                </a:solidFill>
                <a:latin typeface="Meiryo"/>
              </a:rPr>
              <a:t>プライオメトリクス</a:t>
            </a:r>
          </a:p>
        </p:txBody>
      </p:sp>
      <p:sp>
        <p:nvSpPr>
          <p:cNvPr id="6" name="TextBox 5"/>
          <p:cNvSpPr txBox="1"/>
          <p:nvPr/>
        </p:nvSpPr>
        <p:spPr>
          <a:xfrm>
            <a:off x="457200" y="3337560"/>
            <a:ext cx="11274552" cy="640080"/>
          </a:xfrm>
          <a:prstGeom prst="rect">
            <a:avLst/>
          </a:prstGeom>
          <a:noFill/>
        </p:spPr>
        <p:txBody>
          <a:bodyPr wrap="square">
            <a:spAutoFit/>
          </a:bodyPr>
          <a:lstStyle/>
          <a:p>
            <a:pPr algn="ctr"/>
            <a:r>
              <a:rPr sz="2000" b="0">
                <a:solidFill>
                  <a:srgbClr val="AED6F1"/>
                </a:solidFill>
                <a:latin typeface="Meiryo"/>
              </a:rPr>
              <a:t>トレーニングのためのプログラムデザインとテクニック</a:t>
            </a:r>
          </a:p>
        </p:txBody>
      </p:sp>
      <p:sp>
        <p:nvSpPr>
          <p:cNvPr id="7" name="Rectangle 6"/>
          <p:cNvSpPr/>
          <p:nvPr/>
        </p:nvSpPr>
        <p:spPr>
          <a:xfrm>
            <a:off x="2286000" y="4023360"/>
            <a:ext cx="7616952" cy="54864"/>
          </a:xfrm>
          <a:prstGeom prst="rect">
            <a:avLst/>
          </a:prstGeom>
          <a:solidFill>
            <a:srgbClr val="2E86C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4114800"/>
            <a:ext cx="11274552" cy="457200"/>
          </a:xfrm>
          <a:prstGeom prst="rect">
            <a:avLst/>
          </a:prstGeom>
          <a:noFill/>
        </p:spPr>
        <p:txBody>
          <a:bodyPr wrap="square">
            <a:spAutoFit/>
          </a:bodyPr>
          <a:lstStyle/>
          <a:p>
            <a:pPr algn="ctr"/>
            <a:r>
              <a:rPr sz="1500" b="0">
                <a:solidFill>
                  <a:srgbClr val="7FB3D3"/>
                </a:solidFill>
                <a:latin typeface="Meiryo"/>
              </a:rPr>
              <a:t>Program Design and Technique for Plyometric Training</a:t>
            </a:r>
          </a:p>
        </p:txBody>
      </p:sp>
      <p:sp>
        <p:nvSpPr>
          <p:cNvPr id="9" name="TextBox 8"/>
          <p:cNvSpPr txBox="1"/>
          <p:nvPr/>
        </p:nvSpPr>
        <p:spPr>
          <a:xfrm>
            <a:off x="457200" y="5029200"/>
            <a:ext cx="11274552" cy="457200"/>
          </a:xfrm>
          <a:prstGeom prst="rect">
            <a:avLst/>
          </a:prstGeom>
          <a:noFill/>
        </p:spPr>
        <p:txBody>
          <a:bodyPr wrap="square">
            <a:spAutoFit/>
          </a:bodyPr>
          <a:lstStyle/>
          <a:p>
            <a:pPr algn="ctr"/>
            <a:r>
              <a:rPr sz="1400" b="0">
                <a:solidFill>
                  <a:srgbClr val="85C1E9"/>
                </a:solidFill>
                <a:latin typeface="Meiryo"/>
              </a:rPr>
              <a:t>スポーツトレーナー同好会　自習用スライド</a:t>
            </a:r>
          </a:p>
        </p:txBody>
      </p:sp>
      <p:sp>
        <p:nvSpPr>
          <p:cNvPr id="10" name="TextBox 9"/>
          <p:cNvSpPr txBox="1"/>
          <p:nvPr/>
        </p:nvSpPr>
        <p:spPr>
          <a:xfrm>
            <a:off x="457200" y="5669280"/>
            <a:ext cx="11274552" cy="457200"/>
          </a:xfrm>
          <a:prstGeom prst="rect">
            <a:avLst/>
          </a:prstGeom>
          <a:noFill/>
        </p:spPr>
        <p:txBody>
          <a:bodyPr wrap="square">
            <a:spAutoFit/>
          </a:bodyPr>
          <a:lstStyle/>
          <a:p>
            <a:pPr algn="ctr"/>
            <a:r>
              <a:rPr sz="1200" b="0">
                <a:solidFill>
                  <a:srgbClr val="7F8C8D"/>
                </a:solidFill>
                <a:latin typeface="Meiryo"/>
              </a:rPr>
              <a:t>David H. Potach, PT  /  Donald A. Chu, PhD, PT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88720"/>
          </a:xfrm>
          <a:prstGeom prst="rect">
            <a:avLst/>
          </a:prstGeom>
          <a:solidFill>
            <a:srgbClr val="1A3A5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720"/>
            <a:ext cx="12188952" cy="54864"/>
          </a:xfrm>
          <a:prstGeom prst="rect">
            <a:avLst/>
          </a:prstGeom>
          <a:solidFill>
            <a:srgbClr val="2E86C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09728"/>
            <a:ext cx="11430000" cy="777240"/>
          </a:xfrm>
          <a:prstGeom prst="rect">
            <a:avLst/>
          </a:prstGeom>
          <a:noFill/>
        </p:spPr>
        <p:txBody>
          <a:bodyPr wrap="square">
            <a:spAutoFit/>
          </a:bodyPr>
          <a:lstStyle/>
          <a:p>
            <a:pPr algn="l"/>
            <a:r>
              <a:rPr sz="2800" b="1">
                <a:solidFill>
                  <a:srgbClr val="FFFFFF"/>
                </a:solidFill>
                <a:latin typeface="Meiryo"/>
              </a:rPr>
              <a:t>本講義の学習目標</a:t>
            </a:r>
          </a:p>
        </p:txBody>
      </p:sp>
      <p:sp>
        <p:nvSpPr>
          <p:cNvPr id="6" name="TextBox 5"/>
          <p:cNvSpPr txBox="1"/>
          <p:nvPr/>
        </p:nvSpPr>
        <p:spPr>
          <a:xfrm>
            <a:off x="365760" y="804672"/>
            <a:ext cx="10972800" cy="365760"/>
          </a:xfrm>
          <a:prstGeom prst="rect">
            <a:avLst/>
          </a:prstGeom>
          <a:noFill/>
        </p:spPr>
        <p:txBody>
          <a:bodyPr wrap="square">
            <a:spAutoFit/>
          </a:bodyPr>
          <a:lstStyle/>
          <a:p>
            <a:pPr algn="l"/>
            <a:r>
              <a:rPr sz="1400" b="0">
                <a:solidFill>
                  <a:srgbClr val="AED6F1"/>
                </a:solidFill>
                <a:latin typeface="Meiryo"/>
              </a:rPr>
              <a:t>Learning Objectives</a:t>
            </a:r>
          </a:p>
        </p:txBody>
      </p:sp>
      <p:sp>
        <p:nvSpPr>
          <p:cNvPr id="7" name="Rectangle 6"/>
          <p:cNvSpPr/>
          <p:nvPr/>
        </p:nvSpPr>
        <p:spPr>
          <a:xfrm>
            <a:off x="274320" y="1371600"/>
            <a:ext cx="11640312" cy="52120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463040"/>
            <a:ext cx="11247120" cy="5029200"/>
          </a:xfrm>
          <a:prstGeom prst="rect">
            <a:avLst/>
          </a:prstGeom>
          <a:noFill/>
        </p:spPr>
        <p:txBody>
          <a:bodyPr wrap="square">
            <a:spAutoFit/>
          </a:bodyPr>
          <a:lstStyle/>
          <a:p>
            <a:pPr>
              <a:spcBef>
                <a:spcPts val="1200"/>
              </a:spcBef>
            </a:pPr>
            <a:r>
              <a:rPr sz="1700">
                <a:solidFill>
                  <a:srgbClr val="1A3A5C"/>
                </a:solidFill>
                <a:latin typeface="Meiryo"/>
              </a:rPr>
              <a:t>  1.  プライオメトリクスの仕組み（力学的・神経生理学的なしくみ）を説明できる</a:t>
            </a:r>
          </a:p>
          <a:p>
            <a:pPr>
              <a:spcBef>
                <a:spcPts val="1200"/>
              </a:spcBef>
            </a:pPr>
            <a:r>
              <a:rPr sz="1700">
                <a:solidFill>
                  <a:srgbClr val="1A3A5C"/>
                </a:solidFill>
                <a:latin typeface="Meiryo"/>
              </a:rPr>
              <a:t>  2.  ストレッチ・ショートニングサイクル（SSC）の3つの局面を区別できる</a:t>
            </a:r>
          </a:p>
          <a:p>
            <a:pPr>
              <a:spcBef>
                <a:spcPts val="1200"/>
              </a:spcBef>
            </a:pPr>
            <a:r>
              <a:rPr sz="1700">
                <a:solidFill>
                  <a:srgbClr val="1A3A5C"/>
                </a:solidFill>
                <a:latin typeface="Meiryo"/>
              </a:rPr>
              <a:t>  3.  プライオメトリックトレーニングのプログラムを構成する要素を挙げられる</a:t>
            </a:r>
          </a:p>
          <a:p>
            <a:pPr>
              <a:spcBef>
                <a:spcPts val="1200"/>
              </a:spcBef>
            </a:pPr>
            <a:r>
              <a:rPr sz="1700">
                <a:solidFill>
                  <a:srgbClr val="1A3A5C"/>
                </a:solidFill>
                <a:latin typeface="Meiryo"/>
              </a:rPr>
              <a:t>  4.  安全で効果的なプライオメトリックトレーニングのプログラムをデザインできる</a:t>
            </a:r>
          </a:p>
          <a:p>
            <a:pPr>
              <a:spcBef>
                <a:spcPts val="1200"/>
              </a:spcBef>
            </a:pPr>
            <a:r>
              <a:rPr sz="1700">
                <a:solidFill>
                  <a:srgbClr val="1A3A5C"/>
                </a:solidFill>
                <a:latin typeface="Meiryo"/>
              </a:rPr>
              <a:t>  5.  下半身・上半身のプライオメトリックエクササイズを正しく行えるよう指導できる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88720"/>
          </a:xfrm>
          <a:prstGeom prst="rect">
            <a:avLst/>
          </a:prstGeom>
          <a:solidFill>
            <a:srgbClr val="1A3A5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720"/>
            <a:ext cx="12188952" cy="54864"/>
          </a:xfrm>
          <a:prstGeom prst="rect">
            <a:avLst/>
          </a:prstGeom>
          <a:solidFill>
            <a:srgbClr val="2E86C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09728"/>
            <a:ext cx="11430000" cy="777240"/>
          </a:xfrm>
          <a:prstGeom prst="rect">
            <a:avLst/>
          </a:prstGeom>
          <a:noFill/>
        </p:spPr>
        <p:txBody>
          <a:bodyPr wrap="square">
            <a:spAutoFit/>
          </a:bodyPr>
          <a:lstStyle/>
          <a:p>
            <a:pPr algn="l"/>
            <a:r>
              <a:rPr sz="2800" b="1">
                <a:solidFill>
                  <a:srgbClr val="FFFFFF"/>
                </a:solidFill>
                <a:latin typeface="Meiryo"/>
              </a:rPr>
              <a:t>プライオメトリクスとは？</a:t>
            </a:r>
          </a:p>
        </p:txBody>
      </p:sp>
      <p:sp>
        <p:nvSpPr>
          <p:cNvPr id="6" name="TextBox 5"/>
          <p:cNvSpPr txBox="1"/>
          <p:nvPr/>
        </p:nvSpPr>
        <p:spPr>
          <a:xfrm>
            <a:off x="365760" y="804672"/>
            <a:ext cx="10972800" cy="365760"/>
          </a:xfrm>
          <a:prstGeom prst="rect">
            <a:avLst/>
          </a:prstGeom>
          <a:noFill/>
        </p:spPr>
        <p:txBody>
          <a:bodyPr wrap="square">
            <a:spAutoFit/>
          </a:bodyPr>
          <a:lstStyle/>
          <a:p>
            <a:pPr algn="l"/>
            <a:r>
              <a:rPr sz="1400" b="0">
                <a:solidFill>
                  <a:srgbClr val="AED6F1"/>
                </a:solidFill>
                <a:latin typeface="Meiryo"/>
              </a:rPr>
              <a:t>Definition &amp; Concept</a:t>
            </a:r>
          </a:p>
        </p:txBody>
      </p:sp>
      <p:sp>
        <p:nvSpPr>
          <p:cNvPr id="7" name="Rectangle 6"/>
          <p:cNvSpPr/>
          <p:nvPr/>
        </p:nvSpPr>
        <p:spPr>
          <a:xfrm>
            <a:off x="274320" y="1371600"/>
            <a:ext cx="11640312" cy="1371600"/>
          </a:xfrm>
          <a:prstGeom prst="rect">
            <a:avLst/>
          </a:prstGeom>
          <a:solidFill>
            <a:srgbClr val="1F5C8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417320"/>
            <a:ext cx="1828800" cy="365760"/>
          </a:xfrm>
          <a:prstGeom prst="rect">
            <a:avLst/>
          </a:prstGeom>
          <a:noFill/>
        </p:spPr>
        <p:txBody>
          <a:bodyPr wrap="square">
            <a:spAutoFit/>
          </a:bodyPr>
          <a:lstStyle/>
          <a:p>
            <a:pPr algn="l"/>
            <a:r>
              <a:rPr sz="1300" b="1">
                <a:solidFill>
                  <a:srgbClr val="AED6F1"/>
                </a:solidFill>
                <a:latin typeface="Meiryo"/>
              </a:rPr>
              <a:t>定義</a:t>
            </a:r>
          </a:p>
        </p:txBody>
      </p:sp>
      <p:sp>
        <p:nvSpPr>
          <p:cNvPr id="9" name="TextBox 8"/>
          <p:cNvSpPr txBox="1"/>
          <p:nvPr/>
        </p:nvSpPr>
        <p:spPr>
          <a:xfrm>
            <a:off x="457200" y="1737360"/>
            <a:ext cx="11247120" cy="822960"/>
          </a:xfrm>
          <a:prstGeom prst="rect">
            <a:avLst/>
          </a:prstGeom>
          <a:noFill/>
        </p:spPr>
        <p:txBody>
          <a:bodyPr wrap="square">
            <a:spAutoFit/>
          </a:bodyPr>
          <a:lstStyle/>
          <a:p>
            <a:pPr algn="l"/>
            <a:r>
              <a:rPr sz="1700" b="1">
                <a:solidFill>
                  <a:srgbClr val="FFFFFF"/>
                </a:solidFill>
                <a:latin typeface="Meiryo"/>
              </a:rPr>
              <a:t>筋ができるだけ短い時間で最大の力を発揮できるようにするための運動。反動動作（SSC）を使った素早くパワフルな動き</a:t>
            </a:r>
          </a:p>
        </p:txBody>
      </p:sp>
      <p:sp>
        <p:nvSpPr>
          <p:cNvPr id="10" name="Rectangle 9"/>
          <p:cNvSpPr/>
          <p:nvPr/>
        </p:nvSpPr>
        <p:spPr>
          <a:xfrm>
            <a:off x="274320" y="2880360"/>
            <a:ext cx="5577840" cy="1920240"/>
          </a:xfrm>
          <a:prstGeom prst="rect">
            <a:avLst/>
          </a:prstGeom>
          <a:solidFill>
            <a:srgbClr val="D6EA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926080"/>
            <a:ext cx="5029200" cy="365760"/>
          </a:xfrm>
          <a:prstGeom prst="rect">
            <a:avLst/>
          </a:prstGeom>
          <a:noFill/>
        </p:spPr>
        <p:txBody>
          <a:bodyPr wrap="square">
            <a:spAutoFit/>
          </a:bodyPr>
          <a:lstStyle/>
          <a:p>
            <a:pPr algn="l"/>
            <a:r>
              <a:rPr sz="1300" b="1">
                <a:solidFill>
                  <a:srgbClr val="1F5C8B"/>
                </a:solidFill>
                <a:latin typeface="Meiryo"/>
              </a:rPr>
              <a:t>語源</a:t>
            </a:r>
          </a:p>
        </p:txBody>
      </p:sp>
      <p:sp>
        <p:nvSpPr>
          <p:cNvPr id="12" name="TextBox 11"/>
          <p:cNvSpPr txBox="1"/>
          <p:nvPr/>
        </p:nvSpPr>
        <p:spPr>
          <a:xfrm>
            <a:off x="457200" y="3291840"/>
            <a:ext cx="5212080" cy="1371600"/>
          </a:xfrm>
          <a:prstGeom prst="rect">
            <a:avLst/>
          </a:prstGeom>
          <a:noFill/>
        </p:spPr>
        <p:txBody>
          <a:bodyPr wrap="square">
            <a:spAutoFit/>
          </a:bodyPr>
          <a:lstStyle/>
          <a:p>
            <a:pPr algn="l"/>
            <a:r>
              <a:rPr sz="1500" b="0">
                <a:solidFill>
                  <a:srgbClr val="1A3A5C"/>
                </a:solidFill>
                <a:latin typeface="Meiryo"/>
              </a:rPr>
              <a:t>ギリシャ語で「長さが伸びること」
plio ＝ さらに
metric ＝ 長さ</a:t>
            </a:r>
          </a:p>
        </p:txBody>
      </p:sp>
      <p:sp>
        <p:nvSpPr>
          <p:cNvPr id="13" name="Rectangle 12"/>
          <p:cNvSpPr/>
          <p:nvPr/>
        </p:nvSpPr>
        <p:spPr>
          <a:xfrm>
            <a:off x="6126480" y="2880360"/>
            <a:ext cx="5788152" cy="1920240"/>
          </a:xfrm>
          <a:prstGeom prst="rect">
            <a:avLst/>
          </a:prstGeom>
          <a:solidFill>
            <a:srgbClr val="D6EA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2926080"/>
            <a:ext cx="5303520" cy="365760"/>
          </a:xfrm>
          <a:prstGeom prst="rect">
            <a:avLst/>
          </a:prstGeom>
          <a:noFill/>
        </p:spPr>
        <p:txBody>
          <a:bodyPr wrap="square">
            <a:spAutoFit/>
          </a:bodyPr>
          <a:lstStyle/>
          <a:p>
            <a:pPr algn="l"/>
            <a:r>
              <a:rPr sz="1300" b="1">
                <a:solidFill>
                  <a:srgbClr val="1F5C8B"/>
                </a:solidFill>
                <a:latin typeface="Meiryo"/>
              </a:rPr>
              <a:t>目的</a:t>
            </a:r>
          </a:p>
        </p:txBody>
      </p:sp>
      <p:sp>
        <p:nvSpPr>
          <p:cNvPr id="15" name="TextBox 14"/>
          <p:cNvSpPr txBox="1"/>
          <p:nvPr/>
        </p:nvSpPr>
        <p:spPr>
          <a:xfrm>
            <a:off x="6309360" y="3291840"/>
            <a:ext cx="5394960" cy="1371600"/>
          </a:xfrm>
          <a:prstGeom prst="rect">
            <a:avLst/>
          </a:prstGeom>
          <a:noFill/>
        </p:spPr>
        <p:txBody>
          <a:bodyPr wrap="square">
            <a:spAutoFit/>
          </a:bodyPr>
          <a:lstStyle/>
          <a:p>
            <a:pPr algn="l"/>
            <a:r>
              <a:rPr sz="1500" b="0">
                <a:solidFill>
                  <a:srgbClr val="1A3A5C"/>
                </a:solidFill>
                <a:latin typeface="Meiryo"/>
              </a:rPr>
              <a:t>筋・腱の弾性と伸張反射の両方を利用して、
続く動作のパワーを大きくする</a:t>
            </a:r>
          </a:p>
        </p:txBody>
      </p:sp>
      <p:sp>
        <p:nvSpPr>
          <p:cNvPr id="16" name="Rectangle 15"/>
          <p:cNvSpPr/>
          <p:nvPr/>
        </p:nvSpPr>
        <p:spPr>
          <a:xfrm>
            <a:off x="274320" y="4937760"/>
            <a:ext cx="11640312" cy="822960"/>
          </a:xfrm>
          <a:prstGeom prst="rect">
            <a:avLst/>
          </a:prstGeom>
          <a:solidFill>
            <a:srgbClr val="EBF5F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5029200"/>
            <a:ext cx="11247120" cy="640080"/>
          </a:xfrm>
          <a:prstGeom prst="rect">
            <a:avLst/>
          </a:prstGeom>
          <a:noFill/>
        </p:spPr>
        <p:txBody>
          <a:bodyPr wrap="square">
            <a:spAutoFit/>
          </a:bodyPr>
          <a:lstStyle/>
          <a:p>
            <a:pPr algn="l"/>
            <a:r>
              <a:rPr sz="1300" b="0">
                <a:solidFill>
                  <a:srgbClr val="1F5C8B"/>
                </a:solidFill>
                <a:latin typeface="Meiryo"/>
              </a:rPr>
              <a:t>期待できること：  パワー（力×スピード）の向上　/　ジャンプ力の向上　/　投球速度の向上（上半身）　/　持久系のランニング効率</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88720"/>
          </a:xfrm>
          <a:prstGeom prst="rect">
            <a:avLst/>
          </a:prstGeom>
          <a:solidFill>
            <a:srgbClr val="1A3A5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720"/>
            <a:ext cx="12188952" cy="54864"/>
          </a:xfrm>
          <a:prstGeom prst="rect">
            <a:avLst/>
          </a:prstGeom>
          <a:solidFill>
            <a:srgbClr val="2E86C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09728"/>
            <a:ext cx="11430000" cy="777240"/>
          </a:xfrm>
          <a:prstGeom prst="rect">
            <a:avLst/>
          </a:prstGeom>
          <a:noFill/>
        </p:spPr>
        <p:txBody>
          <a:bodyPr wrap="square">
            <a:spAutoFit/>
          </a:bodyPr>
          <a:lstStyle/>
          <a:p>
            <a:pPr algn="l"/>
            <a:r>
              <a:rPr sz="2800" b="1">
                <a:solidFill>
                  <a:srgbClr val="FFFFFF"/>
                </a:solidFill>
                <a:latin typeface="Meiryo"/>
              </a:rPr>
              <a:t>ストレッチ・ショートニングサイクル（SSC）</a:t>
            </a:r>
          </a:p>
        </p:txBody>
      </p:sp>
      <p:sp>
        <p:nvSpPr>
          <p:cNvPr id="6" name="TextBox 5"/>
          <p:cNvSpPr txBox="1"/>
          <p:nvPr/>
        </p:nvSpPr>
        <p:spPr>
          <a:xfrm>
            <a:off x="365760" y="804672"/>
            <a:ext cx="10972800" cy="365760"/>
          </a:xfrm>
          <a:prstGeom prst="rect">
            <a:avLst/>
          </a:prstGeom>
          <a:noFill/>
        </p:spPr>
        <p:txBody>
          <a:bodyPr wrap="square">
            <a:spAutoFit/>
          </a:bodyPr>
          <a:lstStyle/>
          <a:p>
            <a:pPr algn="l"/>
            <a:r>
              <a:rPr sz="1400" b="0">
                <a:solidFill>
                  <a:srgbClr val="AED6F1"/>
                </a:solidFill>
                <a:latin typeface="Meiryo"/>
              </a:rPr>
              <a:t>Stretch-Shortening Cycle</a:t>
            </a:r>
          </a:p>
        </p:txBody>
      </p:sp>
      <p:sp>
        <p:nvSpPr>
          <p:cNvPr id="7" name="Rectangle 6"/>
          <p:cNvSpPr/>
          <p:nvPr/>
        </p:nvSpPr>
        <p:spPr>
          <a:xfrm>
            <a:off x="457200" y="1463040"/>
            <a:ext cx="3291840" cy="4206240"/>
          </a:xfrm>
          <a:prstGeom prst="rect">
            <a:avLst/>
          </a:prstGeom>
          <a:solidFill>
            <a:srgbClr val="2E86C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645920"/>
            <a:ext cx="3108960" cy="822960"/>
          </a:xfrm>
          <a:prstGeom prst="rect">
            <a:avLst/>
          </a:prstGeom>
          <a:noFill/>
        </p:spPr>
        <p:txBody>
          <a:bodyPr wrap="square">
            <a:spAutoFit/>
          </a:bodyPr>
          <a:lstStyle/>
          <a:p>
            <a:pPr algn="ctr"/>
            <a:r>
              <a:rPr sz="1700" b="1">
                <a:solidFill>
                  <a:srgbClr val="FFFFFF"/>
                </a:solidFill>
                <a:latin typeface="Meiryo"/>
              </a:rPr>
              <a:t>第Ⅰ局面
伸張性局面</a:t>
            </a:r>
          </a:p>
        </p:txBody>
      </p:sp>
      <p:sp>
        <p:nvSpPr>
          <p:cNvPr id="9" name="TextBox 8"/>
          <p:cNvSpPr txBox="1"/>
          <p:nvPr/>
        </p:nvSpPr>
        <p:spPr>
          <a:xfrm>
            <a:off x="548640" y="2651760"/>
            <a:ext cx="3108960" cy="1645920"/>
          </a:xfrm>
          <a:prstGeom prst="rect">
            <a:avLst/>
          </a:prstGeom>
          <a:noFill/>
        </p:spPr>
        <p:txBody>
          <a:bodyPr wrap="square">
            <a:spAutoFit/>
          </a:bodyPr>
          <a:lstStyle/>
          <a:p>
            <a:pPr algn="ctr"/>
            <a:r>
              <a:rPr sz="1500" b="0">
                <a:solidFill>
                  <a:srgbClr val="FFFFFF"/>
                </a:solidFill>
                <a:latin typeface="Meiryo"/>
              </a:rPr>
              <a:t>主働筋が引き伸ばされる
弾性エネルギーを蓄積
筋紡錘が刺激される</a:t>
            </a:r>
          </a:p>
        </p:txBody>
      </p:sp>
      <p:sp>
        <p:nvSpPr>
          <p:cNvPr id="10" name="TextBox 9"/>
          <p:cNvSpPr txBox="1"/>
          <p:nvPr/>
        </p:nvSpPr>
        <p:spPr>
          <a:xfrm>
            <a:off x="3703320" y="3108960"/>
            <a:ext cx="640080" cy="548640"/>
          </a:xfrm>
          <a:prstGeom prst="rect">
            <a:avLst/>
          </a:prstGeom>
          <a:noFill/>
        </p:spPr>
        <p:txBody>
          <a:bodyPr wrap="square">
            <a:spAutoFit/>
          </a:bodyPr>
          <a:lstStyle/>
          <a:p>
            <a:pPr algn="ctr"/>
            <a:r>
              <a:rPr sz="2800" b="1">
                <a:solidFill>
                  <a:srgbClr val="1F5C8B"/>
                </a:solidFill>
                <a:latin typeface="Meiryo"/>
              </a:rPr>
              <a:t>▶</a:t>
            </a:r>
          </a:p>
        </p:txBody>
      </p:sp>
      <p:sp>
        <p:nvSpPr>
          <p:cNvPr id="11" name="Rectangle 10"/>
          <p:cNvSpPr/>
          <p:nvPr/>
        </p:nvSpPr>
        <p:spPr>
          <a:xfrm>
            <a:off x="4297680" y="1463040"/>
            <a:ext cx="3291840" cy="4206240"/>
          </a:xfrm>
          <a:prstGeom prst="rect">
            <a:avLst/>
          </a:prstGeom>
          <a:solidFill>
            <a:srgbClr val="F39C1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0" y="1645920"/>
            <a:ext cx="3108960" cy="822960"/>
          </a:xfrm>
          <a:prstGeom prst="rect">
            <a:avLst/>
          </a:prstGeom>
          <a:noFill/>
        </p:spPr>
        <p:txBody>
          <a:bodyPr wrap="square">
            <a:spAutoFit/>
          </a:bodyPr>
          <a:lstStyle/>
          <a:p>
            <a:pPr algn="ctr"/>
            <a:r>
              <a:rPr sz="1700" b="1">
                <a:solidFill>
                  <a:srgbClr val="FFFFFF"/>
                </a:solidFill>
                <a:latin typeface="Meiryo"/>
              </a:rPr>
              <a:t>第Ⅱ局面
償却局面</a:t>
            </a:r>
          </a:p>
        </p:txBody>
      </p:sp>
      <p:sp>
        <p:nvSpPr>
          <p:cNvPr id="13" name="TextBox 12"/>
          <p:cNvSpPr txBox="1"/>
          <p:nvPr/>
        </p:nvSpPr>
        <p:spPr>
          <a:xfrm>
            <a:off x="4389120" y="2651760"/>
            <a:ext cx="3108960" cy="1645920"/>
          </a:xfrm>
          <a:prstGeom prst="rect">
            <a:avLst/>
          </a:prstGeom>
          <a:noFill/>
        </p:spPr>
        <p:txBody>
          <a:bodyPr wrap="square">
            <a:spAutoFit/>
          </a:bodyPr>
          <a:lstStyle/>
          <a:p>
            <a:pPr algn="ctr"/>
            <a:r>
              <a:rPr sz="1500" b="0">
                <a:solidFill>
                  <a:srgbClr val="FFFFFF"/>
                </a:solidFill>
                <a:latin typeface="Meiryo"/>
              </a:rPr>
              <a:t>伸張から短縮への切り返し
（Ⅰ・Ⅲの間の休止）
脊髄で信号を中継</a:t>
            </a:r>
          </a:p>
        </p:txBody>
      </p:sp>
      <p:sp>
        <p:nvSpPr>
          <p:cNvPr id="14" name="TextBox 13"/>
          <p:cNvSpPr txBox="1"/>
          <p:nvPr/>
        </p:nvSpPr>
        <p:spPr>
          <a:xfrm>
            <a:off x="7543800" y="3108960"/>
            <a:ext cx="640080" cy="548640"/>
          </a:xfrm>
          <a:prstGeom prst="rect">
            <a:avLst/>
          </a:prstGeom>
          <a:noFill/>
        </p:spPr>
        <p:txBody>
          <a:bodyPr wrap="square">
            <a:spAutoFit/>
          </a:bodyPr>
          <a:lstStyle/>
          <a:p>
            <a:pPr algn="ctr"/>
            <a:r>
              <a:rPr sz="2800" b="1">
                <a:solidFill>
                  <a:srgbClr val="1F5C8B"/>
                </a:solidFill>
                <a:latin typeface="Meiryo"/>
              </a:rPr>
              <a:t>▶</a:t>
            </a:r>
          </a:p>
        </p:txBody>
      </p:sp>
      <p:sp>
        <p:nvSpPr>
          <p:cNvPr id="15" name="Rectangle 14"/>
          <p:cNvSpPr/>
          <p:nvPr/>
        </p:nvSpPr>
        <p:spPr>
          <a:xfrm>
            <a:off x="8138160" y="1463040"/>
            <a:ext cx="3291840" cy="4206240"/>
          </a:xfrm>
          <a:prstGeom prst="rect">
            <a:avLst/>
          </a:prstGeom>
          <a:solidFill>
            <a:srgbClr val="27AE6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1645920"/>
            <a:ext cx="3108960" cy="822960"/>
          </a:xfrm>
          <a:prstGeom prst="rect">
            <a:avLst/>
          </a:prstGeom>
          <a:noFill/>
        </p:spPr>
        <p:txBody>
          <a:bodyPr wrap="square">
            <a:spAutoFit/>
          </a:bodyPr>
          <a:lstStyle/>
          <a:p>
            <a:pPr algn="ctr"/>
            <a:r>
              <a:rPr sz="1700" b="1">
                <a:solidFill>
                  <a:srgbClr val="FFFFFF"/>
                </a:solidFill>
                <a:latin typeface="Meiryo"/>
              </a:rPr>
              <a:t>第Ⅲ局面
短縮性局面</a:t>
            </a:r>
          </a:p>
        </p:txBody>
      </p:sp>
      <p:sp>
        <p:nvSpPr>
          <p:cNvPr id="17" name="TextBox 16"/>
          <p:cNvSpPr txBox="1"/>
          <p:nvPr/>
        </p:nvSpPr>
        <p:spPr>
          <a:xfrm>
            <a:off x="8229600" y="2651760"/>
            <a:ext cx="3108960" cy="1645920"/>
          </a:xfrm>
          <a:prstGeom prst="rect">
            <a:avLst/>
          </a:prstGeom>
          <a:noFill/>
        </p:spPr>
        <p:txBody>
          <a:bodyPr wrap="square">
            <a:spAutoFit/>
          </a:bodyPr>
          <a:lstStyle/>
          <a:p>
            <a:pPr algn="ctr"/>
            <a:r>
              <a:rPr sz="1500" b="0">
                <a:solidFill>
                  <a:srgbClr val="FFFFFF"/>
                </a:solidFill>
                <a:latin typeface="Meiryo"/>
              </a:rPr>
              <a:t>主働筋が短縮する
弾性エネルギーを放出
反射で筋活動が増幅</a:t>
            </a:r>
          </a:p>
        </p:txBody>
      </p:sp>
      <p:sp>
        <p:nvSpPr>
          <p:cNvPr id="18" name="Rectangle 17"/>
          <p:cNvSpPr/>
          <p:nvPr/>
        </p:nvSpPr>
        <p:spPr>
          <a:xfrm>
            <a:off x="274320" y="5852160"/>
            <a:ext cx="11640312" cy="685800"/>
          </a:xfrm>
          <a:prstGeom prst="rect">
            <a:avLst/>
          </a:prstGeom>
          <a:solidFill>
            <a:srgbClr val="1A3A5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5925312"/>
            <a:ext cx="11247120" cy="548640"/>
          </a:xfrm>
          <a:prstGeom prst="rect">
            <a:avLst/>
          </a:prstGeom>
          <a:noFill/>
        </p:spPr>
        <p:txBody>
          <a:bodyPr wrap="square">
            <a:spAutoFit/>
          </a:bodyPr>
          <a:lstStyle/>
          <a:p>
            <a:pPr algn="l"/>
            <a:r>
              <a:rPr sz="1400" b="1">
                <a:solidFill>
                  <a:srgbClr val="FFFFFF"/>
                </a:solidFill>
                <a:latin typeface="Meiryo"/>
              </a:rPr>
              <a:t>ポイント：最も重要なのは償却局面。短いほど、蓄えた弾性エネルギーと伸張反射を活かせる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88720"/>
          </a:xfrm>
          <a:prstGeom prst="rect">
            <a:avLst/>
          </a:prstGeom>
          <a:solidFill>
            <a:srgbClr val="1A3A5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720"/>
            <a:ext cx="12188952" cy="54864"/>
          </a:xfrm>
          <a:prstGeom prst="rect">
            <a:avLst/>
          </a:prstGeom>
          <a:solidFill>
            <a:srgbClr val="2E86C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09728"/>
            <a:ext cx="11430000" cy="777240"/>
          </a:xfrm>
          <a:prstGeom prst="rect">
            <a:avLst/>
          </a:prstGeom>
          <a:noFill/>
        </p:spPr>
        <p:txBody>
          <a:bodyPr wrap="square">
            <a:spAutoFit/>
          </a:bodyPr>
          <a:lstStyle/>
          <a:p>
            <a:pPr algn="l"/>
            <a:r>
              <a:rPr sz="2800" b="1">
                <a:solidFill>
                  <a:srgbClr val="FFFFFF"/>
                </a:solidFill>
                <a:latin typeface="Meiryo"/>
              </a:rPr>
              <a:t>力学的モデル ＆ 神経生理学的モデル</a:t>
            </a:r>
          </a:p>
        </p:txBody>
      </p:sp>
      <p:sp>
        <p:nvSpPr>
          <p:cNvPr id="6" name="TextBox 5"/>
          <p:cNvSpPr txBox="1"/>
          <p:nvPr/>
        </p:nvSpPr>
        <p:spPr>
          <a:xfrm>
            <a:off x="365760" y="804672"/>
            <a:ext cx="10972800" cy="365760"/>
          </a:xfrm>
          <a:prstGeom prst="rect">
            <a:avLst/>
          </a:prstGeom>
          <a:noFill/>
        </p:spPr>
        <p:txBody>
          <a:bodyPr wrap="square">
            <a:spAutoFit/>
          </a:bodyPr>
          <a:lstStyle/>
          <a:p>
            <a:pPr algn="l"/>
            <a:r>
              <a:rPr sz="1400" b="0">
                <a:solidFill>
                  <a:srgbClr val="AED6F1"/>
                </a:solidFill>
                <a:latin typeface="Meiryo"/>
              </a:rPr>
              <a:t>Mechanical &amp; Neurophysiological Models</a:t>
            </a:r>
          </a:p>
        </p:txBody>
      </p:sp>
      <p:sp>
        <p:nvSpPr>
          <p:cNvPr id="7" name="Rectangle 6"/>
          <p:cNvSpPr/>
          <p:nvPr/>
        </p:nvSpPr>
        <p:spPr>
          <a:xfrm>
            <a:off x="274320" y="1371600"/>
            <a:ext cx="5577840" cy="52120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371600"/>
            <a:ext cx="5577840" cy="411480"/>
          </a:xfrm>
          <a:prstGeom prst="rect">
            <a:avLst/>
          </a:prstGeom>
          <a:solidFill>
            <a:srgbClr val="1F5C8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417320"/>
            <a:ext cx="5303520" cy="347472"/>
          </a:xfrm>
          <a:prstGeom prst="rect">
            <a:avLst/>
          </a:prstGeom>
          <a:noFill/>
        </p:spPr>
        <p:txBody>
          <a:bodyPr wrap="square">
            <a:spAutoFit/>
          </a:bodyPr>
          <a:lstStyle/>
          <a:p>
            <a:pPr algn="l"/>
            <a:r>
              <a:rPr sz="1300" b="1">
                <a:solidFill>
                  <a:srgbClr val="FFFFFF"/>
                </a:solidFill>
                <a:latin typeface="Meiryo"/>
              </a:rPr>
              <a:t>力学的モデル（弾性要素）</a:t>
            </a:r>
          </a:p>
        </p:txBody>
      </p:sp>
      <p:sp>
        <p:nvSpPr>
          <p:cNvPr id="10" name="Rectangle 9"/>
          <p:cNvSpPr/>
          <p:nvPr/>
        </p:nvSpPr>
        <p:spPr>
          <a:xfrm>
            <a:off x="457200" y="1920240"/>
            <a:ext cx="5212080" cy="1417320"/>
          </a:xfrm>
          <a:prstGeom prst="rect">
            <a:avLst/>
          </a:prstGeom>
          <a:solidFill>
            <a:srgbClr val="2E86C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1993392"/>
            <a:ext cx="4846320" cy="411480"/>
          </a:xfrm>
          <a:prstGeom prst="rect">
            <a:avLst/>
          </a:prstGeom>
          <a:noFill/>
        </p:spPr>
        <p:txBody>
          <a:bodyPr wrap="square">
            <a:spAutoFit/>
          </a:bodyPr>
          <a:lstStyle/>
          <a:p>
            <a:pPr algn="l"/>
            <a:r>
              <a:rPr sz="1500" b="1">
                <a:solidFill>
                  <a:srgbClr val="FFFFFF"/>
                </a:solidFill>
                <a:latin typeface="Meiryo"/>
              </a:rPr>
              <a:t>SEC　直列弾性要素</a:t>
            </a:r>
          </a:p>
        </p:txBody>
      </p:sp>
      <p:sp>
        <p:nvSpPr>
          <p:cNvPr id="12" name="TextBox 11"/>
          <p:cNvSpPr txBox="1"/>
          <p:nvPr/>
        </p:nvSpPr>
        <p:spPr>
          <a:xfrm>
            <a:off x="594360" y="2423160"/>
            <a:ext cx="4937760" cy="868680"/>
          </a:xfrm>
          <a:prstGeom prst="rect">
            <a:avLst/>
          </a:prstGeom>
          <a:noFill/>
        </p:spPr>
        <p:txBody>
          <a:bodyPr wrap="square">
            <a:spAutoFit/>
          </a:bodyPr>
          <a:lstStyle/>
          <a:p>
            <a:pPr algn="l"/>
            <a:r>
              <a:rPr sz="1200" b="0">
                <a:solidFill>
                  <a:srgbClr val="FFFFFF"/>
                </a:solidFill>
                <a:latin typeface="Meiryo"/>
              </a:rPr>
              <a:t>大部分は腱。伸ばされるとバネのように
弾性エネルギーを蓄え、直後に放出 ★重要</a:t>
            </a:r>
          </a:p>
        </p:txBody>
      </p:sp>
      <p:sp>
        <p:nvSpPr>
          <p:cNvPr id="13" name="Rectangle 12"/>
          <p:cNvSpPr/>
          <p:nvPr/>
        </p:nvSpPr>
        <p:spPr>
          <a:xfrm>
            <a:off x="457200" y="3474720"/>
            <a:ext cx="5212080" cy="1417320"/>
          </a:xfrm>
          <a:prstGeom prst="rect">
            <a:avLst/>
          </a:prstGeom>
          <a:solidFill>
            <a:srgbClr val="5DADE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3547872"/>
            <a:ext cx="4846320" cy="411480"/>
          </a:xfrm>
          <a:prstGeom prst="rect">
            <a:avLst/>
          </a:prstGeom>
          <a:noFill/>
        </p:spPr>
        <p:txBody>
          <a:bodyPr wrap="square">
            <a:spAutoFit/>
          </a:bodyPr>
          <a:lstStyle/>
          <a:p>
            <a:pPr algn="l"/>
            <a:r>
              <a:rPr sz="1500" b="1">
                <a:solidFill>
                  <a:srgbClr val="FFFFFF"/>
                </a:solidFill>
                <a:latin typeface="Meiryo"/>
              </a:rPr>
              <a:t>CC　収縮要素</a:t>
            </a:r>
          </a:p>
        </p:txBody>
      </p:sp>
      <p:sp>
        <p:nvSpPr>
          <p:cNvPr id="15" name="TextBox 14"/>
          <p:cNvSpPr txBox="1"/>
          <p:nvPr/>
        </p:nvSpPr>
        <p:spPr>
          <a:xfrm>
            <a:off x="594360" y="3977639"/>
            <a:ext cx="4937760" cy="868680"/>
          </a:xfrm>
          <a:prstGeom prst="rect">
            <a:avLst/>
          </a:prstGeom>
          <a:noFill/>
        </p:spPr>
        <p:txBody>
          <a:bodyPr wrap="square">
            <a:spAutoFit/>
          </a:bodyPr>
          <a:lstStyle/>
          <a:p>
            <a:pPr algn="l"/>
            <a:r>
              <a:rPr sz="1200" b="0">
                <a:solidFill>
                  <a:srgbClr val="FFFFFF"/>
                </a:solidFill>
                <a:latin typeface="Meiryo"/>
              </a:rPr>
              <a:t>アクチン・ミオシン・クロスブリッジ
短縮性筋活動で主に力を発揮</a:t>
            </a:r>
          </a:p>
        </p:txBody>
      </p:sp>
      <p:sp>
        <p:nvSpPr>
          <p:cNvPr id="16" name="Rectangle 15"/>
          <p:cNvSpPr/>
          <p:nvPr/>
        </p:nvSpPr>
        <p:spPr>
          <a:xfrm>
            <a:off x="457200" y="5029200"/>
            <a:ext cx="5212080" cy="1417320"/>
          </a:xfrm>
          <a:prstGeom prst="rect">
            <a:avLst/>
          </a:prstGeom>
          <a:solidFill>
            <a:srgbClr val="16A08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5102352"/>
            <a:ext cx="4846320" cy="411480"/>
          </a:xfrm>
          <a:prstGeom prst="rect">
            <a:avLst/>
          </a:prstGeom>
          <a:noFill/>
        </p:spPr>
        <p:txBody>
          <a:bodyPr wrap="square">
            <a:spAutoFit/>
          </a:bodyPr>
          <a:lstStyle/>
          <a:p>
            <a:pPr algn="l"/>
            <a:r>
              <a:rPr sz="1500" b="1">
                <a:solidFill>
                  <a:srgbClr val="FFFFFF"/>
                </a:solidFill>
                <a:latin typeface="Meiryo"/>
              </a:rPr>
              <a:t>PEC　並列弾性要素</a:t>
            </a:r>
          </a:p>
        </p:txBody>
      </p:sp>
      <p:sp>
        <p:nvSpPr>
          <p:cNvPr id="18" name="TextBox 17"/>
          <p:cNvSpPr txBox="1"/>
          <p:nvPr/>
        </p:nvSpPr>
        <p:spPr>
          <a:xfrm>
            <a:off x="594360" y="5532120"/>
            <a:ext cx="4937760" cy="868680"/>
          </a:xfrm>
          <a:prstGeom prst="rect">
            <a:avLst/>
          </a:prstGeom>
          <a:noFill/>
        </p:spPr>
        <p:txBody>
          <a:bodyPr wrap="square">
            <a:spAutoFit/>
          </a:bodyPr>
          <a:lstStyle/>
          <a:p>
            <a:pPr algn="l"/>
            <a:r>
              <a:rPr sz="1200" b="0">
                <a:solidFill>
                  <a:srgbClr val="FFFFFF"/>
                </a:solidFill>
                <a:latin typeface="Meiryo"/>
              </a:rPr>
              <a:t>筋外膜・筋周膜・筋内膜・筋鞘
刺激のない筋が伸ばされると受動的に力を発揮</a:t>
            </a:r>
          </a:p>
        </p:txBody>
      </p:sp>
      <p:sp>
        <p:nvSpPr>
          <p:cNvPr id="19" name="Rectangle 18"/>
          <p:cNvSpPr/>
          <p:nvPr/>
        </p:nvSpPr>
        <p:spPr>
          <a:xfrm>
            <a:off x="6126480" y="1371600"/>
            <a:ext cx="5788152" cy="52120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26480" y="1371600"/>
            <a:ext cx="5788152" cy="411480"/>
          </a:xfrm>
          <a:prstGeom prst="rect">
            <a:avLst/>
          </a:prstGeom>
          <a:solidFill>
            <a:srgbClr val="8E44AD"/>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3640" y="1417320"/>
            <a:ext cx="5486400" cy="347472"/>
          </a:xfrm>
          <a:prstGeom prst="rect">
            <a:avLst/>
          </a:prstGeom>
          <a:noFill/>
        </p:spPr>
        <p:txBody>
          <a:bodyPr wrap="square">
            <a:spAutoFit/>
          </a:bodyPr>
          <a:lstStyle/>
          <a:p>
            <a:pPr algn="l"/>
            <a:r>
              <a:rPr sz="1300" b="1">
                <a:solidFill>
                  <a:srgbClr val="FFFFFF"/>
                </a:solidFill>
                <a:latin typeface="Meiryo"/>
              </a:rPr>
              <a:t>神経生理学的モデル（伸張反射）</a:t>
            </a:r>
          </a:p>
        </p:txBody>
      </p:sp>
      <p:sp>
        <p:nvSpPr>
          <p:cNvPr id="22" name="Rectangle 21"/>
          <p:cNvSpPr/>
          <p:nvPr/>
        </p:nvSpPr>
        <p:spPr>
          <a:xfrm>
            <a:off x="6400800" y="1874519"/>
            <a:ext cx="5212080" cy="868680"/>
          </a:xfrm>
          <a:prstGeom prst="rect">
            <a:avLst/>
          </a:prstGeom>
          <a:solidFill>
            <a:srgbClr val="2E86C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1947672"/>
            <a:ext cx="5120640" cy="749808"/>
          </a:xfrm>
          <a:prstGeom prst="rect">
            <a:avLst/>
          </a:prstGeom>
          <a:noFill/>
        </p:spPr>
        <p:txBody>
          <a:bodyPr wrap="square">
            <a:spAutoFit/>
          </a:bodyPr>
          <a:lstStyle/>
          <a:p>
            <a:pPr algn="ctr"/>
            <a:r>
              <a:rPr sz="1300" b="1">
                <a:solidFill>
                  <a:srgbClr val="FFFFFF"/>
                </a:solidFill>
                <a:latin typeface="Meiryo"/>
              </a:rPr>
              <a:t>筋が素早く
引き伸ばされる</a:t>
            </a:r>
          </a:p>
        </p:txBody>
      </p:sp>
      <p:sp>
        <p:nvSpPr>
          <p:cNvPr id="24" name="TextBox 23"/>
          <p:cNvSpPr txBox="1"/>
          <p:nvPr/>
        </p:nvSpPr>
        <p:spPr>
          <a:xfrm>
            <a:off x="8549640" y="2697479"/>
            <a:ext cx="548640" cy="274320"/>
          </a:xfrm>
          <a:prstGeom prst="rect">
            <a:avLst/>
          </a:prstGeom>
          <a:noFill/>
        </p:spPr>
        <p:txBody>
          <a:bodyPr wrap="square">
            <a:spAutoFit/>
          </a:bodyPr>
          <a:lstStyle/>
          <a:p>
            <a:pPr algn="ctr"/>
            <a:r>
              <a:rPr sz="1400" b="1">
                <a:solidFill>
                  <a:srgbClr val="8E44AD"/>
                </a:solidFill>
                <a:latin typeface="Meiryo"/>
              </a:rPr>
              <a:t>▼</a:t>
            </a:r>
          </a:p>
        </p:txBody>
      </p:sp>
      <p:sp>
        <p:nvSpPr>
          <p:cNvPr id="25" name="Rectangle 24"/>
          <p:cNvSpPr/>
          <p:nvPr/>
        </p:nvSpPr>
        <p:spPr>
          <a:xfrm>
            <a:off x="6400800" y="2971800"/>
            <a:ext cx="5212080" cy="868680"/>
          </a:xfrm>
          <a:prstGeom prst="rect">
            <a:avLst/>
          </a:prstGeom>
          <a:solidFill>
            <a:srgbClr val="9B59B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46520" y="3044952"/>
            <a:ext cx="5120640" cy="749808"/>
          </a:xfrm>
          <a:prstGeom prst="rect">
            <a:avLst/>
          </a:prstGeom>
          <a:noFill/>
        </p:spPr>
        <p:txBody>
          <a:bodyPr wrap="square">
            <a:spAutoFit/>
          </a:bodyPr>
          <a:lstStyle/>
          <a:p>
            <a:pPr algn="ctr"/>
            <a:r>
              <a:rPr sz="1300" b="1">
                <a:solidFill>
                  <a:srgbClr val="FFFFFF"/>
                </a:solidFill>
                <a:latin typeface="Meiryo"/>
              </a:rPr>
              <a:t>筋紡錘が伸張の
速さと大きさを感知</a:t>
            </a:r>
          </a:p>
        </p:txBody>
      </p:sp>
      <p:sp>
        <p:nvSpPr>
          <p:cNvPr id="27" name="TextBox 26"/>
          <p:cNvSpPr txBox="1"/>
          <p:nvPr/>
        </p:nvSpPr>
        <p:spPr>
          <a:xfrm>
            <a:off x="8549640" y="3794760"/>
            <a:ext cx="548640" cy="274320"/>
          </a:xfrm>
          <a:prstGeom prst="rect">
            <a:avLst/>
          </a:prstGeom>
          <a:noFill/>
        </p:spPr>
        <p:txBody>
          <a:bodyPr wrap="square">
            <a:spAutoFit/>
          </a:bodyPr>
          <a:lstStyle/>
          <a:p>
            <a:pPr algn="ctr"/>
            <a:r>
              <a:rPr sz="1400" b="1">
                <a:solidFill>
                  <a:srgbClr val="8E44AD"/>
                </a:solidFill>
                <a:latin typeface="Meiryo"/>
              </a:rPr>
              <a:t>▼</a:t>
            </a:r>
          </a:p>
        </p:txBody>
      </p:sp>
      <p:sp>
        <p:nvSpPr>
          <p:cNvPr id="28" name="Rectangle 27"/>
          <p:cNvSpPr/>
          <p:nvPr/>
        </p:nvSpPr>
        <p:spPr>
          <a:xfrm>
            <a:off x="6400800" y="4069079"/>
            <a:ext cx="5212080" cy="868680"/>
          </a:xfrm>
          <a:prstGeom prst="rect">
            <a:avLst/>
          </a:prstGeom>
          <a:solidFill>
            <a:srgbClr val="AF7AC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46520" y="4142231"/>
            <a:ext cx="5120640" cy="749808"/>
          </a:xfrm>
          <a:prstGeom prst="rect">
            <a:avLst/>
          </a:prstGeom>
          <a:noFill/>
        </p:spPr>
        <p:txBody>
          <a:bodyPr wrap="square">
            <a:spAutoFit/>
          </a:bodyPr>
          <a:lstStyle/>
          <a:p>
            <a:pPr algn="ctr"/>
            <a:r>
              <a:rPr sz="1300" b="1">
                <a:solidFill>
                  <a:srgbClr val="FFFFFF"/>
                </a:solidFill>
                <a:latin typeface="Meiryo"/>
              </a:rPr>
              <a:t>Ia線維で脊髄へ
→ α運動神経へ中継</a:t>
            </a:r>
          </a:p>
        </p:txBody>
      </p:sp>
      <p:sp>
        <p:nvSpPr>
          <p:cNvPr id="30" name="TextBox 29"/>
          <p:cNvSpPr txBox="1"/>
          <p:nvPr/>
        </p:nvSpPr>
        <p:spPr>
          <a:xfrm>
            <a:off x="8549640" y="4892040"/>
            <a:ext cx="548640" cy="274320"/>
          </a:xfrm>
          <a:prstGeom prst="rect">
            <a:avLst/>
          </a:prstGeom>
          <a:noFill/>
        </p:spPr>
        <p:txBody>
          <a:bodyPr wrap="square">
            <a:spAutoFit/>
          </a:bodyPr>
          <a:lstStyle/>
          <a:p>
            <a:pPr algn="ctr"/>
            <a:r>
              <a:rPr sz="1400" b="1">
                <a:solidFill>
                  <a:srgbClr val="8E44AD"/>
                </a:solidFill>
                <a:latin typeface="Meiryo"/>
              </a:rPr>
              <a:t>▼</a:t>
            </a:r>
          </a:p>
        </p:txBody>
      </p:sp>
      <p:sp>
        <p:nvSpPr>
          <p:cNvPr id="31" name="Rectangle 30"/>
          <p:cNvSpPr/>
          <p:nvPr/>
        </p:nvSpPr>
        <p:spPr>
          <a:xfrm>
            <a:off x="6400800" y="5166359"/>
            <a:ext cx="5212080" cy="868680"/>
          </a:xfrm>
          <a:prstGeom prst="rect">
            <a:avLst/>
          </a:prstGeom>
          <a:solidFill>
            <a:srgbClr val="27AE6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46520" y="5239512"/>
            <a:ext cx="5120640" cy="749808"/>
          </a:xfrm>
          <a:prstGeom prst="rect">
            <a:avLst/>
          </a:prstGeom>
          <a:noFill/>
        </p:spPr>
        <p:txBody>
          <a:bodyPr wrap="square">
            <a:spAutoFit/>
          </a:bodyPr>
          <a:lstStyle/>
          <a:p>
            <a:pPr algn="ctr"/>
            <a:r>
              <a:rPr sz="1300" b="1">
                <a:solidFill>
                  <a:srgbClr val="FFFFFF"/>
                </a:solidFill>
                <a:latin typeface="Meiryo"/>
              </a:rPr>
              <a:t>主働筋が反射的に
収縮・力が増す</a:t>
            </a:r>
          </a:p>
        </p:txBody>
      </p:sp>
      <p:sp>
        <p:nvSpPr>
          <p:cNvPr id="33" name="TextBox 32"/>
          <p:cNvSpPr txBox="1"/>
          <p:nvPr/>
        </p:nvSpPr>
        <p:spPr>
          <a:xfrm>
            <a:off x="6263640" y="6172200"/>
            <a:ext cx="5486400" cy="365760"/>
          </a:xfrm>
          <a:prstGeom prst="rect">
            <a:avLst/>
          </a:prstGeom>
          <a:noFill/>
        </p:spPr>
        <p:txBody>
          <a:bodyPr wrap="square">
            <a:spAutoFit/>
          </a:bodyPr>
          <a:lstStyle/>
          <a:p>
            <a:pPr algn="l"/>
            <a:r>
              <a:rPr sz="1100" b="1">
                <a:solidFill>
                  <a:srgbClr val="8E44AD"/>
                </a:solidFill>
                <a:latin typeface="Meiryo"/>
              </a:rPr>
              <a:t>伸張から短縮までが長すぎると、反射による上乗せは得られない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88720"/>
          </a:xfrm>
          <a:prstGeom prst="rect">
            <a:avLst/>
          </a:prstGeom>
          <a:solidFill>
            <a:srgbClr val="1A3A5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720"/>
            <a:ext cx="12188952" cy="54864"/>
          </a:xfrm>
          <a:prstGeom prst="rect">
            <a:avLst/>
          </a:prstGeom>
          <a:solidFill>
            <a:srgbClr val="2E86C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09728"/>
            <a:ext cx="11430000" cy="777240"/>
          </a:xfrm>
          <a:prstGeom prst="rect">
            <a:avLst/>
          </a:prstGeom>
          <a:noFill/>
        </p:spPr>
        <p:txBody>
          <a:bodyPr wrap="square">
            <a:spAutoFit/>
          </a:bodyPr>
          <a:lstStyle/>
          <a:p>
            <a:pPr algn="l"/>
            <a:r>
              <a:rPr sz="2800" b="1">
                <a:solidFill>
                  <a:srgbClr val="FFFFFF"/>
                </a:solidFill>
                <a:latin typeface="Meiryo"/>
              </a:rPr>
              <a:t>プログラムデザイン：ニーズ分析と変数</a:t>
            </a:r>
          </a:p>
        </p:txBody>
      </p:sp>
      <p:sp>
        <p:nvSpPr>
          <p:cNvPr id="6" name="TextBox 5"/>
          <p:cNvSpPr txBox="1"/>
          <p:nvPr/>
        </p:nvSpPr>
        <p:spPr>
          <a:xfrm>
            <a:off x="365760" y="804672"/>
            <a:ext cx="10972800" cy="365760"/>
          </a:xfrm>
          <a:prstGeom prst="rect">
            <a:avLst/>
          </a:prstGeom>
          <a:noFill/>
        </p:spPr>
        <p:txBody>
          <a:bodyPr wrap="square">
            <a:spAutoFit/>
          </a:bodyPr>
          <a:lstStyle/>
          <a:p>
            <a:pPr algn="l"/>
            <a:r>
              <a:rPr sz="1400" b="0">
                <a:solidFill>
                  <a:srgbClr val="AED6F1"/>
                </a:solidFill>
                <a:latin typeface="Meiryo"/>
              </a:rPr>
              <a:t>Program Design Variables</a:t>
            </a:r>
          </a:p>
        </p:txBody>
      </p:sp>
      <p:sp>
        <p:nvSpPr>
          <p:cNvPr id="7" name="Rectangle 6"/>
          <p:cNvSpPr/>
          <p:nvPr/>
        </p:nvSpPr>
        <p:spPr>
          <a:xfrm>
            <a:off x="274320" y="1371600"/>
            <a:ext cx="5394960" cy="52120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371600"/>
            <a:ext cx="5394960" cy="411480"/>
          </a:xfrm>
          <a:prstGeom prst="rect">
            <a:avLst/>
          </a:prstGeom>
          <a:solidFill>
            <a:srgbClr val="1F5C8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417320"/>
            <a:ext cx="5120640" cy="347472"/>
          </a:xfrm>
          <a:prstGeom prst="rect">
            <a:avLst/>
          </a:prstGeom>
          <a:noFill/>
        </p:spPr>
        <p:txBody>
          <a:bodyPr wrap="square">
            <a:spAutoFit/>
          </a:bodyPr>
          <a:lstStyle/>
          <a:p>
            <a:pPr algn="l"/>
            <a:r>
              <a:rPr sz="1300" b="1">
                <a:solidFill>
                  <a:srgbClr val="FFFFFF"/>
                </a:solidFill>
                <a:latin typeface="Meiryo"/>
              </a:rPr>
              <a:t>ニーズ分析</a:t>
            </a:r>
          </a:p>
        </p:txBody>
      </p:sp>
      <p:sp>
        <p:nvSpPr>
          <p:cNvPr id="10" name="Rectangle 9"/>
          <p:cNvSpPr/>
          <p:nvPr/>
        </p:nvSpPr>
        <p:spPr>
          <a:xfrm>
            <a:off x="457200" y="1920240"/>
            <a:ext cx="5029200" cy="822960"/>
          </a:xfrm>
          <a:prstGeom prst="rect">
            <a:avLst/>
          </a:prstGeom>
          <a:solidFill>
            <a:srgbClr val="D6EA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011680"/>
            <a:ext cx="4754880" cy="658368"/>
          </a:xfrm>
          <a:prstGeom prst="rect">
            <a:avLst/>
          </a:prstGeom>
          <a:noFill/>
        </p:spPr>
        <p:txBody>
          <a:bodyPr wrap="square">
            <a:spAutoFit/>
          </a:bodyPr>
          <a:lstStyle/>
          <a:p>
            <a:pPr algn="l"/>
            <a:r>
              <a:rPr sz="1400" b="0">
                <a:solidFill>
                  <a:srgbClr val="1A3A5C"/>
                </a:solidFill>
                <a:latin typeface="Meiryo"/>
              </a:rPr>
              <a:t>1. 競技（どんな動き・ケガのリスクがあるか）</a:t>
            </a:r>
          </a:p>
        </p:txBody>
      </p:sp>
      <p:sp>
        <p:nvSpPr>
          <p:cNvPr id="12" name="Rectangle 11"/>
          <p:cNvSpPr/>
          <p:nvPr/>
        </p:nvSpPr>
        <p:spPr>
          <a:xfrm>
            <a:off x="457200" y="3017520"/>
            <a:ext cx="5029200" cy="822960"/>
          </a:xfrm>
          <a:prstGeom prst="rect">
            <a:avLst/>
          </a:prstGeom>
          <a:solidFill>
            <a:srgbClr val="EBF5F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3108960"/>
            <a:ext cx="4754880" cy="658368"/>
          </a:xfrm>
          <a:prstGeom prst="rect">
            <a:avLst/>
          </a:prstGeom>
          <a:noFill/>
        </p:spPr>
        <p:txBody>
          <a:bodyPr wrap="square">
            <a:spAutoFit/>
          </a:bodyPr>
          <a:lstStyle/>
          <a:p>
            <a:pPr algn="l"/>
            <a:r>
              <a:rPr sz="1400" b="0">
                <a:solidFill>
                  <a:srgbClr val="1A3A5C"/>
                </a:solidFill>
                <a:latin typeface="Meiryo"/>
              </a:rPr>
              <a:t>2. ポジション（求められる能力）</a:t>
            </a:r>
          </a:p>
        </p:txBody>
      </p:sp>
      <p:sp>
        <p:nvSpPr>
          <p:cNvPr id="14" name="Rectangle 13"/>
          <p:cNvSpPr/>
          <p:nvPr/>
        </p:nvSpPr>
        <p:spPr>
          <a:xfrm>
            <a:off x="457200" y="4114800"/>
            <a:ext cx="5029200" cy="822960"/>
          </a:xfrm>
          <a:prstGeom prst="rect">
            <a:avLst/>
          </a:prstGeom>
          <a:solidFill>
            <a:srgbClr val="D6EA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206240"/>
            <a:ext cx="4754880" cy="658368"/>
          </a:xfrm>
          <a:prstGeom prst="rect">
            <a:avLst/>
          </a:prstGeom>
          <a:noFill/>
        </p:spPr>
        <p:txBody>
          <a:bodyPr wrap="square">
            <a:spAutoFit/>
          </a:bodyPr>
          <a:lstStyle/>
          <a:p>
            <a:pPr algn="l"/>
            <a:r>
              <a:rPr sz="1400" b="0">
                <a:solidFill>
                  <a:srgbClr val="1A3A5C"/>
                </a:solidFill>
                <a:latin typeface="Meiryo"/>
              </a:rPr>
              <a:t>3. トレーニング状態（プライオの経験）</a:t>
            </a:r>
          </a:p>
        </p:txBody>
      </p:sp>
      <p:sp>
        <p:nvSpPr>
          <p:cNvPr id="16" name="Rectangle 15"/>
          <p:cNvSpPr/>
          <p:nvPr/>
        </p:nvSpPr>
        <p:spPr>
          <a:xfrm>
            <a:off x="457200" y="5212079"/>
            <a:ext cx="5029200" cy="822960"/>
          </a:xfrm>
          <a:prstGeom prst="rect">
            <a:avLst/>
          </a:prstGeom>
          <a:solidFill>
            <a:srgbClr val="EBF5F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5303519"/>
            <a:ext cx="4754880" cy="658368"/>
          </a:xfrm>
          <a:prstGeom prst="rect">
            <a:avLst/>
          </a:prstGeom>
          <a:noFill/>
        </p:spPr>
        <p:txBody>
          <a:bodyPr wrap="square">
            <a:spAutoFit/>
          </a:bodyPr>
          <a:lstStyle/>
          <a:p>
            <a:pPr algn="l"/>
            <a:r>
              <a:rPr sz="1400" b="0">
                <a:solidFill>
                  <a:srgbClr val="1A3A5C"/>
                </a:solidFill>
                <a:latin typeface="Meiryo"/>
              </a:rPr>
              <a:t>4. ケガの既往・現在の状態</a:t>
            </a:r>
          </a:p>
        </p:txBody>
      </p:sp>
      <p:sp>
        <p:nvSpPr>
          <p:cNvPr id="18" name="Rectangle 17"/>
          <p:cNvSpPr/>
          <p:nvPr/>
        </p:nvSpPr>
        <p:spPr>
          <a:xfrm>
            <a:off x="5943600" y="1371600"/>
            <a:ext cx="5971032" cy="52120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43600" y="1371600"/>
            <a:ext cx="5971032" cy="411480"/>
          </a:xfrm>
          <a:prstGeom prst="rect">
            <a:avLst/>
          </a:prstGeom>
          <a:solidFill>
            <a:srgbClr val="2E86C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80760" y="1417320"/>
            <a:ext cx="5669280" cy="347472"/>
          </a:xfrm>
          <a:prstGeom prst="rect">
            <a:avLst/>
          </a:prstGeom>
          <a:noFill/>
        </p:spPr>
        <p:txBody>
          <a:bodyPr wrap="square">
            <a:spAutoFit/>
          </a:bodyPr>
          <a:lstStyle/>
          <a:p>
            <a:pPr algn="l"/>
            <a:r>
              <a:rPr sz="1300" b="1">
                <a:solidFill>
                  <a:srgbClr val="FFFFFF"/>
                </a:solidFill>
                <a:latin typeface="Meiryo"/>
              </a:rPr>
              <a:t>プログラム変数</a:t>
            </a:r>
          </a:p>
        </p:txBody>
      </p:sp>
      <p:sp>
        <p:nvSpPr>
          <p:cNvPr id="21" name="Rectangle 20"/>
          <p:cNvSpPr/>
          <p:nvPr/>
        </p:nvSpPr>
        <p:spPr>
          <a:xfrm>
            <a:off x="6080760" y="1874519"/>
            <a:ext cx="1828800" cy="658368"/>
          </a:xfrm>
          <a:prstGeom prst="rect">
            <a:avLst/>
          </a:prstGeom>
          <a:solidFill>
            <a:srgbClr val="27AE6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26480" y="1965960"/>
            <a:ext cx="1737360" cy="502920"/>
          </a:xfrm>
          <a:prstGeom prst="rect">
            <a:avLst/>
          </a:prstGeom>
          <a:noFill/>
        </p:spPr>
        <p:txBody>
          <a:bodyPr wrap="square">
            <a:spAutoFit/>
          </a:bodyPr>
          <a:lstStyle/>
          <a:p>
            <a:pPr algn="ctr"/>
            <a:r>
              <a:rPr sz="1200" b="1">
                <a:solidFill>
                  <a:srgbClr val="FFFFFF"/>
                </a:solidFill>
                <a:latin typeface="Meiryo"/>
              </a:rPr>
              <a:t>頻度</a:t>
            </a:r>
          </a:p>
        </p:txBody>
      </p:sp>
      <p:sp>
        <p:nvSpPr>
          <p:cNvPr id="23" name="Rectangle 22"/>
          <p:cNvSpPr/>
          <p:nvPr/>
        </p:nvSpPr>
        <p:spPr>
          <a:xfrm>
            <a:off x="7955279" y="1874519"/>
            <a:ext cx="3749039" cy="658368"/>
          </a:xfrm>
          <a:prstGeom prst="rect">
            <a:avLst/>
          </a:prstGeom>
          <a:solidFill>
            <a:srgbClr val="EBF5F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6720" y="1965960"/>
            <a:ext cx="3566160" cy="502920"/>
          </a:xfrm>
          <a:prstGeom prst="rect">
            <a:avLst/>
          </a:prstGeom>
          <a:noFill/>
        </p:spPr>
        <p:txBody>
          <a:bodyPr wrap="square">
            <a:spAutoFit/>
          </a:bodyPr>
          <a:lstStyle/>
          <a:p>
            <a:pPr algn="l"/>
            <a:r>
              <a:rPr sz="1300" b="0">
                <a:solidFill>
                  <a:srgbClr val="1A3A5C"/>
                </a:solidFill>
                <a:latin typeface="Meiryo"/>
              </a:rPr>
              <a:t>週1〜3回（セッション間48〜72時間）</a:t>
            </a:r>
          </a:p>
        </p:txBody>
      </p:sp>
      <p:sp>
        <p:nvSpPr>
          <p:cNvPr id="25" name="Rectangle 24"/>
          <p:cNvSpPr/>
          <p:nvPr/>
        </p:nvSpPr>
        <p:spPr>
          <a:xfrm>
            <a:off x="6080760" y="2670048"/>
            <a:ext cx="1828800" cy="658368"/>
          </a:xfrm>
          <a:prstGeom prst="rect">
            <a:avLst/>
          </a:prstGeom>
          <a:solidFill>
            <a:srgbClr val="F39C1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26480" y="2761488"/>
            <a:ext cx="1737360" cy="502920"/>
          </a:xfrm>
          <a:prstGeom prst="rect">
            <a:avLst/>
          </a:prstGeom>
          <a:noFill/>
        </p:spPr>
        <p:txBody>
          <a:bodyPr wrap="square">
            <a:spAutoFit/>
          </a:bodyPr>
          <a:lstStyle/>
          <a:p>
            <a:pPr algn="ctr"/>
            <a:r>
              <a:rPr sz="1200" b="1">
                <a:solidFill>
                  <a:srgbClr val="FFFFFF"/>
                </a:solidFill>
                <a:latin typeface="Meiryo"/>
              </a:rPr>
              <a:t>運動‐休息比</a:t>
            </a:r>
          </a:p>
        </p:txBody>
      </p:sp>
      <p:sp>
        <p:nvSpPr>
          <p:cNvPr id="27" name="Rectangle 26"/>
          <p:cNvSpPr/>
          <p:nvPr/>
        </p:nvSpPr>
        <p:spPr>
          <a:xfrm>
            <a:off x="7955279" y="2670048"/>
            <a:ext cx="3749039" cy="658368"/>
          </a:xfrm>
          <a:prstGeom prst="rect">
            <a:avLst/>
          </a:prstGeom>
          <a:solidFill>
            <a:srgbClr val="EBF5F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20" y="2761488"/>
            <a:ext cx="3566160" cy="502920"/>
          </a:xfrm>
          <a:prstGeom prst="rect">
            <a:avLst/>
          </a:prstGeom>
          <a:noFill/>
        </p:spPr>
        <p:txBody>
          <a:bodyPr wrap="square">
            <a:spAutoFit/>
          </a:bodyPr>
          <a:lstStyle/>
          <a:p>
            <a:pPr algn="l"/>
            <a:r>
              <a:rPr sz="1300" b="0">
                <a:solidFill>
                  <a:srgbClr val="1A3A5C"/>
                </a:solidFill>
                <a:latin typeface="Meiryo"/>
              </a:rPr>
              <a:t>1:5〜1:10</a:t>
            </a:r>
          </a:p>
        </p:txBody>
      </p:sp>
      <p:sp>
        <p:nvSpPr>
          <p:cNvPr id="29" name="Rectangle 28"/>
          <p:cNvSpPr/>
          <p:nvPr/>
        </p:nvSpPr>
        <p:spPr>
          <a:xfrm>
            <a:off x="6080760" y="3465576"/>
            <a:ext cx="1828800" cy="658368"/>
          </a:xfrm>
          <a:prstGeom prst="rect">
            <a:avLst/>
          </a:prstGeom>
          <a:solidFill>
            <a:srgbClr val="2E86C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26480" y="3557016"/>
            <a:ext cx="1737360" cy="502920"/>
          </a:xfrm>
          <a:prstGeom prst="rect">
            <a:avLst/>
          </a:prstGeom>
          <a:noFill/>
        </p:spPr>
        <p:txBody>
          <a:bodyPr wrap="square">
            <a:spAutoFit/>
          </a:bodyPr>
          <a:lstStyle/>
          <a:p>
            <a:pPr algn="ctr"/>
            <a:r>
              <a:rPr sz="1200" b="1">
                <a:solidFill>
                  <a:srgbClr val="FFFFFF"/>
                </a:solidFill>
                <a:latin typeface="Meiryo"/>
              </a:rPr>
              <a:t>期間</a:t>
            </a:r>
          </a:p>
        </p:txBody>
      </p:sp>
      <p:sp>
        <p:nvSpPr>
          <p:cNvPr id="31" name="Rectangle 30"/>
          <p:cNvSpPr/>
          <p:nvPr/>
        </p:nvSpPr>
        <p:spPr>
          <a:xfrm>
            <a:off x="7955279" y="3465576"/>
            <a:ext cx="3749039" cy="658368"/>
          </a:xfrm>
          <a:prstGeom prst="rect">
            <a:avLst/>
          </a:prstGeom>
          <a:solidFill>
            <a:srgbClr val="EBF5F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46720" y="3557016"/>
            <a:ext cx="3566160" cy="502920"/>
          </a:xfrm>
          <a:prstGeom prst="rect">
            <a:avLst/>
          </a:prstGeom>
          <a:noFill/>
        </p:spPr>
        <p:txBody>
          <a:bodyPr wrap="square">
            <a:spAutoFit/>
          </a:bodyPr>
          <a:lstStyle/>
          <a:p>
            <a:pPr algn="l"/>
            <a:r>
              <a:rPr sz="1300" b="0">
                <a:solidFill>
                  <a:srgbClr val="1A3A5C"/>
                </a:solidFill>
                <a:latin typeface="Meiryo"/>
              </a:rPr>
              <a:t>6〜10週間（一般的）</a:t>
            </a:r>
          </a:p>
        </p:txBody>
      </p:sp>
      <p:sp>
        <p:nvSpPr>
          <p:cNvPr id="33" name="Rectangle 32"/>
          <p:cNvSpPr/>
          <p:nvPr/>
        </p:nvSpPr>
        <p:spPr>
          <a:xfrm>
            <a:off x="6080760" y="4261104"/>
            <a:ext cx="1828800" cy="658368"/>
          </a:xfrm>
          <a:prstGeom prst="rect">
            <a:avLst/>
          </a:prstGeom>
          <a:solidFill>
            <a:srgbClr val="27AE6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126480" y="4352544"/>
            <a:ext cx="1737360" cy="502920"/>
          </a:xfrm>
          <a:prstGeom prst="rect">
            <a:avLst/>
          </a:prstGeom>
          <a:noFill/>
        </p:spPr>
        <p:txBody>
          <a:bodyPr wrap="square">
            <a:spAutoFit/>
          </a:bodyPr>
          <a:lstStyle/>
          <a:p>
            <a:pPr algn="ctr"/>
            <a:r>
              <a:rPr sz="1200" b="1">
                <a:solidFill>
                  <a:srgbClr val="FFFFFF"/>
                </a:solidFill>
                <a:latin typeface="Meiryo"/>
              </a:rPr>
              <a:t>量（初心者）</a:t>
            </a:r>
          </a:p>
        </p:txBody>
      </p:sp>
      <p:sp>
        <p:nvSpPr>
          <p:cNvPr id="35" name="Rectangle 34"/>
          <p:cNvSpPr/>
          <p:nvPr/>
        </p:nvSpPr>
        <p:spPr>
          <a:xfrm>
            <a:off x="7955279" y="4261104"/>
            <a:ext cx="3749039" cy="658368"/>
          </a:xfrm>
          <a:prstGeom prst="rect">
            <a:avLst/>
          </a:prstGeom>
          <a:solidFill>
            <a:srgbClr val="EBF5F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46720" y="4352544"/>
            <a:ext cx="3566160" cy="502920"/>
          </a:xfrm>
          <a:prstGeom prst="rect">
            <a:avLst/>
          </a:prstGeom>
          <a:noFill/>
        </p:spPr>
        <p:txBody>
          <a:bodyPr wrap="square">
            <a:spAutoFit/>
          </a:bodyPr>
          <a:lstStyle/>
          <a:p>
            <a:pPr algn="l"/>
            <a:r>
              <a:rPr sz="1300" b="0">
                <a:solidFill>
                  <a:srgbClr val="1A3A5C"/>
                </a:solidFill>
                <a:latin typeface="Meiryo"/>
              </a:rPr>
              <a:t>開始時 80〜100 接地/セッション</a:t>
            </a:r>
          </a:p>
        </p:txBody>
      </p:sp>
      <p:sp>
        <p:nvSpPr>
          <p:cNvPr id="37" name="Rectangle 36"/>
          <p:cNvSpPr/>
          <p:nvPr/>
        </p:nvSpPr>
        <p:spPr>
          <a:xfrm>
            <a:off x="6080760" y="5056631"/>
            <a:ext cx="1828800" cy="658368"/>
          </a:xfrm>
          <a:prstGeom prst="rect">
            <a:avLst/>
          </a:prstGeom>
          <a:solidFill>
            <a:srgbClr val="F39C1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126480" y="5148071"/>
            <a:ext cx="1737360" cy="502920"/>
          </a:xfrm>
          <a:prstGeom prst="rect">
            <a:avLst/>
          </a:prstGeom>
          <a:noFill/>
        </p:spPr>
        <p:txBody>
          <a:bodyPr wrap="square">
            <a:spAutoFit/>
          </a:bodyPr>
          <a:lstStyle/>
          <a:p>
            <a:pPr algn="ctr"/>
            <a:r>
              <a:rPr sz="1200" b="1">
                <a:solidFill>
                  <a:srgbClr val="FFFFFF"/>
                </a:solidFill>
                <a:latin typeface="Meiryo"/>
              </a:rPr>
              <a:t>量（中級者）</a:t>
            </a:r>
          </a:p>
        </p:txBody>
      </p:sp>
      <p:sp>
        <p:nvSpPr>
          <p:cNvPr id="39" name="Rectangle 38"/>
          <p:cNvSpPr/>
          <p:nvPr/>
        </p:nvSpPr>
        <p:spPr>
          <a:xfrm>
            <a:off x="7955279" y="5056631"/>
            <a:ext cx="3749039" cy="658368"/>
          </a:xfrm>
          <a:prstGeom prst="rect">
            <a:avLst/>
          </a:prstGeom>
          <a:solidFill>
            <a:srgbClr val="EBF5F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46720" y="5148071"/>
            <a:ext cx="3566160" cy="502920"/>
          </a:xfrm>
          <a:prstGeom prst="rect">
            <a:avLst/>
          </a:prstGeom>
          <a:noFill/>
        </p:spPr>
        <p:txBody>
          <a:bodyPr wrap="square">
            <a:spAutoFit/>
          </a:bodyPr>
          <a:lstStyle/>
          <a:p>
            <a:pPr algn="l"/>
            <a:r>
              <a:rPr sz="1300" b="0">
                <a:solidFill>
                  <a:srgbClr val="1A3A5C"/>
                </a:solidFill>
                <a:latin typeface="Meiryo"/>
              </a:rPr>
              <a:t>開始時 100〜120 接地/セッション</a:t>
            </a:r>
          </a:p>
        </p:txBody>
      </p:sp>
      <p:sp>
        <p:nvSpPr>
          <p:cNvPr id="41" name="Rectangle 40"/>
          <p:cNvSpPr/>
          <p:nvPr/>
        </p:nvSpPr>
        <p:spPr>
          <a:xfrm>
            <a:off x="6080760" y="5852159"/>
            <a:ext cx="1828800" cy="658368"/>
          </a:xfrm>
          <a:prstGeom prst="rect">
            <a:avLst/>
          </a:prstGeom>
          <a:solidFill>
            <a:srgbClr val="E74C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126480" y="5943599"/>
            <a:ext cx="1737360" cy="502920"/>
          </a:xfrm>
          <a:prstGeom prst="rect">
            <a:avLst/>
          </a:prstGeom>
          <a:noFill/>
        </p:spPr>
        <p:txBody>
          <a:bodyPr wrap="square">
            <a:spAutoFit/>
          </a:bodyPr>
          <a:lstStyle/>
          <a:p>
            <a:pPr algn="ctr"/>
            <a:r>
              <a:rPr sz="1200" b="1">
                <a:solidFill>
                  <a:srgbClr val="FFFFFF"/>
                </a:solidFill>
                <a:latin typeface="Meiryo"/>
              </a:rPr>
              <a:t>量（上級者）</a:t>
            </a:r>
          </a:p>
        </p:txBody>
      </p:sp>
      <p:sp>
        <p:nvSpPr>
          <p:cNvPr id="43" name="Rectangle 42"/>
          <p:cNvSpPr/>
          <p:nvPr/>
        </p:nvSpPr>
        <p:spPr>
          <a:xfrm>
            <a:off x="7955279" y="5852159"/>
            <a:ext cx="3749039" cy="658368"/>
          </a:xfrm>
          <a:prstGeom prst="rect">
            <a:avLst/>
          </a:prstGeom>
          <a:solidFill>
            <a:srgbClr val="EBF5F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046720" y="5943599"/>
            <a:ext cx="3566160" cy="502920"/>
          </a:xfrm>
          <a:prstGeom prst="rect">
            <a:avLst/>
          </a:prstGeom>
          <a:noFill/>
        </p:spPr>
        <p:txBody>
          <a:bodyPr wrap="square">
            <a:spAutoFit/>
          </a:bodyPr>
          <a:lstStyle/>
          <a:p>
            <a:pPr algn="l"/>
            <a:r>
              <a:rPr sz="1300" b="0">
                <a:solidFill>
                  <a:srgbClr val="1A3A5C"/>
                </a:solidFill>
                <a:latin typeface="Meiryo"/>
              </a:rPr>
              <a:t>開始時 120〜140 接地/セッション</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88720"/>
          </a:xfrm>
          <a:prstGeom prst="rect">
            <a:avLst/>
          </a:prstGeom>
          <a:solidFill>
            <a:srgbClr val="1A3A5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720"/>
            <a:ext cx="12188952" cy="54864"/>
          </a:xfrm>
          <a:prstGeom prst="rect">
            <a:avLst/>
          </a:prstGeom>
          <a:solidFill>
            <a:srgbClr val="2E86C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09728"/>
            <a:ext cx="11430000" cy="777240"/>
          </a:xfrm>
          <a:prstGeom prst="rect">
            <a:avLst/>
          </a:prstGeom>
          <a:noFill/>
        </p:spPr>
        <p:txBody>
          <a:bodyPr wrap="square">
            <a:spAutoFit/>
          </a:bodyPr>
          <a:lstStyle/>
          <a:p>
            <a:pPr algn="l"/>
            <a:r>
              <a:rPr sz="2800" b="1">
                <a:solidFill>
                  <a:srgbClr val="FFFFFF"/>
                </a:solidFill>
                <a:latin typeface="Meiryo"/>
              </a:rPr>
              <a:t>強度レベルとドリル例</a:t>
            </a:r>
          </a:p>
        </p:txBody>
      </p:sp>
      <p:sp>
        <p:nvSpPr>
          <p:cNvPr id="6" name="TextBox 5"/>
          <p:cNvSpPr txBox="1"/>
          <p:nvPr/>
        </p:nvSpPr>
        <p:spPr>
          <a:xfrm>
            <a:off x="365760" y="804672"/>
            <a:ext cx="10972800" cy="365760"/>
          </a:xfrm>
          <a:prstGeom prst="rect">
            <a:avLst/>
          </a:prstGeom>
          <a:noFill/>
        </p:spPr>
        <p:txBody>
          <a:bodyPr wrap="square">
            <a:spAutoFit/>
          </a:bodyPr>
          <a:lstStyle/>
          <a:p>
            <a:pPr algn="l"/>
            <a:r>
              <a:rPr sz="1400" b="0">
                <a:solidFill>
                  <a:srgbClr val="AED6F1"/>
                </a:solidFill>
                <a:latin typeface="Meiryo"/>
              </a:rPr>
              <a:t>Intensity Levels</a:t>
            </a:r>
          </a:p>
        </p:txBody>
      </p:sp>
      <p:sp>
        <p:nvSpPr>
          <p:cNvPr id="7" name="Rectangle 6"/>
          <p:cNvSpPr/>
          <p:nvPr/>
        </p:nvSpPr>
        <p:spPr>
          <a:xfrm>
            <a:off x="274320" y="1371600"/>
            <a:ext cx="3749039" cy="52120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371600"/>
            <a:ext cx="3749039" cy="502920"/>
          </a:xfrm>
          <a:prstGeom prst="rect">
            <a:avLst/>
          </a:prstGeom>
          <a:solidFill>
            <a:srgbClr val="27AE6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417320"/>
            <a:ext cx="3566160" cy="411480"/>
          </a:xfrm>
          <a:prstGeom prst="rect">
            <a:avLst/>
          </a:prstGeom>
          <a:noFill/>
        </p:spPr>
        <p:txBody>
          <a:bodyPr wrap="square">
            <a:spAutoFit/>
          </a:bodyPr>
          <a:lstStyle/>
          <a:p>
            <a:pPr algn="ctr"/>
            <a:r>
              <a:rPr sz="1800" b="1">
                <a:solidFill>
                  <a:srgbClr val="FFFFFF"/>
                </a:solidFill>
                <a:latin typeface="Meiryo"/>
              </a:rPr>
              <a:t>低強度</a:t>
            </a:r>
          </a:p>
        </p:txBody>
      </p:sp>
      <p:sp>
        <p:nvSpPr>
          <p:cNvPr id="10" name="TextBox 9"/>
          <p:cNvSpPr txBox="1"/>
          <p:nvPr/>
        </p:nvSpPr>
        <p:spPr>
          <a:xfrm>
            <a:off x="365760" y="1965960"/>
            <a:ext cx="3566160" cy="411480"/>
          </a:xfrm>
          <a:prstGeom prst="rect">
            <a:avLst/>
          </a:prstGeom>
          <a:noFill/>
        </p:spPr>
        <p:txBody>
          <a:bodyPr wrap="square">
            <a:spAutoFit/>
          </a:bodyPr>
          <a:lstStyle/>
          <a:p>
            <a:pPr algn="ctr"/>
            <a:r>
              <a:rPr sz="1300" b="0">
                <a:solidFill>
                  <a:srgbClr val="7F8C8D"/>
                </a:solidFill>
                <a:latin typeface="Meiryo"/>
              </a:rPr>
              <a:t>衝撃が小さい</a:t>
            </a:r>
          </a:p>
        </p:txBody>
      </p:sp>
      <p:sp>
        <p:nvSpPr>
          <p:cNvPr id="11" name="Rectangle 10"/>
          <p:cNvSpPr/>
          <p:nvPr/>
        </p:nvSpPr>
        <p:spPr>
          <a:xfrm>
            <a:off x="365760" y="2423160"/>
            <a:ext cx="3566160" cy="36576"/>
          </a:xfrm>
          <a:prstGeom prst="rect">
            <a:avLst/>
          </a:prstGeom>
          <a:solidFill>
            <a:srgbClr val="D6EA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79" y="2560320"/>
            <a:ext cx="3474720" cy="685800"/>
          </a:xfrm>
          <a:prstGeom prst="rect">
            <a:avLst/>
          </a:prstGeom>
          <a:solidFill>
            <a:srgbClr val="D6EA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651760"/>
            <a:ext cx="3291840" cy="530352"/>
          </a:xfrm>
          <a:prstGeom prst="rect">
            <a:avLst/>
          </a:prstGeom>
          <a:noFill/>
        </p:spPr>
        <p:txBody>
          <a:bodyPr wrap="square">
            <a:spAutoFit/>
          </a:bodyPr>
          <a:lstStyle/>
          <a:p>
            <a:pPr algn="l"/>
            <a:r>
              <a:rPr sz="1300" b="0">
                <a:solidFill>
                  <a:srgbClr val="1A3A5C"/>
                </a:solidFill>
                <a:latin typeface="Meiryo"/>
              </a:rPr>
              <a:t>● スキップ・パワースキップ</a:t>
            </a:r>
          </a:p>
        </p:txBody>
      </p:sp>
      <p:sp>
        <p:nvSpPr>
          <p:cNvPr id="14" name="Rectangle 13"/>
          <p:cNvSpPr/>
          <p:nvPr/>
        </p:nvSpPr>
        <p:spPr>
          <a:xfrm>
            <a:off x="411479" y="3429000"/>
            <a:ext cx="3474720" cy="685800"/>
          </a:xfrm>
          <a:prstGeom prst="rect">
            <a:avLst/>
          </a:prstGeom>
          <a:solidFill>
            <a:srgbClr val="EBF5F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3520440"/>
            <a:ext cx="3291840" cy="530352"/>
          </a:xfrm>
          <a:prstGeom prst="rect">
            <a:avLst/>
          </a:prstGeom>
          <a:noFill/>
        </p:spPr>
        <p:txBody>
          <a:bodyPr wrap="square">
            <a:spAutoFit/>
          </a:bodyPr>
          <a:lstStyle/>
          <a:p>
            <a:pPr algn="l"/>
            <a:r>
              <a:rPr sz="1300" b="0">
                <a:solidFill>
                  <a:srgbClr val="1A3A5C"/>
                </a:solidFill>
                <a:latin typeface="Meiryo"/>
              </a:rPr>
              <a:t>● アンクルホップ（両脚）</a:t>
            </a:r>
          </a:p>
        </p:txBody>
      </p:sp>
      <p:sp>
        <p:nvSpPr>
          <p:cNvPr id="16" name="Rectangle 15"/>
          <p:cNvSpPr/>
          <p:nvPr/>
        </p:nvSpPr>
        <p:spPr>
          <a:xfrm>
            <a:off x="411479" y="4297679"/>
            <a:ext cx="3474720" cy="685800"/>
          </a:xfrm>
          <a:prstGeom prst="rect">
            <a:avLst/>
          </a:prstGeom>
          <a:solidFill>
            <a:srgbClr val="D6EA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4389119"/>
            <a:ext cx="3291840" cy="530352"/>
          </a:xfrm>
          <a:prstGeom prst="rect">
            <a:avLst/>
          </a:prstGeom>
          <a:noFill/>
        </p:spPr>
        <p:txBody>
          <a:bodyPr wrap="square">
            <a:spAutoFit/>
          </a:bodyPr>
          <a:lstStyle/>
          <a:p>
            <a:pPr algn="l"/>
            <a:r>
              <a:rPr sz="1300" b="0">
                <a:solidFill>
                  <a:srgbClr val="1A3A5C"/>
                </a:solidFill>
                <a:latin typeface="Meiryo"/>
              </a:rPr>
              <a:t>● スクワットジャンプ</a:t>
            </a:r>
          </a:p>
        </p:txBody>
      </p:sp>
      <p:sp>
        <p:nvSpPr>
          <p:cNvPr id="18" name="Rectangle 17"/>
          <p:cNvSpPr/>
          <p:nvPr/>
        </p:nvSpPr>
        <p:spPr>
          <a:xfrm>
            <a:off x="411479" y="5166359"/>
            <a:ext cx="3474720" cy="685800"/>
          </a:xfrm>
          <a:prstGeom prst="rect">
            <a:avLst/>
          </a:prstGeom>
          <a:solidFill>
            <a:srgbClr val="EBF5F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5257799"/>
            <a:ext cx="3291840" cy="530352"/>
          </a:xfrm>
          <a:prstGeom prst="rect">
            <a:avLst/>
          </a:prstGeom>
          <a:noFill/>
        </p:spPr>
        <p:txBody>
          <a:bodyPr wrap="square">
            <a:spAutoFit/>
          </a:bodyPr>
          <a:lstStyle/>
          <a:p>
            <a:pPr algn="l"/>
            <a:r>
              <a:rPr sz="1300" b="0">
                <a:solidFill>
                  <a:srgbClr val="1A3A5C"/>
                </a:solidFill>
                <a:latin typeface="Meiryo"/>
              </a:rPr>
              <a:t>● 立ち幅跳び</a:t>
            </a:r>
          </a:p>
        </p:txBody>
      </p:sp>
      <p:sp>
        <p:nvSpPr>
          <p:cNvPr id="20" name="Rectangle 19"/>
          <p:cNvSpPr/>
          <p:nvPr/>
        </p:nvSpPr>
        <p:spPr>
          <a:xfrm>
            <a:off x="4297680" y="1371600"/>
            <a:ext cx="3749039" cy="52120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97680" y="1371600"/>
            <a:ext cx="3749039" cy="502920"/>
          </a:xfrm>
          <a:prstGeom prst="rect">
            <a:avLst/>
          </a:prstGeom>
          <a:solidFill>
            <a:srgbClr val="F39C1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89120" y="1417320"/>
            <a:ext cx="3566160" cy="411480"/>
          </a:xfrm>
          <a:prstGeom prst="rect">
            <a:avLst/>
          </a:prstGeom>
          <a:noFill/>
        </p:spPr>
        <p:txBody>
          <a:bodyPr wrap="square">
            <a:spAutoFit/>
          </a:bodyPr>
          <a:lstStyle/>
          <a:p>
            <a:pPr algn="ctr"/>
            <a:r>
              <a:rPr sz="1800" b="1">
                <a:solidFill>
                  <a:srgbClr val="FFFFFF"/>
                </a:solidFill>
                <a:latin typeface="Meiryo"/>
              </a:rPr>
              <a:t>中強度</a:t>
            </a:r>
          </a:p>
        </p:txBody>
      </p:sp>
      <p:sp>
        <p:nvSpPr>
          <p:cNvPr id="23" name="TextBox 22"/>
          <p:cNvSpPr txBox="1"/>
          <p:nvPr/>
        </p:nvSpPr>
        <p:spPr>
          <a:xfrm>
            <a:off x="4389120" y="1965960"/>
            <a:ext cx="3566160" cy="411480"/>
          </a:xfrm>
          <a:prstGeom prst="rect">
            <a:avLst/>
          </a:prstGeom>
          <a:noFill/>
        </p:spPr>
        <p:txBody>
          <a:bodyPr wrap="square">
            <a:spAutoFit/>
          </a:bodyPr>
          <a:lstStyle/>
          <a:p>
            <a:pPr algn="ctr"/>
            <a:r>
              <a:rPr sz="1300" b="0">
                <a:solidFill>
                  <a:srgbClr val="7F8C8D"/>
                </a:solidFill>
                <a:latin typeface="Meiryo"/>
              </a:rPr>
              <a:t>中程度の衝撃</a:t>
            </a:r>
          </a:p>
        </p:txBody>
      </p:sp>
      <p:sp>
        <p:nvSpPr>
          <p:cNvPr id="24" name="Rectangle 23"/>
          <p:cNvSpPr/>
          <p:nvPr/>
        </p:nvSpPr>
        <p:spPr>
          <a:xfrm>
            <a:off x="4389120" y="2423160"/>
            <a:ext cx="3566160" cy="36576"/>
          </a:xfrm>
          <a:prstGeom prst="rect">
            <a:avLst/>
          </a:prstGeom>
          <a:solidFill>
            <a:srgbClr val="D6EA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434840" y="2560320"/>
            <a:ext cx="3474720" cy="685800"/>
          </a:xfrm>
          <a:prstGeom prst="rect">
            <a:avLst/>
          </a:prstGeom>
          <a:solidFill>
            <a:srgbClr val="D6EA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26280" y="2651760"/>
            <a:ext cx="3291840" cy="530352"/>
          </a:xfrm>
          <a:prstGeom prst="rect">
            <a:avLst/>
          </a:prstGeom>
          <a:noFill/>
        </p:spPr>
        <p:txBody>
          <a:bodyPr wrap="square">
            <a:spAutoFit/>
          </a:bodyPr>
          <a:lstStyle/>
          <a:p>
            <a:pPr algn="l"/>
            <a:r>
              <a:rPr sz="1300" b="0">
                <a:solidFill>
                  <a:srgbClr val="1A3A5C"/>
                </a:solidFill>
                <a:latin typeface="Meiryo"/>
              </a:rPr>
              <a:t>● タックジャンプ（両脚）</a:t>
            </a:r>
          </a:p>
        </p:txBody>
      </p:sp>
      <p:sp>
        <p:nvSpPr>
          <p:cNvPr id="27" name="Rectangle 26"/>
          <p:cNvSpPr/>
          <p:nvPr/>
        </p:nvSpPr>
        <p:spPr>
          <a:xfrm>
            <a:off x="4434840" y="3429000"/>
            <a:ext cx="3474720" cy="685800"/>
          </a:xfrm>
          <a:prstGeom prst="rect">
            <a:avLst/>
          </a:prstGeom>
          <a:solidFill>
            <a:srgbClr val="EBF5F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26280" y="3520440"/>
            <a:ext cx="3291840" cy="530352"/>
          </a:xfrm>
          <a:prstGeom prst="rect">
            <a:avLst/>
          </a:prstGeom>
          <a:noFill/>
        </p:spPr>
        <p:txBody>
          <a:bodyPr wrap="square">
            <a:spAutoFit/>
          </a:bodyPr>
          <a:lstStyle/>
          <a:p>
            <a:pPr algn="l"/>
            <a:r>
              <a:rPr sz="1300" b="0">
                <a:solidFill>
                  <a:srgbClr val="1A3A5C"/>
                </a:solidFill>
                <a:latin typeface="Meiryo"/>
              </a:rPr>
              <a:t>● 障害物飛び越え</a:t>
            </a:r>
          </a:p>
        </p:txBody>
      </p:sp>
      <p:sp>
        <p:nvSpPr>
          <p:cNvPr id="29" name="Rectangle 28"/>
          <p:cNvSpPr/>
          <p:nvPr/>
        </p:nvSpPr>
        <p:spPr>
          <a:xfrm>
            <a:off x="4434840" y="4297679"/>
            <a:ext cx="3474720" cy="685800"/>
          </a:xfrm>
          <a:prstGeom prst="rect">
            <a:avLst/>
          </a:prstGeom>
          <a:solidFill>
            <a:srgbClr val="D6EA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26280" y="4389119"/>
            <a:ext cx="3291840" cy="530352"/>
          </a:xfrm>
          <a:prstGeom prst="rect">
            <a:avLst/>
          </a:prstGeom>
          <a:noFill/>
        </p:spPr>
        <p:txBody>
          <a:bodyPr wrap="square">
            <a:spAutoFit/>
          </a:bodyPr>
          <a:lstStyle/>
          <a:p>
            <a:pPr algn="l"/>
            <a:r>
              <a:rPr sz="1300" b="0">
                <a:solidFill>
                  <a:srgbClr val="1A3A5C"/>
                </a:solidFill>
                <a:latin typeface="Meiryo"/>
              </a:rPr>
              <a:t>● ダブルレッグ・ホップ</a:t>
            </a:r>
          </a:p>
        </p:txBody>
      </p:sp>
      <p:sp>
        <p:nvSpPr>
          <p:cNvPr id="31" name="Rectangle 30"/>
          <p:cNvSpPr/>
          <p:nvPr/>
        </p:nvSpPr>
        <p:spPr>
          <a:xfrm>
            <a:off x="4434840" y="5166359"/>
            <a:ext cx="3474720" cy="685800"/>
          </a:xfrm>
          <a:prstGeom prst="rect">
            <a:avLst/>
          </a:prstGeom>
          <a:solidFill>
            <a:srgbClr val="EBF5F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26280" y="5257799"/>
            <a:ext cx="3291840" cy="530352"/>
          </a:xfrm>
          <a:prstGeom prst="rect">
            <a:avLst/>
          </a:prstGeom>
          <a:noFill/>
        </p:spPr>
        <p:txBody>
          <a:bodyPr wrap="square">
            <a:spAutoFit/>
          </a:bodyPr>
          <a:lstStyle/>
          <a:p>
            <a:pPr algn="l"/>
            <a:r>
              <a:rPr sz="1300" b="0">
                <a:solidFill>
                  <a:srgbClr val="1A3A5C"/>
                </a:solidFill>
                <a:latin typeface="Meiryo"/>
              </a:rPr>
              <a:t>● バリアホップ</a:t>
            </a:r>
          </a:p>
        </p:txBody>
      </p:sp>
      <p:sp>
        <p:nvSpPr>
          <p:cNvPr id="33" name="Rectangle 32"/>
          <p:cNvSpPr/>
          <p:nvPr/>
        </p:nvSpPr>
        <p:spPr>
          <a:xfrm>
            <a:off x="8321040" y="1371600"/>
            <a:ext cx="3749039" cy="52120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321040" y="1371600"/>
            <a:ext cx="3749039" cy="502920"/>
          </a:xfrm>
          <a:prstGeom prst="rect">
            <a:avLst/>
          </a:prstGeom>
          <a:solidFill>
            <a:srgbClr val="E74C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12480" y="1417320"/>
            <a:ext cx="3566160" cy="411480"/>
          </a:xfrm>
          <a:prstGeom prst="rect">
            <a:avLst/>
          </a:prstGeom>
          <a:noFill/>
        </p:spPr>
        <p:txBody>
          <a:bodyPr wrap="square">
            <a:spAutoFit/>
          </a:bodyPr>
          <a:lstStyle/>
          <a:p>
            <a:pPr algn="ctr"/>
            <a:r>
              <a:rPr sz="1800" b="1">
                <a:solidFill>
                  <a:srgbClr val="FFFFFF"/>
                </a:solidFill>
                <a:latin typeface="Meiryo"/>
              </a:rPr>
              <a:t>高強度</a:t>
            </a:r>
          </a:p>
        </p:txBody>
      </p:sp>
      <p:sp>
        <p:nvSpPr>
          <p:cNvPr id="36" name="TextBox 35"/>
          <p:cNvSpPr txBox="1"/>
          <p:nvPr/>
        </p:nvSpPr>
        <p:spPr>
          <a:xfrm>
            <a:off x="8412480" y="1965960"/>
            <a:ext cx="3566160" cy="411480"/>
          </a:xfrm>
          <a:prstGeom prst="rect">
            <a:avLst/>
          </a:prstGeom>
          <a:noFill/>
        </p:spPr>
        <p:txBody>
          <a:bodyPr wrap="square">
            <a:spAutoFit/>
          </a:bodyPr>
          <a:lstStyle/>
          <a:p>
            <a:pPr algn="ctr"/>
            <a:r>
              <a:rPr sz="1300" b="0">
                <a:solidFill>
                  <a:srgbClr val="7F8C8D"/>
                </a:solidFill>
                <a:latin typeface="Meiryo"/>
              </a:rPr>
              <a:t>大きな衝撃</a:t>
            </a:r>
          </a:p>
        </p:txBody>
      </p:sp>
      <p:sp>
        <p:nvSpPr>
          <p:cNvPr id="37" name="Rectangle 36"/>
          <p:cNvSpPr/>
          <p:nvPr/>
        </p:nvSpPr>
        <p:spPr>
          <a:xfrm>
            <a:off x="8412480" y="2423160"/>
            <a:ext cx="3566160" cy="36576"/>
          </a:xfrm>
          <a:prstGeom prst="rect">
            <a:avLst/>
          </a:prstGeom>
          <a:solidFill>
            <a:srgbClr val="D6EA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458200" y="2560320"/>
            <a:ext cx="3474720" cy="685800"/>
          </a:xfrm>
          <a:prstGeom prst="rect">
            <a:avLst/>
          </a:prstGeom>
          <a:solidFill>
            <a:srgbClr val="D6EA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549640" y="2651760"/>
            <a:ext cx="3291840" cy="530352"/>
          </a:xfrm>
          <a:prstGeom prst="rect">
            <a:avLst/>
          </a:prstGeom>
          <a:noFill/>
        </p:spPr>
        <p:txBody>
          <a:bodyPr wrap="square">
            <a:spAutoFit/>
          </a:bodyPr>
          <a:lstStyle/>
          <a:p>
            <a:pPr algn="l"/>
            <a:r>
              <a:rPr sz="1300" b="0">
                <a:solidFill>
                  <a:srgbClr val="1A3A5C"/>
                </a:solidFill>
                <a:latin typeface="Meiryo"/>
              </a:rPr>
              <a:t>● デプスジャンプ</a:t>
            </a:r>
          </a:p>
        </p:txBody>
      </p:sp>
      <p:sp>
        <p:nvSpPr>
          <p:cNvPr id="40" name="Rectangle 39"/>
          <p:cNvSpPr/>
          <p:nvPr/>
        </p:nvSpPr>
        <p:spPr>
          <a:xfrm>
            <a:off x="8458200" y="3429000"/>
            <a:ext cx="3474720" cy="685800"/>
          </a:xfrm>
          <a:prstGeom prst="rect">
            <a:avLst/>
          </a:prstGeom>
          <a:solidFill>
            <a:srgbClr val="EBF5F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549640" y="3520440"/>
            <a:ext cx="3291840" cy="530352"/>
          </a:xfrm>
          <a:prstGeom prst="rect">
            <a:avLst/>
          </a:prstGeom>
          <a:noFill/>
        </p:spPr>
        <p:txBody>
          <a:bodyPr wrap="square">
            <a:spAutoFit/>
          </a:bodyPr>
          <a:lstStyle/>
          <a:p>
            <a:pPr algn="l"/>
            <a:r>
              <a:rPr sz="1300" b="0">
                <a:solidFill>
                  <a:srgbClr val="1A3A5C"/>
                </a:solidFill>
                <a:latin typeface="Meiryo"/>
              </a:rPr>
              <a:t>● 片脚の垂直跳び・ホップ</a:t>
            </a:r>
          </a:p>
        </p:txBody>
      </p:sp>
      <p:sp>
        <p:nvSpPr>
          <p:cNvPr id="42" name="Rectangle 41"/>
          <p:cNvSpPr/>
          <p:nvPr/>
        </p:nvSpPr>
        <p:spPr>
          <a:xfrm>
            <a:off x="8458200" y="4297679"/>
            <a:ext cx="3474720" cy="685800"/>
          </a:xfrm>
          <a:prstGeom prst="rect">
            <a:avLst/>
          </a:prstGeom>
          <a:solidFill>
            <a:srgbClr val="D6EA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549640" y="4389119"/>
            <a:ext cx="3291840" cy="530352"/>
          </a:xfrm>
          <a:prstGeom prst="rect">
            <a:avLst/>
          </a:prstGeom>
          <a:noFill/>
        </p:spPr>
        <p:txBody>
          <a:bodyPr wrap="square">
            <a:spAutoFit/>
          </a:bodyPr>
          <a:lstStyle/>
          <a:p>
            <a:pPr algn="l"/>
            <a:r>
              <a:rPr sz="1300" b="0">
                <a:solidFill>
                  <a:srgbClr val="1A3A5C"/>
                </a:solidFill>
                <a:latin typeface="Meiryo"/>
              </a:rPr>
              <a:t>● ジグザグホップ</a:t>
            </a:r>
          </a:p>
        </p:txBody>
      </p:sp>
      <p:sp>
        <p:nvSpPr>
          <p:cNvPr id="44" name="Rectangle 43"/>
          <p:cNvSpPr/>
          <p:nvPr/>
        </p:nvSpPr>
        <p:spPr>
          <a:xfrm>
            <a:off x="8458200" y="5166359"/>
            <a:ext cx="3474720" cy="685800"/>
          </a:xfrm>
          <a:prstGeom prst="rect">
            <a:avLst/>
          </a:prstGeom>
          <a:solidFill>
            <a:srgbClr val="EBF5F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549640" y="5257799"/>
            <a:ext cx="3291840" cy="530352"/>
          </a:xfrm>
          <a:prstGeom prst="rect">
            <a:avLst/>
          </a:prstGeom>
          <a:noFill/>
        </p:spPr>
        <p:txBody>
          <a:bodyPr wrap="square">
            <a:spAutoFit/>
          </a:bodyPr>
          <a:lstStyle/>
          <a:p>
            <a:pPr algn="l"/>
            <a:r>
              <a:rPr sz="1300" b="0">
                <a:solidFill>
                  <a:srgbClr val="1A3A5C"/>
                </a:solidFill>
                <a:latin typeface="Meiryo"/>
              </a:rPr>
              <a:t>● パイクジャンプ</a:t>
            </a:r>
          </a:p>
        </p:txBody>
      </p:sp>
      <p:sp>
        <p:nvSpPr>
          <p:cNvPr id="46" name="Rectangle 45"/>
          <p:cNvSpPr/>
          <p:nvPr/>
        </p:nvSpPr>
        <p:spPr>
          <a:xfrm>
            <a:off x="274320" y="6583680"/>
            <a:ext cx="11640312" cy="182880"/>
          </a:xfrm>
          <a:prstGeom prst="rect">
            <a:avLst/>
          </a:prstGeom>
          <a:solidFill>
            <a:srgbClr val="D6EA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6601968"/>
            <a:ext cx="11247120" cy="182880"/>
          </a:xfrm>
          <a:prstGeom prst="rect">
            <a:avLst/>
          </a:prstGeom>
          <a:noFill/>
        </p:spPr>
        <p:txBody>
          <a:bodyPr wrap="square">
            <a:spAutoFit/>
          </a:bodyPr>
          <a:lstStyle/>
          <a:p>
            <a:pPr algn="l"/>
            <a:r>
              <a:rPr sz="1100" b="0">
                <a:solidFill>
                  <a:srgbClr val="1F5C8B"/>
                </a:solidFill>
                <a:latin typeface="Meiryo"/>
              </a:rPr>
              <a:t>強度に影響する要因：接地点（片脚＞両脚）/ スピード / ドリルの高さ / 体重　※強度を上げたら量を減らす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88720"/>
          </a:xfrm>
          <a:prstGeom prst="rect">
            <a:avLst/>
          </a:prstGeom>
          <a:solidFill>
            <a:srgbClr val="1A3A5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720"/>
            <a:ext cx="12188952" cy="54864"/>
          </a:xfrm>
          <a:prstGeom prst="rect">
            <a:avLst/>
          </a:prstGeom>
          <a:solidFill>
            <a:srgbClr val="2E86C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09728"/>
            <a:ext cx="11430000" cy="777240"/>
          </a:xfrm>
          <a:prstGeom prst="rect">
            <a:avLst/>
          </a:prstGeom>
          <a:noFill/>
        </p:spPr>
        <p:txBody>
          <a:bodyPr wrap="square">
            <a:spAutoFit/>
          </a:bodyPr>
          <a:lstStyle/>
          <a:p>
            <a:pPr algn="l"/>
            <a:r>
              <a:rPr sz="2800" b="1">
                <a:solidFill>
                  <a:srgbClr val="FFFFFF"/>
                </a:solidFill>
                <a:latin typeface="Meiryo"/>
              </a:rPr>
              <a:t>プログラム実施のステップ</a:t>
            </a:r>
          </a:p>
        </p:txBody>
      </p:sp>
      <p:sp>
        <p:nvSpPr>
          <p:cNvPr id="6" name="TextBox 5"/>
          <p:cNvSpPr txBox="1"/>
          <p:nvPr/>
        </p:nvSpPr>
        <p:spPr>
          <a:xfrm>
            <a:off x="365760" y="804672"/>
            <a:ext cx="10972800" cy="365760"/>
          </a:xfrm>
          <a:prstGeom prst="rect">
            <a:avLst/>
          </a:prstGeom>
          <a:noFill/>
        </p:spPr>
        <p:txBody>
          <a:bodyPr wrap="square">
            <a:spAutoFit/>
          </a:bodyPr>
          <a:lstStyle/>
          <a:p>
            <a:pPr algn="l"/>
            <a:r>
              <a:rPr sz="1400" b="0">
                <a:solidFill>
                  <a:srgbClr val="AED6F1"/>
                </a:solidFill>
                <a:latin typeface="Meiryo"/>
              </a:rPr>
              <a:t>5 Steps for Implementation</a:t>
            </a:r>
          </a:p>
        </p:txBody>
      </p:sp>
      <p:sp>
        <p:nvSpPr>
          <p:cNvPr id="7" name="Rectangle 6"/>
          <p:cNvSpPr/>
          <p:nvPr/>
        </p:nvSpPr>
        <p:spPr>
          <a:xfrm>
            <a:off x="274320" y="1417320"/>
            <a:ext cx="1371600" cy="868680"/>
          </a:xfrm>
          <a:prstGeom prst="rect">
            <a:avLst/>
          </a:prstGeom>
          <a:solidFill>
            <a:srgbClr val="2E86C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554480"/>
            <a:ext cx="1280160" cy="594360"/>
          </a:xfrm>
          <a:prstGeom prst="rect">
            <a:avLst/>
          </a:prstGeom>
          <a:noFill/>
        </p:spPr>
        <p:txBody>
          <a:bodyPr wrap="square">
            <a:spAutoFit/>
          </a:bodyPr>
          <a:lstStyle/>
          <a:p>
            <a:pPr algn="ctr"/>
            <a:r>
              <a:rPr sz="1500" b="1">
                <a:solidFill>
                  <a:srgbClr val="FFFFFF"/>
                </a:solidFill>
                <a:latin typeface="Meiryo"/>
              </a:rPr>
              <a:t>Step 1</a:t>
            </a:r>
          </a:p>
        </p:txBody>
      </p:sp>
      <p:sp>
        <p:nvSpPr>
          <p:cNvPr id="9" name="Rectangle 8"/>
          <p:cNvSpPr/>
          <p:nvPr/>
        </p:nvSpPr>
        <p:spPr>
          <a:xfrm>
            <a:off x="1691640" y="1417320"/>
            <a:ext cx="10222992" cy="8686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28800" y="1463040"/>
            <a:ext cx="4114800" cy="411480"/>
          </a:xfrm>
          <a:prstGeom prst="rect">
            <a:avLst/>
          </a:prstGeom>
          <a:noFill/>
        </p:spPr>
        <p:txBody>
          <a:bodyPr wrap="square">
            <a:spAutoFit/>
          </a:bodyPr>
          <a:lstStyle/>
          <a:p>
            <a:pPr algn="l"/>
            <a:r>
              <a:rPr sz="1500" b="1">
                <a:solidFill>
                  <a:srgbClr val="1A3A5C"/>
                </a:solidFill>
                <a:latin typeface="Meiryo"/>
              </a:rPr>
              <a:t>選手の評価</a:t>
            </a:r>
          </a:p>
        </p:txBody>
      </p:sp>
      <p:sp>
        <p:nvSpPr>
          <p:cNvPr id="11" name="TextBox 10"/>
          <p:cNvSpPr txBox="1"/>
          <p:nvPr/>
        </p:nvSpPr>
        <p:spPr>
          <a:xfrm>
            <a:off x="1828800" y="1856232"/>
            <a:ext cx="9875520" cy="384048"/>
          </a:xfrm>
          <a:prstGeom prst="rect">
            <a:avLst/>
          </a:prstGeom>
          <a:noFill/>
        </p:spPr>
        <p:txBody>
          <a:bodyPr wrap="square">
            <a:spAutoFit/>
          </a:bodyPr>
          <a:lstStyle/>
          <a:p>
            <a:pPr algn="l"/>
            <a:r>
              <a:rPr sz="1300" b="0">
                <a:solidFill>
                  <a:srgbClr val="7F8C8D"/>
                </a:solidFill>
                <a:latin typeface="Meiryo"/>
              </a:rPr>
              <a:t>競技歴・トレーニング歴を含めて選手を評価する</a:t>
            </a:r>
          </a:p>
        </p:txBody>
      </p:sp>
      <p:sp>
        <p:nvSpPr>
          <p:cNvPr id="12" name="Rectangle 11"/>
          <p:cNvSpPr/>
          <p:nvPr/>
        </p:nvSpPr>
        <p:spPr>
          <a:xfrm>
            <a:off x="274320" y="2441448"/>
            <a:ext cx="1371600" cy="868680"/>
          </a:xfrm>
          <a:prstGeom prst="rect">
            <a:avLst/>
          </a:prstGeom>
          <a:solidFill>
            <a:srgbClr val="5DADE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2578608"/>
            <a:ext cx="1280160" cy="594360"/>
          </a:xfrm>
          <a:prstGeom prst="rect">
            <a:avLst/>
          </a:prstGeom>
          <a:noFill/>
        </p:spPr>
        <p:txBody>
          <a:bodyPr wrap="square">
            <a:spAutoFit/>
          </a:bodyPr>
          <a:lstStyle/>
          <a:p>
            <a:pPr algn="ctr"/>
            <a:r>
              <a:rPr sz="1500" b="1">
                <a:solidFill>
                  <a:srgbClr val="FFFFFF"/>
                </a:solidFill>
                <a:latin typeface="Meiryo"/>
              </a:rPr>
              <a:t>Step 2</a:t>
            </a:r>
          </a:p>
        </p:txBody>
      </p:sp>
      <p:sp>
        <p:nvSpPr>
          <p:cNvPr id="14" name="Rectangle 13"/>
          <p:cNvSpPr/>
          <p:nvPr/>
        </p:nvSpPr>
        <p:spPr>
          <a:xfrm>
            <a:off x="1691640" y="2441448"/>
            <a:ext cx="10222992" cy="8686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828800" y="2487168"/>
            <a:ext cx="4114800" cy="411480"/>
          </a:xfrm>
          <a:prstGeom prst="rect">
            <a:avLst/>
          </a:prstGeom>
          <a:noFill/>
        </p:spPr>
        <p:txBody>
          <a:bodyPr wrap="square">
            <a:spAutoFit/>
          </a:bodyPr>
          <a:lstStyle/>
          <a:p>
            <a:pPr algn="l"/>
            <a:r>
              <a:rPr sz="1500" b="1">
                <a:solidFill>
                  <a:srgbClr val="1A3A5C"/>
                </a:solidFill>
                <a:latin typeface="Meiryo"/>
              </a:rPr>
              <a:t>目標の設定</a:t>
            </a:r>
          </a:p>
        </p:txBody>
      </p:sp>
      <p:sp>
        <p:nvSpPr>
          <p:cNvPr id="16" name="TextBox 15"/>
          <p:cNvSpPr txBox="1"/>
          <p:nvPr/>
        </p:nvSpPr>
        <p:spPr>
          <a:xfrm>
            <a:off x="1828800" y="2880360"/>
            <a:ext cx="9875520" cy="384048"/>
          </a:xfrm>
          <a:prstGeom prst="rect">
            <a:avLst/>
          </a:prstGeom>
          <a:noFill/>
        </p:spPr>
        <p:txBody>
          <a:bodyPr wrap="square">
            <a:spAutoFit/>
          </a:bodyPr>
          <a:lstStyle/>
          <a:p>
            <a:pPr algn="l"/>
            <a:r>
              <a:rPr sz="1300" b="0">
                <a:solidFill>
                  <a:srgbClr val="7F8C8D"/>
                </a:solidFill>
                <a:latin typeface="Meiryo"/>
              </a:rPr>
              <a:t>競技・ポジション・選手個人に合った目標を決める</a:t>
            </a:r>
          </a:p>
        </p:txBody>
      </p:sp>
      <p:sp>
        <p:nvSpPr>
          <p:cNvPr id="17" name="Rectangle 16"/>
          <p:cNvSpPr/>
          <p:nvPr/>
        </p:nvSpPr>
        <p:spPr>
          <a:xfrm>
            <a:off x="274320" y="3465576"/>
            <a:ext cx="1371600" cy="868680"/>
          </a:xfrm>
          <a:prstGeom prst="rect">
            <a:avLst/>
          </a:prstGeom>
          <a:solidFill>
            <a:srgbClr val="27AE6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0040" y="3602736"/>
            <a:ext cx="1280160" cy="594360"/>
          </a:xfrm>
          <a:prstGeom prst="rect">
            <a:avLst/>
          </a:prstGeom>
          <a:noFill/>
        </p:spPr>
        <p:txBody>
          <a:bodyPr wrap="square">
            <a:spAutoFit/>
          </a:bodyPr>
          <a:lstStyle/>
          <a:p>
            <a:pPr algn="ctr"/>
            <a:r>
              <a:rPr sz="1500" b="1">
                <a:solidFill>
                  <a:srgbClr val="FFFFFF"/>
                </a:solidFill>
                <a:latin typeface="Meiryo"/>
              </a:rPr>
              <a:t>Step 3</a:t>
            </a:r>
          </a:p>
        </p:txBody>
      </p:sp>
      <p:sp>
        <p:nvSpPr>
          <p:cNvPr id="19" name="Rectangle 18"/>
          <p:cNvSpPr/>
          <p:nvPr/>
        </p:nvSpPr>
        <p:spPr>
          <a:xfrm>
            <a:off x="1691640" y="3465576"/>
            <a:ext cx="10222992" cy="8686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828800" y="3511296"/>
            <a:ext cx="4114800" cy="411480"/>
          </a:xfrm>
          <a:prstGeom prst="rect">
            <a:avLst/>
          </a:prstGeom>
          <a:noFill/>
        </p:spPr>
        <p:txBody>
          <a:bodyPr wrap="square">
            <a:spAutoFit/>
          </a:bodyPr>
          <a:lstStyle/>
          <a:p>
            <a:pPr algn="l"/>
            <a:r>
              <a:rPr sz="1500" b="1">
                <a:solidFill>
                  <a:srgbClr val="1A3A5C"/>
                </a:solidFill>
                <a:latin typeface="Meiryo"/>
              </a:rPr>
              <a:t>プログラム変数の設定</a:t>
            </a:r>
          </a:p>
        </p:txBody>
      </p:sp>
      <p:sp>
        <p:nvSpPr>
          <p:cNvPr id="21" name="TextBox 20"/>
          <p:cNvSpPr txBox="1"/>
          <p:nvPr/>
        </p:nvSpPr>
        <p:spPr>
          <a:xfrm>
            <a:off x="1828800" y="3904487"/>
            <a:ext cx="9875520" cy="384048"/>
          </a:xfrm>
          <a:prstGeom prst="rect">
            <a:avLst/>
          </a:prstGeom>
          <a:noFill/>
        </p:spPr>
        <p:txBody>
          <a:bodyPr wrap="square">
            <a:spAutoFit/>
          </a:bodyPr>
          <a:lstStyle/>
          <a:p>
            <a:pPr algn="l"/>
            <a:r>
              <a:rPr sz="1300" b="0">
                <a:solidFill>
                  <a:srgbClr val="7F8C8D"/>
                </a:solidFill>
                <a:latin typeface="Meiryo"/>
              </a:rPr>
              <a:t>強度・頻度・回復・量・期間を設定する</a:t>
            </a:r>
          </a:p>
        </p:txBody>
      </p:sp>
      <p:sp>
        <p:nvSpPr>
          <p:cNvPr id="22" name="Rectangle 21"/>
          <p:cNvSpPr/>
          <p:nvPr/>
        </p:nvSpPr>
        <p:spPr>
          <a:xfrm>
            <a:off x="274320" y="4489704"/>
            <a:ext cx="1371600" cy="868680"/>
          </a:xfrm>
          <a:prstGeom prst="rect">
            <a:avLst/>
          </a:prstGeom>
          <a:solidFill>
            <a:srgbClr val="F39C1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0040" y="4626864"/>
            <a:ext cx="1280160" cy="594360"/>
          </a:xfrm>
          <a:prstGeom prst="rect">
            <a:avLst/>
          </a:prstGeom>
          <a:noFill/>
        </p:spPr>
        <p:txBody>
          <a:bodyPr wrap="square">
            <a:spAutoFit/>
          </a:bodyPr>
          <a:lstStyle/>
          <a:p>
            <a:pPr algn="ctr"/>
            <a:r>
              <a:rPr sz="1500" b="1">
                <a:solidFill>
                  <a:srgbClr val="FFFFFF"/>
                </a:solidFill>
                <a:latin typeface="Meiryo"/>
              </a:rPr>
              <a:t>Step 4</a:t>
            </a:r>
          </a:p>
        </p:txBody>
      </p:sp>
      <p:sp>
        <p:nvSpPr>
          <p:cNvPr id="24" name="Rectangle 23"/>
          <p:cNvSpPr/>
          <p:nvPr/>
        </p:nvSpPr>
        <p:spPr>
          <a:xfrm>
            <a:off x="1691640" y="4489704"/>
            <a:ext cx="10222992" cy="8686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828800" y="4535424"/>
            <a:ext cx="4114800" cy="411480"/>
          </a:xfrm>
          <a:prstGeom prst="rect">
            <a:avLst/>
          </a:prstGeom>
          <a:noFill/>
        </p:spPr>
        <p:txBody>
          <a:bodyPr wrap="square">
            <a:spAutoFit/>
          </a:bodyPr>
          <a:lstStyle/>
          <a:p>
            <a:pPr algn="l"/>
            <a:r>
              <a:rPr sz="1500" b="1">
                <a:solidFill>
                  <a:srgbClr val="1A3A5C"/>
                </a:solidFill>
                <a:latin typeface="Meiryo"/>
              </a:rPr>
              <a:t>テクニックの指導</a:t>
            </a:r>
          </a:p>
        </p:txBody>
      </p:sp>
      <p:sp>
        <p:nvSpPr>
          <p:cNvPr id="26" name="TextBox 25"/>
          <p:cNvSpPr txBox="1"/>
          <p:nvPr/>
        </p:nvSpPr>
        <p:spPr>
          <a:xfrm>
            <a:off x="1828800" y="4928616"/>
            <a:ext cx="9875520" cy="384048"/>
          </a:xfrm>
          <a:prstGeom prst="rect">
            <a:avLst/>
          </a:prstGeom>
          <a:noFill/>
        </p:spPr>
        <p:txBody>
          <a:bodyPr wrap="square">
            <a:spAutoFit/>
          </a:bodyPr>
          <a:lstStyle/>
          <a:p>
            <a:pPr algn="l"/>
            <a:r>
              <a:rPr sz="1300" b="0">
                <a:solidFill>
                  <a:srgbClr val="7F8C8D"/>
                </a:solidFill>
                <a:latin typeface="Meiryo"/>
              </a:rPr>
              <a:t>ジャンプ・着地・投てきの正しいテクニックを指導する</a:t>
            </a:r>
          </a:p>
        </p:txBody>
      </p:sp>
      <p:sp>
        <p:nvSpPr>
          <p:cNvPr id="27" name="Rectangle 26"/>
          <p:cNvSpPr/>
          <p:nvPr/>
        </p:nvSpPr>
        <p:spPr>
          <a:xfrm>
            <a:off x="274320" y="5513832"/>
            <a:ext cx="1371600" cy="868680"/>
          </a:xfrm>
          <a:prstGeom prst="rect">
            <a:avLst/>
          </a:prstGeom>
          <a:solidFill>
            <a:srgbClr val="E74C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0040" y="5650992"/>
            <a:ext cx="1280160" cy="594360"/>
          </a:xfrm>
          <a:prstGeom prst="rect">
            <a:avLst/>
          </a:prstGeom>
          <a:noFill/>
        </p:spPr>
        <p:txBody>
          <a:bodyPr wrap="square">
            <a:spAutoFit/>
          </a:bodyPr>
          <a:lstStyle/>
          <a:p>
            <a:pPr algn="ctr"/>
            <a:r>
              <a:rPr sz="1500" b="1">
                <a:solidFill>
                  <a:srgbClr val="FFFFFF"/>
                </a:solidFill>
                <a:latin typeface="Meiryo"/>
              </a:rPr>
              <a:t>Step 5</a:t>
            </a:r>
          </a:p>
        </p:txBody>
      </p:sp>
      <p:sp>
        <p:nvSpPr>
          <p:cNvPr id="29" name="Rectangle 28"/>
          <p:cNvSpPr/>
          <p:nvPr/>
        </p:nvSpPr>
        <p:spPr>
          <a:xfrm>
            <a:off x="1691640" y="5513832"/>
            <a:ext cx="10222992" cy="8686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828800" y="5559552"/>
            <a:ext cx="4114800" cy="411480"/>
          </a:xfrm>
          <a:prstGeom prst="rect">
            <a:avLst/>
          </a:prstGeom>
          <a:noFill/>
        </p:spPr>
        <p:txBody>
          <a:bodyPr wrap="square">
            <a:spAutoFit/>
          </a:bodyPr>
          <a:lstStyle/>
          <a:p>
            <a:pPr algn="l"/>
            <a:r>
              <a:rPr sz="1500" b="1">
                <a:solidFill>
                  <a:srgbClr val="1A3A5C"/>
                </a:solidFill>
                <a:latin typeface="Meiryo"/>
              </a:rPr>
              <a:t>適切に進める</a:t>
            </a:r>
          </a:p>
        </p:txBody>
      </p:sp>
      <p:sp>
        <p:nvSpPr>
          <p:cNvPr id="31" name="TextBox 30"/>
          <p:cNvSpPr txBox="1"/>
          <p:nvPr/>
        </p:nvSpPr>
        <p:spPr>
          <a:xfrm>
            <a:off x="1828800" y="5952744"/>
            <a:ext cx="9875520" cy="384048"/>
          </a:xfrm>
          <a:prstGeom prst="rect">
            <a:avLst/>
          </a:prstGeom>
          <a:noFill/>
        </p:spPr>
        <p:txBody>
          <a:bodyPr wrap="square">
            <a:spAutoFit/>
          </a:bodyPr>
          <a:lstStyle/>
          <a:p>
            <a:pPr algn="l"/>
            <a:r>
              <a:rPr sz="1300" b="0">
                <a:solidFill>
                  <a:srgbClr val="7F8C8D"/>
                </a:solidFill>
                <a:latin typeface="Meiryo"/>
              </a:rPr>
              <a:t>プログラムを漸進的に進めていく</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88720"/>
          </a:xfrm>
          <a:prstGeom prst="rect">
            <a:avLst/>
          </a:prstGeom>
          <a:solidFill>
            <a:srgbClr val="1A3A5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720"/>
            <a:ext cx="12188952" cy="54864"/>
          </a:xfrm>
          <a:prstGeom prst="rect">
            <a:avLst/>
          </a:prstGeom>
          <a:solidFill>
            <a:srgbClr val="2E86C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09728"/>
            <a:ext cx="11430000" cy="777240"/>
          </a:xfrm>
          <a:prstGeom prst="rect">
            <a:avLst/>
          </a:prstGeom>
          <a:noFill/>
        </p:spPr>
        <p:txBody>
          <a:bodyPr wrap="square">
            <a:spAutoFit/>
          </a:bodyPr>
          <a:lstStyle/>
          <a:p>
            <a:pPr algn="l"/>
            <a:r>
              <a:rPr sz="2800" b="1">
                <a:solidFill>
                  <a:srgbClr val="FFFFFF"/>
                </a:solidFill>
                <a:latin typeface="Meiryo"/>
              </a:rPr>
              <a:t>ウォームアップドリル</a:t>
            </a:r>
          </a:p>
        </p:txBody>
      </p:sp>
      <p:sp>
        <p:nvSpPr>
          <p:cNvPr id="6" name="TextBox 5"/>
          <p:cNvSpPr txBox="1"/>
          <p:nvPr/>
        </p:nvSpPr>
        <p:spPr>
          <a:xfrm>
            <a:off x="365760" y="804672"/>
            <a:ext cx="10972800" cy="365760"/>
          </a:xfrm>
          <a:prstGeom prst="rect">
            <a:avLst/>
          </a:prstGeom>
          <a:noFill/>
        </p:spPr>
        <p:txBody>
          <a:bodyPr wrap="square">
            <a:spAutoFit/>
          </a:bodyPr>
          <a:lstStyle/>
          <a:p>
            <a:pPr algn="l"/>
            <a:r>
              <a:rPr sz="1400" b="0">
                <a:solidFill>
                  <a:srgbClr val="AED6F1"/>
                </a:solidFill>
                <a:latin typeface="Meiryo"/>
              </a:rPr>
              <a:t>Warm-Up Drills — Must Do Before Plyometrics</a:t>
            </a:r>
          </a:p>
        </p:txBody>
      </p:sp>
      <p:sp>
        <p:nvSpPr>
          <p:cNvPr id="7" name="Rectangle 6"/>
          <p:cNvSpPr/>
          <p:nvPr/>
        </p:nvSpPr>
        <p:spPr>
          <a:xfrm>
            <a:off x="274320" y="1463040"/>
            <a:ext cx="3657600" cy="237744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463040"/>
            <a:ext cx="3657600" cy="457200"/>
          </a:xfrm>
          <a:prstGeom prst="rect">
            <a:avLst/>
          </a:prstGeom>
          <a:solidFill>
            <a:srgbClr val="2E86C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527048"/>
            <a:ext cx="3474720" cy="347472"/>
          </a:xfrm>
          <a:prstGeom prst="rect">
            <a:avLst/>
          </a:prstGeom>
          <a:noFill/>
        </p:spPr>
        <p:txBody>
          <a:bodyPr wrap="square">
            <a:spAutoFit/>
          </a:bodyPr>
          <a:lstStyle/>
          <a:p>
            <a:pPr algn="ctr"/>
            <a:r>
              <a:rPr sz="1600" b="1">
                <a:solidFill>
                  <a:srgbClr val="FFFFFF"/>
                </a:solidFill>
                <a:latin typeface="Meiryo"/>
              </a:rPr>
              <a:t>マーチング</a:t>
            </a:r>
          </a:p>
        </p:txBody>
      </p:sp>
      <p:sp>
        <p:nvSpPr>
          <p:cNvPr id="10" name="TextBox 9"/>
          <p:cNvSpPr txBox="1"/>
          <p:nvPr/>
        </p:nvSpPr>
        <p:spPr>
          <a:xfrm>
            <a:off x="411479" y="2057400"/>
            <a:ext cx="3383280" cy="1645920"/>
          </a:xfrm>
          <a:prstGeom prst="rect">
            <a:avLst/>
          </a:prstGeom>
          <a:noFill/>
        </p:spPr>
        <p:txBody>
          <a:bodyPr wrap="square">
            <a:spAutoFit/>
          </a:bodyPr>
          <a:lstStyle/>
          <a:p>
            <a:pPr algn="ctr"/>
            <a:r>
              <a:rPr sz="1400" b="0">
                <a:solidFill>
                  <a:srgbClr val="1A3A5C"/>
                </a:solidFill>
                <a:latin typeface="Meiryo"/>
              </a:rPr>
              <a:t>ランニング動作をまねる
姿勢と動作テクニックを強調</a:t>
            </a:r>
          </a:p>
        </p:txBody>
      </p:sp>
      <p:sp>
        <p:nvSpPr>
          <p:cNvPr id="11" name="Rectangle 10"/>
          <p:cNvSpPr/>
          <p:nvPr/>
        </p:nvSpPr>
        <p:spPr>
          <a:xfrm>
            <a:off x="4297680" y="1463040"/>
            <a:ext cx="3657600" cy="237744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97680" y="1463040"/>
            <a:ext cx="3657600" cy="457200"/>
          </a:xfrm>
          <a:prstGeom prst="rect">
            <a:avLst/>
          </a:prstGeom>
          <a:solidFill>
            <a:srgbClr val="5DADE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20" y="1527048"/>
            <a:ext cx="3474720" cy="347472"/>
          </a:xfrm>
          <a:prstGeom prst="rect">
            <a:avLst/>
          </a:prstGeom>
          <a:noFill/>
        </p:spPr>
        <p:txBody>
          <a:bodyPr wrap="square">
            <a:spAutoFit/>
          </a:bodyPr>
          <a:lstStyle/>
          <a:p>
            <a:pPr algn="ctr"/>
            <a:r>
              <a:rPr sz="1600" b="1">
                <a:solidFill>
                  <a:srgbClr val="FFFFFF"/>
                </a:solidFill>
                <a:latin typeface="Meiryo"/>
              </a:rPr>
              <a:t>ジョギング</a:t>
            </a:r>
          </a:p>
        </p:txBody>
      </p:sp>
      <p:sp>
        <p:nvSpPr>
          <p:cNvPr id="14" name="TextBox 13"/>
          <p:cNvSpPr txBox="1"/>
          <p:nvPr/>
        </p:nvSpPr>
        <p:spPr>
          <a:xfrm>
            <a:off x="4434840" y="2057400"/>
            <a:ext cx="3383280" cy="1645920"/>
          </a:xfrm>
          <a:prstGeom prst="rect">
            <a:avLst/>
          </a:prstGeom>
          <a:noFill/>
        </p:spPr>
        <p:txBody>
          <a:bodyPr wrap="square">
            <a:spAutoFit/>
          </a:bodyPr>
          <a:lstStyle/>
          <a:p>
            <a:pPr algn="ctr"/>
            <a:r>
              <a:rPr sz="1400" b="0">
                <a:solidFill>
                  <a:srgbClr val="1A3A5C"/>
                </a:solidFill>
                <a:latin typeface="Meiryo"/>
              </a:rPr>
              <a:t>着地の衝撃への準備
つま先・ストレートレッグ
バットキック</a:t>
            </a:r>
          </a:p>
        </p:txBody>
      </p:sp>
      <p:sp>
        <p:nvSpPr>
          <p:cNvPr id="15" name="Rectangle 14"/>
          <p:cNvSpPr/>
          <p:nvPr/>
        </p:nvSpPr>
        <p:spPr>
          <a:xfrm>
            <a:off x="8321040" y="1463040"/>
            <a:ext cx="3657600" cy="237744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21040" y="1463040"/>
            <a:ext cx="3657600" cy="457200"/>
          </a:xfrm>
          <a:prstGeom prst="rect">
            <a:avLst/>
          </a:prstGeom>
          <a:solidFill>
            <a:srgbClr val="27AE6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1527048"/>
            <a:ext cx="3474720" cy="347472"/>
          </a:xfrm>
          <a:prstGeom prst="rect">
            <a:avLst/>
          </a:prstGeom>
          <a:noFill/>
        </p:spPr>
        <p:txBody>
          <a:bodyPr wrap="square">
            <a:spAutoFit/>
          </a:bodyPr>
          <a:lstStyle/>
          <a:p>
            <a:pPr algn="ctr"/>
            <a:r>
              <a:rPr sz="1600" b="1">
                <a:solidFill>
                  <a:srgbClr val="FFFFFF"/>
                </a:solidFill>
                <a:latin typeface="Meiryo"/>
              </a:rPr>
              <a:t>スキップ</a:t>
            </a:r>
          </a:p>
        </p:txBody>
      </p:sp>
      <p:sp>
        <p:nvSpPr>
          <p:cNvPr id="18" name="TextBox 17"/>
          <p:cNvSpPr txBox="1"/>
          <p:nvPr/>
        </p:nvSpPr>
        <p:spPr>
          <a:xfrm>
            <a:off x="8458200" y="2057400"/>
            <a:ext cx="3383280" cy="1645920"/>
          </a:xfrm>
          <a:prstGeom prst="rect">
            <a:avLst/>
          </a:prstGeom>
          <a:noFill/>
        </p:spPr>
        <p:txBody>
          <a:bodyPr wrap="square">
            <a:spAutoFit/>
          </a:bodyPr>
          <a:lstStyle/>
          <a:p>
            <a:pPr algn="ctr"/>
            <a:r>
              <a:rPr sz="1400" b="0">
                <a:solidFill>
                  <a:srgbClr val="1A3A5C"/>
                </a:solidFill>
                <a:latin typeface="Meiryo"/>
              </a:rPr>
              <a:t>腕と脚の交互の動き
素早い離地と着地</a:t>
            </a:r>
          </a:p>
        </p:txBody>
      </p:sp>
      <p:sp>
        <p:nvSpPr>
          <p:cNvPr id="19" name="Rectangle 18"/>
          <p:cNvSpPr/>
          <p:nvPr/>
        </p:nvSpPr>
        <p:spPr>
          <a:xfrm>
            <a:off x="2286000" y="4114800"/>
            <a:ext cx="3657600" cy="237744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286000" y="4114800"/>
            <a:ext cx="3657600" cy="457200"/>
          </a:xfrm>
          <a:prstGeom prst="rect">
            <a:avLst/>
          </a:prstGeom>
          <a:solidFill>
            <a:srgbClr val="F39C1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377440" y="4178808"/>
            <a:ext cx="3474720" cy="347472"/>
          </a:xfrm>
          <a:prstGeom prst="rect">
            <a:avLst/>
          </a:prstGeom>
          <a:noFill/>
        </p:spPr>
        <p:txBody>
          <a:bodyPr wrap="square">
            <a:spAutoFit/>
          </a:bodyPr>
          <a:lstStyle/>
          <a:p>
            <a:pPr algn="ctr"/>
            <a:r>
              <a:rPr sz="1600" b="1">
                <a:solidFill>
                  <a:srgbClr val="FFFFFF"/>
                </a:solidFill>
                <a:latin typeface="Meiryo"/>
              </a:rPr>
              <a:t>フットワーク</a:t>
            </a:r>
          </a:p>
        </p:txBody>
      </p:sp>
      <p:sp>
        <p:nvSpPr>
          <p:cNvPr id="22" name="TextBox 21"/>
          <p:cNvSpPr txBox="1"/>
          <p:nvPr/>
        </p:nvSpPr>
        <p:spPr>
          <a:xfrm>
            <a:off x="2423160" y="4709160"/>
            <a:ext cx="3383280" cy="1645920"/>
          </a:xfrm>
          <a:prstGeom prst="rect">
            <a:avLst/>
          </a:prstGeom>
          <a:noFill/>
        </p:spPr>
        <p:txBody>
          <a:bodyPr wrap="square">
            <a:spAutoFit/>
          </a:bodyPr>
          <a:lstStyle/>
          <a:p>
            <a:pPr algn="ctr"/>
            <a:r>
              <a:rPr sz="1400" b="0">
                <a:solidFill>
                  <a:srgbClr val="1A3A5C"/>
                </a:solidFill>
                <a:latin typeface="Meiryo"/>
              </a:rPr>
              <a:t>方向転換の準備
シャトル・シャッフルなど</a:t>
            </a:r>
          </a:p>
        </p:txBody>
      </p:sp>
      <p:sp>
        <p:nvSpPr>
          <p:cNvPr id="23" name="Rectangle 22"/>
          <p:cNvSpPr/>
          <p:nvPr/>
        </p:nvSpPr>
        <p:spPr>
          <a:xfrm>
            <a:off x="6309360" y="4114800"/>
            <a:ext cx="3657600" cy="237744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309360" y="4114800"/>
            <a:ext cx="3657600" cy="457200"/>
          </a:xfrm>
          <a:prstGeom prst="rect">
            <a:avLst/>
          </a:prstGeom>
          <a:solidFill>
            <a:srgbClr val="E67E2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4178808"/>
            <a:ext cx="3474720" cy="347472"/>
          </a:xfrm>
          <a:prstGeom prst="rect">
            <a:avLst/>
          </a:prstGeom>
          <a:noFill/>
        </p:spPr>
        <p:txBody>
          <a:bodyPr wrap="square">
            <a:spAutoFit/>
          </a:bodyPr>
          <a:lstStyle/>
          <a:p>
            <a:pPr algn="ctr"/>
            <a:r>
              <a:rPr sz="1600" b="1">
                <a:solidFill>
                  <a:srgbClr val="FFFFFF"/>
                </a:solidFill>
                <a:latin typeface="Meiryo"/>
              </a:rPr>
              <a:t>ランジ</a:t>
            </a:r>
          </a:p>
        </p:txBody>
      </p:sp>
      <p:sp>
        <p:nvSpPr>
          <p:cNvPr id="26" name="TextBox 25"/>
          <p:cNvSpPr txBox="1"/>
          <p:nvPr/>
        </p:nvSpPr>
        <p:spPr>
          <a:xfrm>
            <a:off x="6446520" y="4709160"/>
            <a:ext cx="3383280" cy="1645920"/>
          </a:xfrm>
          <a:prstGeom prst="rect">
            <a:avLst/>
          </a:prstGeom>
          <a:noFill/>
        </p:spPr>
        <p:txBody>
          <a:bodyPr wrap="square">
            <a:spAutoFit/>
          </a:bodyPr>
          <a:lstStyle/>
          <a:p>
            <a:pPr algn="ctr"/>
            <a:r>
              <a:rPr sz="1400" b="0">
                <a:solidFill>
                  <a:srgbClr val="1A3A5C"/>
                </a:solidFill>
                <a:latin typeface="Meiryo"/>
              </a:rPr>
              <a:t>フォワードステップが基本
前方・側方・後方にも</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88720"/>
          </a:xfrm>
          <a:prstGeom prst="rect">
            <a:avLst/>
          </a:prstGeom>
          <a:solidFill>
            <a:srgbClr val="1A3A5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720"/>
            <a:ext cx="12188952" cy="54864"/>
          </a:xfrm>
          <a:prstGeom prst="rect">
            <a:avLst/>
          </a:prstGeom>
          <a:solidFill>
            <a:srgbClr val="2E86C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09728"/>
            <a:ext cx="11430000" cy="777240"/>
          </a:xfrm>
          <a:prstGeom prst="rect">
            <a:avLst/>
          </a:prstGeom>
          <a:noFill/>
        </p:spPr>
        <p:txBody>
          <a:bodyPr wrap="square">
            <a:spAutoFit/>
          </a:bodyPr>
          <a:lstStyle/>
          <a:p>
            <a:pPr algn="l"/>
            <a:r>
              <a:rPr sz="2800" b="1">
                <a:solidFill>
                  <a:srgbClr val="FFFFFF"/>
                </a:solidFill>
                <a:latin typeface="Meiryo"/>
              </a:rPr>
              <a:t>下半身ドリル ①  その場ジャンプ</a:t>
            </a:r>
          </a:p>
        </p:txBody>
      </p:sp>
      <p:sp>
        <p:nvSpPr>
          <p:cNvPr id="6" name="TextBox 5"/>
          <p:cNvSpPr txBox="1"/>
          <p:nvPr/>
        </p:nvSpPr>
        <p:spPr>
          <a:xfrm>
            <a:off x="365760" y="804672"/>
            <a:ext cx="10972800" cy="365760"/>
          </a:xfrm>
          <a:prstGeom prst="rect">
            <a:avLst/>
          </a:prstGeom>
          <a:noFill/>
        </p:spPr>
        <p:txBody>
          <a:bodyPr wrap="square">
            <a:spAutoFit/>
          </a:bodyPr>
          <a:lstStyle/>
          <a:p>
            <a:pPr algn="l"/>
            <a:r>
              <a:rPr sz="1400" b="0">
                <a:solidFill>
                  <a:srgbClr val="AED6F1"/>
                </a:solidFill>
                <a:latin typeface="Meiryo"/>
              </a:rPr>
              <a:t>In-Place Jumps  |  強度：低〜高</a:t>
            </a:r>
          </a:p>
        </p:txBody>
      </p:sp>
      <p:sp>
        <p:nvSpPr>
          <p:cNvPr id="7" name="Rectangle 6"/>
          <p:cNvSpPr/>
          <p:nvPr/>
        </p:nvSpPr>
        <p:spPr>
          <a:xfrm>
            <a:off x="228600" y="1417320"/>
            <a:ext cx="2240280" cy="23317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8600" y="1417320"/>
            <a:ext cx="2240280" cy="365760"/>
          </a:xfrm>
          <a:prstGeom prst="rect">
            <a:avLst/>
          </a:prstGeom>
          <a:solidFill>
            <a:srgbClr val="27AE6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1463040"/>
            <a:ext cx="640080" cy="292608"/>
          </a:xfrm>
          <a:prstGeom prst="rect">
            <a:avLst/>
          </a:prstGeom>
          <a:noFill/>
        </p:spPr>
        <p:txBody>
          <a:bodyPr wrap="square">
            <a:spAutoFit/>
          </a:bodyPr>
          <a:lstStyle/>
          <a:p>
            <a:pPr algn="l"/>
            <a:r>
              <a:rPr sz="1000" b="1">
                <a:solidFill>
                  <a:srgbClr val="FFFFFF"/>
                </a:solidFill>
                <a:latin typeface="Meiryo"/>
              </a:rPr>
              <a:t>18.1</a:t>
            </a:r>
          </a:p>
        </p:txBody>
      </p:sp>
      <p:sp>
        <p:nvSpPr>
          <p:cNvPr id="10" name="TextBox 9"/>
          <p:cNvSpPr txBox="1"/>
          <p:nvPr/>
        </p:nvSpPr>
        <p:spPr>
          <a:xfrm>
            <a:off x="1783080" y="1463040"/>
            <a:ext cx="640080" cy="292608"/>
          </a:xfrm>
          <a:prstGeom prst="rect">
            <a:avLst/>
          </a:prstGeom>
          <a:noFill/>
        </p:spPr>
        <p:txBody>
          <a:bodyPr wrap="square">
            <a:spAutoFit/>
          </a:bodyPr>
          <a:lstStyle/>
          <a:p>
            <a:pPr algn="r"/>
            <a:r>
              <a:rPr sz="1000" b="1">
                <a:solidFill>
                  <a:srgbClr val="FFFFFF"/>
                </a:solidFill>
                <a:latin typeface="Meiryo"/>
              </a:rPr>
              <a:t>低</a:t>
            </a:r>
          </a:p>
        </p:txBody>
      </p:sp>
      <p:sp>
        <p:nvSpPr>
          <p:cNvPr id="11" name="TextBox 10"/>
          <p:cNvSpPr txBox="1"/>
          <p:nvPr/>
        </p:nvSpPr>
        <p:spPr>
          <a:xfrm>
            <a:off x="320040" y="1856232"/>
            <a:ext cx="2057400" cy="685800"/>
          </a:xfrm>
          <a:prstGeom prst="rect">
            <a:avLst/>
          </a:prstGeom>
          <a:noFill/>
        </p:spPr>
        <p:txBody>
          <a:bodyPr wrap="square">
            <a:spAutoFit/>
          </a:bodyPr>
          <a:lstStyle/>
          <a:p>
            <a:pPr algn="ctr"/>
            <a:r>
              <a:rPr sz="1200" b="1">
                <a:solidFill>
                  <a:srgbClr val="1A3A5C"/>
                </a:solidFill>
                <a:latin typeface="Meiryo"/>
              </a:rPr>
              <a:t>トゥーフット
アンクルホップ</a:t>
            </a:r>
          </a:p>
        </p:txBody>
      </p:sp>
      <p:sp>
        <p:nvSpPr>
          <p:cNvPr id="12" name="TextBox 11"/>
          <p:cNvSpPr txBox="1"/>
          <p:nvPr/>
        </p:nvSpPr>
        <p:spPr>
          <a:xfrm>
            <a:off x="320040" y="2606040"/>
            <a:ext cx="2057400" cy="1005840"/>
          </a:xfrm>
          <a:prstGeom prst="rect">
            <a:avLst/>
          </a:prstGeom>
          <a:noFill/>
        </p:spPr>
        <p:txBody>
          <a:bodyPr wrap="square">
            <a:spAutoFit/>
          </a:bodyPr>
          <a:lstStyle/>
          <a:p>
            <a:pPr algn="ctr"/>
            <a:r>
              <a:rPr sz="1100" b="0">
                <a:solidFill>
                  <a:srgbClr val="7F8C8D"/>
                </a:solidFill>
                <a:latin typeface="Meiryo"/>
              </a:rPr>
              <a:t>主に足関節で
連続して跳ぶ</a:t>
            </a:r>
          </a:p>
        </p:txBody>
      </p:sp>
      <p:sp>
        <p:nvSpPr>
          <p:cNvPr id="13" name="Rectangle 12"/>
          <p:cNvSpPr/>
          <p:nvPr/>
        </p:nvSpPr>
        <p:spPr>
          <a:xfrm>
            <a:off x="2624328" y="1417320"/>
            <a:ext cx="2240280" cy="23317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24328" y="1417320"/>
            <a:ext cx="2240280" cy="365760"/>
          </a:xfrm>
          <a:prstGeom prst="rect">
            <a:avLst/>
          </a:prstGeom>
          <a:solidFill>
            <a:srgbClr val="F39C1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70048" y="1463040"/>
            <a:ext cx="640080" cy="292608"/>
          </a:xfrm>
          <a:prstGeom prst="rect">
            <a:avLst/>
          </a:prstGeom>
          <a:noFill/>
        </p:spPr>
        <p:txBody>
          <a:bodyPr wrap="square">
            <a:spAutoFit/>
          </a:bodyPr>
          <a:lstStyle/>
          <a:p>
            <a:pPr algn="l"/>
            <a:r>
              <a:rPr sz="1000" b="1">
                <a:solidFill>
                  <a:srgbClr val="FFFFFF"/>
                </a:solidFill>
                <a:latin typeface="Meiryo"/>
              </a:rPr>
              <a:t>18.2</a:t>
            </a:r>
          </a:p>
        </p:txBody>
      </p:sp>
      <p:sp>
        <p:nvSpPr>
          <p:cNvPr id="16" name="TextBox 15"/>
          <p:cNvSpPr txBox="1"/>
          <p:nvPr/>
        </p:nvSpPr>
        <p:spPr>
          <a:xfrm>
            <a:off x="4178808" y="1463040"/>
            <a:ext cx="640080" cy="292608"/>
          </a:xfrm>
          <a:prstGeom prst="rect">
            <a:avLst/>
          </a:prstGeom>
          <a:noFill/>
        </p:spPr>
        <p:txBody>
          <a:bodyPr wrap="square">
            <a:spAutoFit/>
          </a:bodyPr>
          <a:lstStyle/>
          <a:p>
            <a:pPr algn="r"/>
            <a:r>
              <a:rPr sz="1000" b="1">
                <a:solidFill>
                  <a:srgbClr val="FFFFFF"/>
                </a:solidFill>
                <a:latin typeface="Meiryo"/>
              </a:rPr>
              <a:t>中</a:t>
            </a:r>
          </a:p>
        </p:txBody>
      </p:sp>
      <p:sp>
        <p:nvSpPr>
          <p:cNvPr id="17" name="TextBox 16"/>
          <p:cNvSpPr txBox="1"/>
          <p:nvPr/>
        </p:nvSpPr>
        <p:spPr>
          <a:xfrm>
            <a:off x="2715768" y="1856232"/>
            <a:ext cx="2057400" cy="685800"/>
          </a:xfrm>
          <a:prstGeom prst="rect">
            <a:avLst/>
          </a:prstGeom>
          <a:noFill/>
        </p:spPr>
        <p:txBody>
          <a:bodyPr wrap="square">
            <a:spAutoFit/>
          </a:bodyPr>
          <a:lstStyle/>
          <a:p>
            <a:pPr algn="ctr"/>
            <a:r>
              <a:rPr sz="1200" b="1">
                <a:solidFill>
                  <a:srgbClr val="1A3A5C"/>
                </a:solidFill>
                <a:latin typeface="Meiryo"/>
              </a:rPr>
              <a:t>シングルレッグ
アンクルホップ</a:t>
            </a:r>
          </a:p>
        </p:txBody>
      </p:sp>
      <p:sp>
        <p:nvSpPr>
          <p:cNvPr id="18" name="TextBox 17"/>
          <p:cNvSpPr txBox="1"/>
          <p:nvPr/>
        </p:nvSpPr>
        <p:spPr>
          <a:xfrm>
            <a:off x="2715768" y="2606040"/>
            <a:ext cx="2057400" cy="1005840"/>
          </a:xfrm>
          <a:prstGeom prst="rect">
            <a:avLst/>
          </a:prstGeom>
          <a:noFill/>
        </p:spPr>
        <p:txBody>
          <a:bodyPr wrap="square">
            <a:spAutoFit/>
          </a:bodyPr>
          <a:lstStyle/>
          <a:p>
            <a:pPr algn="ctr"/>
            <a:r>
              <a:rPr sz="1100" b="0">
                <a:solidFill>
                  <a:srgbClr val="7F8C8D"/>
                </a:solidFill>
                <a:latin typeface="Meiryo"/>
              </a:rPr>
              <a:t>片脚で主に足関節を
使って連続ホップ</a:t>
            </a:r>
          </a:p>
        </p:txBody>
      </p:sp>
      <p:sp>
        <p:nvSpPr>
          <p:cNvPr id="19" name="Rectangle 18"/>
          <p:cNvSpPr/>
          <p:nvPr/>
        </p:nvSpPr>
        <p:spPr>
          <a:xfrm>
            <a:off x="5020056" y="1417320"/>
            <a:ext cx="2240280" cy="23317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0056" y="1417320"/>
            <a:ext cx="2240280" cy="365760"/>
          </a:xfrm>
          <a:prstGeom prst="rect">
            <a:avLst/>
          </a:prstGeom>
          <a:solidFill>
            <a:srgbClr val="27AE6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65776" y="1463040"/>
            <a:ext cx="640080" cy="292608"/>
          </a:xfrm>
          <a:prstGeom prst="rect">
            <a:avLst/>
          </a:prstGeom>
          <a:noFill/>
        </p:spPr>
        <p:txBody>
          <a:bodyPr wrap="square">
            <a:spAutoFit/>
          </a:bodyPr>
          <a:lstStyle/>
          <a:p>
            <a:pPr algn="l"/>
            <a:r>
              <a:rPr sz="1000" b="1">
                <a:solidFill>
                  <a:srgbClr val="FFFFFF"/>
                </a:solidFill>
                <a:latin typeface="Meiryo"/>
              </a:rPr>
              <a:t>18.3</a:t>
            </a:r>
          </a:p>
        </p:txBody>
      </p:sp>
      <p:sp>
        <p:nvSpPr>
          <p:cNvPr id="22" name="TextBox 21"/>
          <p:cNvSpPr txBox="1"/>
          <p:nvPr/>
        </p:nvSpPr>
        <p:spPr>
          <a:xfrm>
            <a:off x="6574536" y="1463040"/>
            <a:ext cx="640080" cy="292608"/>
          </a:xfrm>
          <a:prstGeom prst="rect">
            <a:avLst/>
          </a:prstGeom>
          <a:noFill/>
        </p:spPr>
        <p:txBody>
          <a:bodyPr wrap="square">
            <a:spAutoFit/>
          </a:bodyPr>
          <a:lstStyle/>
          <a:p>
            <a:pPr algn="r"/>
            <a:r>
              <a:rPr sz="1000" b="1">
                <a:solidFill>
                  <a:srgbClr val="FFFFFF"/>
                </a:solidFill>
                <a:latin typeface="Meiryo"/>
              </a:rPr>
              <a:t>低</a:t>
            </a:r>
          </a:p>
        </p:txBody>
      </p:sp>
      <p:sp>
        <p:nvSpPr>
          <p:cNvPr id="23" name="TextBox 22"/>
          <p:cNvSpPr txBox="1"/>
          <p:nvPr/>
        </p:nvSpPr>
        <p:spPr>
          <a:xfrm>
            <a:off x="5111496" y="1856232"/>
            <a:ext cx="2057400" cy="685800"/>
          </a:xfrm>
          <a:prstGeom prst="rect">
            <a:avLst/>
          </a:prstGeom>
          <a:noFill/>
        </p:spPr>
        <p:txBody>
          <a:bodyPr wrap="square">
            <a:spAutoFit/>
          </a:bodyPr>
          <a:lstStyle/>
          <a:p>
            <a:pPr algn="ctr"/>
            <a:r>
              <a:rPr sz="1200" b="1">
                <a:solidFill>
                  <a:srgbClr val="1A3A5C"/>
                </a:solidFill>
                <a:latin typeface="Meiryo"/>
              </a:rPr>
              <a:t>スクワット
ジャンプ</a:t>
            </a:r>
          </a:p>
        </p:txBody>
      </p:sp>
      <p:sp>
        <p:nvSpPr>
          <p:cNvPr id="24" name="TextBox 23"/>
          <p:cNvSpPr txBox="1"/>
          <p:nvPr/>
        </p:nvSpPr>
        <p:spPr>
          <a:xfrm>
            <a:off x="5111496" y="2606040"/>
            <a:ext cx="2057400" cy="1005840"/>
          </a:xfrm>
          <a:prstGeom prst="rect">
            <a:avLst/>
          </a:prstGeom>
          <a:noFill/>
        </p:spPr>
        <p:txBody>
          <a:bodyPr wrap="square">
            <a:spAutoFit/>
          </a:bodyPr>
          <a:lstStyle/>
          <a:p>
            <a:pPr algn="ctr"/>
            <a:r>
              <a:rPr sz="1100" b="0">
                <a:solidFill>
                  <a:srgbClr val="7F8C8D"/>
                </a:solidFill>
                <a:latin typeface="Meiryo"/>
              </a:rPr>
              <a:t>反動なしでスクワット
姿勢から高く跳ぶ</a:t>
            </a:r>
          </a:p>
        </p:txBody>
      </p:sp>
      <p:sp>
        <p:nvSpPr>
          <p:cNvPr id="25" name="Rectangle 24"/>
          <p:cNvSpPr/>
          <p:nvPr/>
        </p:nvSpPr>
        <p:spPr>
          <a:xfrm>
            <a:off x="7415783" y="1417320"/>
            <a:ext cx="2240280" cy="23317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15783" y="1417320"/>
            <a:ext cx="2240280" cy="365760"/>
          </a:xfrm>
          <a:prstGeom prst="rect">
            <a:avLst/>
          </a:prstGeom>
          <a:solidFill>
            <a:srgbClr val="27AE6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61504" y="1463040"/>
            <a:ext cx="640080" cy="292608"/>
          </a:xfrm>
          <a:prstGeom prst="rect">
            <a:avLst/>
          </a:prstGeom>
          <a:noFill/>
        </p:spPr>
        <p:txBody>
          <a:bodyPr wrap="square">
            <a:spAutoFit/>
          </a:bodyPr>
          <a:lstStyle/>
          <a:p>
            <a:pPr algn="l"/>
            <a:r>
              <a:rPr sz="1000" b="1">
                <a:solidFill>
                  <a:srgbClr val="FFFFFF"/>
                </a:solidFill>
                <a:latin typeface="Meiryo"/>
              </a:rPr>
              <a:t>18.4</a:t>
            </a:r>
          </a:p>
        </p:txBody>
      </p:sp>
      <p:sp>
        <p:nvSpPr>
          <p:cNvPr id="28" name="TextBox 27"/>
          <p:cNvSpPr txBox="1"/>
          <p:nvPr/>
        </p:nvSpPr>
        <p:spPr>
          <a:xfrm>
            <a:off x="8970263" y="1463040"/>
            <a:ext cx="640080" cy="292608"/>
          </a:xfrm>
          <a:prstGeom prst="rect">
            <a:avLst/>
          </a:prstGeom>
          <a:noFill/>
        </p:spPr>
        <p:txBody>
          <a:bodyPr wrap="square">
            <a:spAutoFit/>
          </a:bodyPr>
          <a:lstStyle/>
          <a:p>
            <a:pPr algn="r"/>
            <a:r>
              <a:rPr sz="1000" b="1">
                <a:solidFill>
                  <a:srgbClr val="FFFFFF"/>
                </a:solidFill>
                <a:latin typeface="Meiryo"/>
              </a:rPr>
              <a:t>低</a:t>
            </a:r>
          </a:p>
        </p:txBody>
      </p:sp>
      <p:sp>
        <p:nvSpPr>
          <p:cNvPr id="29" name="TextBox 28"/>
          <p:cNvSpPr txBox="1"/>
          <p:nvPr/>
        </p:nvSpPr>
        <p:spPr>
          <a:xfrm>
            <a:off x="7507223" y="1856232"/>
            <a:ext cx="2057400" cy="685800"/>
          </a:xfrm>
          <a:prstGeom prst="rect">
            <a:avLst/>
          </a:prstGeom>
          <a:noFill/>
        </p:spPr>
        <p:txBody>
          <a:bodyPr wrap="square">
            <a:spAutoFit/>
          </a:bodyPr>
          <a:lstStyle/>
          <a:p>
            <a:pPr algn="ctr"/>
            <a:r>
              <a:rPr sz="1200" b="1">
                <a:solidFill>
                  <a:srgbClr val="1A3A5C"/>
                </a:solidFill>
                <a:latin typeface="Meiryo"/>
              </a:rPr>
              <a:t>ジャンプ
＆リーチ</a:t>
            </a:r>
          </a:p>
        </p:txBody>
      </p:sp>
      <p:sp>
        <p:nvSpPr>
          <p:cNvPr id="30" name="TextBox 29"/>
          <p:cNvSpPr txBox="1"/>
          <p:nvPr/>
        </p:nvSpPr>
        <p:spPr>
          <a:xfrm>
            <a:off x="7507223" y="2606040"/>
            <a:ext cx="2057400" cy="1005840"/>
          </a:xfrm>
          <a:prstGeom prst="rect">
            <a:avLst/>
          </a:prstGeom>
          <a:noFill/>
        </p:spPr>
        <p:txBody>
          <a:bodyPr wrap="square">
            <a:spAutoFit/>
          </a:bodyPr>
          <a:lstStyle/>
          <a:p>
            <a:pPr algn="ctr"/>
            <a:r>
              <a:rPr sz="1100" b="0">
                <a:solidFill>
                  <a:srgbClr val="7F8C8D"/>
                </a:solidFill>
                <a:latin typeface="Meiryo"/>
              </a:rPr>
              <a:t>頂点で目標に
タッチする</a:t>
            </a:r>
          </a:p>
        </p:txBody>
      </p:sp>
      <p:sp>
        <p:nvSpPr>
          <p:cNvPr id="31" name="Rectangle 30"/>
          <p:cNvSpPr/>
          <p:nvPr/>
        </p:nvSpPr>
        <p:spPr>
          <a:xfrm>
            <a:off x="9811512" y="1417320"/>
            <a:ext cx="2240280" cy="23317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811512" y="1417320"/>
            <a:ext cx="2240280" cy="365760"/>
          </a:xfrm>
          <a:prstGeom prst="rect">
            <a:avLst/>
          </a:prstGeom>
          <a:solidFill>
            <a:srgbClr val="F39C1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57232" y="1463040"/>
            <a:ext cx="640080" cy="292608"/>
          </a:xfrm>
          <a:prstGeom prst="rect">
            <a:avLst/>
          </a:prstGeom>
          <a:noFill/>
        </p:spPr>
        <p:txBody>
          <a:bodyPr wrap="square">
            <a:spAutoFit/>
          </a:bodyPr>
          <a:lstStyle/>
          <a:p>
            <a:pPr algn="l"/>
            <a:r>
              <a:rPr sz="1000" b="1">
                <a:solidFill>
                  <a:srgbClr val="FFFFFF"/>
                </a:solidFill>
                <a:latin typeface="Meiryo"/>
              </a:rPr>
              <a:t>18.5</a:t>
            </a:r>
          </a:p>
        </p:txBody>
      </p:sp>
      <p:sp>
        <p:nvSpPr>
          <p:cNvPr id="34" name="TextBox 33"/>
          <p:cNvSpPr txBox="1"/>
          <p:nvPr/>
        </p:nvSpPr>
        <p:spPr>
          <a:xfrm>
            <a:off x="11365992" y="1463040"/>
            <a:ext cx="640080" cy="292608"/>
          </a:xfrm>
          <a:prstGeom prst="rect">
            <a:avLst/>
          </a:prstGeom>
          <a:noFill/>
        </p:spPr>
        <p:txBody>
          <a:bodyPr wrap="square">
            <a:spAutoFit/>
          </a:bodyPr>
          <a:lstStyle/>
          <a:p>
            <a:pPr algn="r"/>
            <a:r>
              <a:rPr sz="1000" b="1">
                <a:solidFill>
                  <a:srgbClr val="FFFFFF"/>
                </a:solidFill>
                <a:latin typeface="Meiryo"/>
              </a:rPr>
              <a:t>中</a:t>
            </a:r>
          </a:p>
        </p:txBody>
      </p:sp>
      <p:sp>
        <p:nvSpPr>
          <p:cNvPr id="35" name="TextBox 34"/>
          <p:cNvSpPr txBox="1"/>
          <p:nvPr/>
        </p:nvSpPr>
        <p:spPr>
          <a:xfrm>
            <a:off x="9902952" y="1856232"/>
            <a:ext cx="2057400" cy="685800"/>
          </a:xfrm>
          <a:prstGeom prst="rect">
            <a:avLst/>
          </a:prstGeom>
          <a:noFill/>
        </p:spPr>
        <p:txBody>
          <a:bodyPr wrap="square">
            <a:spAutoFit/>
          </a:bodyPr>
          <a:lstStyle/>
          <a:p>
            <a:pPr algn="ctr"/>
            <a:r>
              <a:rPr sz="1200" b="1">
                <a:solidFill>
                  <a:srgbClr val="1A3A5C"/>
                </a:solidFill>
                <a:latin typeface="Meiryo"/>
              </a:rPr>
              <a:t>ダブルレッグ
タックジャンプ</a:t>
            </a:r>
          </a:p>
        </p:txBody>
      </p:sp>
      <p:sp>
        <p:nvSpPr>
          <p:cNvPr id="36" name="TextBox 35"/>
          <p:cNvSpPr txBox="1"/>
          <p:nvPr/>
        </p:nvSpPr>
        <p:spPr>
          <a:xfrm>
            <a:off x="9902952" y="2606040"/>
            <a:ext cx="2057400" cy="1005840"/>
          </a:xfrm>
          <a:prstGeom prst="rect">
            <a:avLst/>
          </a:prstGeom>
          <a:noFill/>
        </p:spPr>
        <p:txBody>
          <a:bodyPr wrap="square">
            <a:spAutoFit/>
          </a:bodyPr>
          <a:lstStyle/>
          <a:p>
            <a:pPr algn="ctr"/>
            <a:r>
              <a:rPr sz="1100" b="0">
                <a:solidFill>
                  <a:srgbClr val="7F8C8D"/>
                </a:solidFill>
                <a:latin typeface="Meiryo"/>
              </a:rPr>
              <a:t>膝を胸に引きつけ
着地前に離す</a:t>
            </a:r>
          </a:p>
        </p:txBody>
      </p:sp>
      <p:sp>
        <p:nvSpPr>
          <p:cNvPr id="37" name="Rectangle 36"/>
          <p:cNvSpPr/>
          <p:nvPr/>
        </p:nvSpPr>
        <p:spPr>
          <a:xfrm>
            <a:off x="228600" y="3931920"/>
            <a:ext cx="2240280" cy="23317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28600" y="3931920"/>
            <a:ext cx="2240280" cy="365760"/>
          </a:xfrm>
          <a:prstGeom prst="rect">
            <a:avLst/>
          </a:prstGeom>
          <a:solidFill>
            <a:srgbClr val="F39C1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74320" y="3977639"/>
            <a:ext cx="640080" cy="292608"/>
          </a:xfrm>
          <a:prstGeom prst="rect">
            <a:avLst/>
          </a:prstGeom>
          <a:noFill/>
        </p:spPr>
        <p:txBody>
          <a:bodyPr wrap="square">
            <a:spAutoFit/>
          </a:bodyPr>
          <a:lstStyle/>
          <a:p>
            <a:pPr algn="l"/>
            <a:r>
              <a:rPr sz="1000" b="1">
                <a:solidFill>
                  <a:srgbClr val="FFFFFF"/>
                </a:solidFill>
                <a:latin typeface="Meiryo"/>
              </a:rPr>
              <a:t>18.6</a:t>
            </a:r>
          </a:p>
        </p:txBody>
      </p:sp>
      <p:sp>
        <p:nvSpPr>
          <p:cNvPr id="40" name="TextBox 39"/>
          <p:cNvSpPr txBox="1"/>
          <p:nvPr/>
        </p:nvSpPr>
        <p:spPr>
          <a:xfrm>
            <a:off x="1783080" y="3977639"/>
            <a:ext cx="640080" cy="292608"/>
          </a:xfrm>
          <a:prstGeom prst="rect">
            <a:avLst/>
          </a:prstGeom>
          <a:noFill/>
        </p:spPr>
        <p:txBody>
          <a:bodyPr wrap="square">
            <a:spAutoFit/>
          </a:bodyPr>
          <a:lstStyle/>
          <a:p>
            <a:pPr algn="r"/>
            <a:r>
              <a:rPr sz="1000" b="1">
                <a:solidFill>
                  <a:srgbClr val="FFFFFF"/>
                </a:solidFill>
                <a:latin typeface="Meiryo"/>
              </a:rPr>
              <a:t>中</a:t>
            </a:r>
          </a:p>
        </p:txBody>
      </p:sp>
      <p:sp>
        <p:nvSpPr>
          <p:cNvPr id="41" name="TextBox 40"/>
          <p:cNvSpPr txBox="1"/>
          <p:nvPr/>
        </p:nvSpPr>
        <p:spPr>
          <a:xfrm>
            <a:off x="320040" y="4370831"/>
            <a:ext cx="2057400" cy="685800"/>
          </a:xfrm>
          <a:prstGeom prst="rect">
            <a:avLst/>
          </a:prstGeom>
          <a:noFill/>
        </p:spPr>
        <p:txBody>
          <a:bodyPr wrap="square">
            <a:spAutoFit/>
          </a:bodyPr>
          <a:lstStyle/>
          <a:p>
            <a:pPr algn="ctr"/>
            <a:r>
              <a:rPr sz="1200" b="1">
                <a:solidFill>
                  <a:srgbClr val="1A3A5C"/>
                </a:solidFill>
                <a:latin typeface="Meiryo"/>
              </a:rPr>
              <a:t>スプリット
スクワットジャンプ</a:t>
            </a:r>
          </a:p>
        </p:txBody>
      </p:sp>
      <p:sp>
        <p:nvSpPr>
          <p:cNvPr id="42" name="TextBox 41"/>
          <p:cNvSpPr txBox="1"/>
          <p:nvPr/>
        </p:nvSpPr>
        <p:spPr>
          <a:xfrm>
            <a:off x="320040" y="5120640"/>
            <a:ext cx="2057400" cy="1005840"/>
          </a:xfrm>
          <a:prstGeom prst="rect">
            <a:avLst/>
          </a:prstGeom>
          <a:noFill/>
        </p:spPr>
        <p:txBody>
          <a:bodyPr wrap="square">
            <a:spAutoFit/>
          </a:bodyPr>
          <a:lstStyle/>
          <a:p>
            <a:pPr algn="ctr"/>
            <a:r>
              <a:rPr sz="1100" b="0">
                <a:solidFill>
                  <a:srgbClr val="7F8C8D"/>
                </a:solidFill>
                <a:latin typeface="Meiryo"/>
              </a:rPr>
              <a:t>ランジ姿勢から跳び
同じ脚を前に着地</a:t>
            </a:r>
          </a:p>
        </p:txBody>
      </p:sp>
      <p:sp>
        <p:nvSpPr>
          <p:cNvPr id="43" name="Rectangle 42"/>
          <p:cNvSpPr/>
          <p:nvPr/>
        </p:nvSpPr>
        <p:spPr>
          <a:xfrm>
            <a:off x="2624328" y="3931920"/>
            <a:ext cx="2240280" cy="23317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2624328" y="3931920"/>
            <a:ext cx="2240280" cy="365760"/>
          </a:xfrm>
          <a:prstGeom prst="rect">
            <a:avLst/>
          </a:prstGeom>
          <a:solidFill>
            <a:srgbClr val="E74C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670048" y="3977639"/>
            <a:ext cx="640080" cy="292608"/>
          </a:xfrm>
          <a:prstGeom prst="rect">
            <a:avLst/>
          </a:prstGeom>
          <a:noFill/>
        </p:spPr>
        <p:txBody>
          <a:bodyPr wrap="square">
            <a:spAutoFit/>
          </a:bodyPr>
          <a:lstStyle/>
          <a:p>
            <a:pPr algn="l"/>
            <a:r>
              <a:rPr sz="1000" b="1">
                <a:solidFill>
                  <a:srgbClr val="FFFFFF"/>
                </a:solidFill>
                <a:latin typeface="Meiryo"/>
              </a:rPr>
              <a:t>18.7</a:t>
            </a:r>
          </a:p>
        </p:txBody>
      </p:sp>
      <p:sp>
        <p:nvSpPr>
          <p:cNvPr id="46" name="TextBox 45"/>
          <p:cNvSpPr txBox="1"/>
          <p:nvPr/>
        </p:nvSpPr>
        <p:spPr>
          <a:xfrm>
            <a:off x="4178808" y="3977639"/>
            <a:ext cx="640080" cy="292608"/>
          </a:xfrm>
          <a:prstGeom prst="rect">
            <a:avLst/>
          </a:prstGeom>
          <a:noFill/>
        </p:spPr>
        <p:txBody>
          <a:bodyPr wrap="square">
            <a:spAutoFit/>
          </a:bodyPr>
          <a:lstStyle/>
          <a:p>
            <a:pPr algn="r"/>
            <a:r>
              <a:rPr sz="1000" b="1">
                <a:solidFill>
                  <a:srgbClr val="FFFFFF"/>
                </a:solidFill>
                <a:latin typeface="Meiryo"/>
              </a:rPr>
              <a:t>高</a:t>
            </a:r>
          </a:p>
        </p:txBody>
      </p:sp>
      <p:sp>
        <p:nvSpPr>
          <p:cNvPr id="47" name="TextBox 46"/>
          <p:cNvSpPr txBox="1"/>
          <p:nvPr/>
        </p:nvSpPr>
        <p:spPr>
          <a:xfrm>
            <a:off x="2715768" y="4370831"/>
            <a:ext cx="2057400" cy="685800"/>
          </a:xfrm>
          <a:prstGeom prst="rect">
            <a:avLst/>
          </a:prstGeom>
          <a:noFill/>
        </p:spPr>
        <p:txBody>
          <a:bodyPr wrap="square">
            <a:spAutoFit/>
          </a:bodyPr>
          <a:lstStyle/>
          <a:p>
            <a:pPr algn="ctr"/>
            <a:r>
              <a:rPr sz="1200" b="1">
                <a:solidFill>
                  <a:srgbClr val="1A3A5C"/>
                </a:solidFill>
                <a:latin typeface="Meiryo"/>
              </a:rPr>
              <a:t>サイクルド・スプリット
スクワットジャンプ</a:t>
            </a:r>
          </a:p>
        </p:txBody>
      </p:sp>
      <p:sp>
        <p:nvSpPr>
          <p:cNvPr id="48" name="TextBox 47"/>
          <p:cNvSpPr txBox="1"/>
          <p:nvPr/>
        </p:nvSpPr>
        <p:spPr>
          <a:xfrm>
            <a:off x="2715768" y="5120640"/>
            <a:ext cx="2057400" cy="1005840"/>
          </a:xfrm>
          <a:prstGeom prst="rect">
            <a:avLst/>
          </a:prstGeom>
          <a:noFill/>
        </p:spPr>
        <p:txBody>
          <a:bodyPr wrap="square">
            <a:spAutoFit/>
          </a:bodyPr>
          <a:lstStyle/>
          <a:p>
            <a:pPr algn="ctr"/>
            <a:r>
              <a:rPr sz="1100" b="0">
                <a:solidFill>
                  <a:srgbClr val="7F8C8D"/>
                </a:solidFill>
                <a:latin typeface="Meiryo"/>
              </a:rPr>
              <a:t>空中で前後の
脚を入れ替える</a:t>
            </a:r>
          </a:p>
        </p:txBody>
      </p:sp>
      <p:sp>
        <p:nvSpPr>
          <p:cNvPr id="49" name="Rectangle 48"/>
          <p:cNvSpPr/>
          <p:nvPr/>
        </p:nvSpPr>
        <p:spPr>
          <a:xfrm>
            <a:off x="5020056" y="3931920"/>
            <a:ext cx="2240280" cy="23317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020056" y="3931920"/>
            <a:ext cx="2240280" cy="365760"/>
          </a:xfrm>
          <a:prstGeom prst="rect">
            <a:avLst/>
          </a:prstGeom>
          <a:solidFill>
            <a:srgbClr val="E74C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065776" y="3977639"/>
            <a:ext cx="640080" cy="292608"/>
          </a:xfrm>
          <a:prstGeom prst="rect">
            <a:avLst/>
          </a:prstGeom>
          <a:noFill/>
        </p:spPr>
        <p:txBody>
          <a:bodyPr wrap="square">
            <a:spAutoFit/>
          </a:bodyPr>
          <a:lstStyle/>
          <a:p>
            <a:pPr algn="l"/>
            <a:r>
              <a:rPr sz="1000" b="1">
                <a:solidFill>
                  <a:srgbClr val="FFFFFF"/>
                </a:solidFill>
                <a:latin typeface="Meiryo"/>
              </a:rPr>
              <a:t>18.8</a:t>
            </a:r>
          </a:p>
        </p:txBody>
      </p:sp>
      <p:sp>
        <p:nvSpPr>
          <p:cNvPr id="52" name="TextBox 51"/>
          <p:cNvSpPr txBox="1"/>
          <p:nvPr/>
        </p:nvSpPr>
        <p:spPr>
          <a:xfrm>
            <a:off x="6574536" y="3977639"/>
            <a:ext cx="640080" cy="292608"/>
          </a:xfrm>
          <a:prstGeom prst="rect">
            <a:avLst/>
          </a:prstGeom>
          <a:noFill/>
        </p:spPr>
        <p:txBody>
          <a:bodyPr wrap="square">
            <a:spAutoFit/>
          </a:bodyPr>
          <a:lstStyle/>
          <a:p>
            <a:pPr algn="r"/>
            <a:r>
              <a:rPr sz="1000" b="1">
                <a:solidFill>
                  <a:srgbClr val="FFFFFF"/>
                </a:solidFill>
                <a:latin typeface="Meiryo"/>
              </a:rPr>
              <a:t>高</a:t>
            </a:r>
          </a:p>
        </p:txBody>
      </p:sp>
      <p:sp>
        <p:nvSpPr>
          <p:cNvPr id="53" name="TextBox 52"/>
          <p:cNvSpPr txBox="1"/>
          <p:nvPr/>
        </p:nvSpPr>
        <p:spPr>
          <a:xfrm>
            <a:off x="5111496" y="4370831"/>
            <a:ext cx="2057400" cy="685800"/>
          </a:xfrm>
          <a:prstGeom prst="rect">
            <a:avLst/>
          </a:prstGeom>
          <a:noFill/>
        </p:spPr>
        <p:txBody>
          <a:bodyPr wrap="square">
            <a:spAutoFit/>
          </a:bodyPr>
          <a:lstStyle/>
          <a:p>
            <a:pPr algn="ctr"/>
            <a:r>
              <a:rPr sz="1200" b="1">
                <a:solidFill>
                  <a:srgbClr val="1A3A5C"/>
                </a:solidFill>
                <a:latin typeface="Meiryo"/>
              </a:rPr>
              <a:t>シングルレッグ
タックジャンプ</a:t>
            </a:r>
          </a:p>
        </p:txBody>
      </p:sp>
      <p:sp>
        <p:nvSpPr>
          <p:cNvPr id="54" name="TextBox 53"/>
          <p:cNvSpPr txBox="1"/>
          <p:nvPr/>
        </p:nvSpPr>
        <p:spPr>
          <a:xfrm>
            <a:off x="5111496" y="5120640"/>
            <a:ext cx="2057400" cy="1005840"/>
          </a:xfrm>
          <a:prstGeom prst="rect">
            <a:avLst/>
          </a:prstGeom>
          <a:noFill/>
        </p:spPr>
        <p:txBody>
          <a:bodyPr wrap="square">
            <a:spAutoFit/>
          </a:bodyPr>
          <a:lstStyle/>
          <a:p>
            <a:pPr algn="ctr"/>
            <a:r>
              <a:rPr sz="1100" b="0">
                <a:solidFill>
                  <a:srgbClr val="7F8C8D"/>
                </a:solidFill>
                <a:latin typeface="Meiryo"/>
              </a:rPr>
              <a:t>片脚で跳び
膝を引きつける</a:t>
            </a:r>
          </a:p>
        </p:txBody>
      </p:sp>
      <p:sp>
        <p:nvSpPr>
          <p:cNvPr id="55" name="Rectangle 54"/>
          <p:cNvSpPr/>
          <p:nvPr/>
        </p:nvSpPr>
        <p:spPr>
          <a:xfrm>
            <a:off x="7415783" y="3931920"/>
            <a:ext cx="2240280" cy="23317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415783" y="3931920"/>
            <a:ext cx="2240280" cy="365760"/>
          </a:xfrm>
          <a:prstGeom prst="rect">
            <a:avLst/>
          </a:prstGeom>
          <a:solidFill>
            <a:srgbClr val="E74C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461504" y="3977639"/>
            <a:ext cx="640080" cy="292608"/>
          </a:xfrm>
          <a:prstGeom prst="rect">
            <a:avLst/>
          </a:prstGeom>
          <a:noFill/>
        </p:spPr>
        <p:txBody>
          <a:bodyPr wrap="square">
            <a:spAutoFit/>
          </a:bodyPr>
          <a:lstStyle/>
          <a:p>
            <a:pPr algn="l"/>
            <a:r>
              <a:rPr sz="1000" b="1">
                <a:solidFill>
                  <a:srgbClr val="FFFFFF"/>
                </a:solidFill>
                <a:latin typeface="Meiryo"/>
              </a:rPr>
              <a:t>18.9</a:t>
            </a:r>
          </a:p>
        </p:txBody>
      </p:sp>
      <p:sp>
        <p:nvSpPr>
          <p:cNvPr id="58" name="TextBox 57"/>
          <p:cNvSpPr txBox="1"/>
          <p:nvPr/>
        </p:nvSpPr>
        <p:spPr>
          <a:xfrm>
            <a:off x="8970263" y="3977639"/>
            <a:ext cx="640080" cy="292608"/>
          </a:xfrm>
          <a:prstGeom prst="rect">
            <a:avLst/>
          </a:prstGeom>
          <a:noFill/>
        </p:spPr>
        <p:txBody>
          <a:bodyPr wrap="square">
            <a:spAutoFit/>
          </a:bodyPr>
          <a:lstStyle/>
          <a:p>
            <a:pPr algn="r"/>
            <a:r>
              <a:rPr sz="1000" b="1">
                <a:solidFill>
                  <a:srgbClr val="FFFFFF"/>
                </a:solidFill>
                <a:latin typeface="Meiryo"/>
              </a:rPr>
              <a:t>高</a:t>
            </a:r>
          </a:p>
        </p:txBody>
      </p:sp>
      <p:sp>
        <p:nvSpPr>
          <p:cNvPr id="59" name="TextBox 58"/>
          <p:cNvSpPr txBox="1"/>
          <p:nvPr/>
        </p:nvSpPr>
        <p:spPr>
          <a:xfrm>
            <a:off x="7507223" y="4370831"/>
            <a:ext cx="2057400" cy="685800"/>
          </a:xfrm>
          <a:prstGeom prst="rect">
            <a:avLst/>
          </a:prstGeom>
          <a:noFill/>
        </p:spPr>
        <p:txBody>
          <a:bodyPr wrap="square">
            <a:spAutoFit/>
          </a:bodyPr>
          <a:lstStyle/>
          <a:p>
            <a:pPr algn="ctr"/>
            <a:r>
              <a:rPr sz="1200" b="1">
                <a:solidFill>
                  <a:srgbClr val="1A3A5C"/>
                </a:solidFill>
                <a:latin typeface="Meiryo"/>
              </a:rPr>
              <a:t>パイク
ジャンプ</a:t>
            </a:r>
          </a:p>
        </p:txBody>
      </p:sp>
      <p:sp>
        <p:nvSpPr>
          <p:cNvPr id="60" name="TextBox 59"/>
          <p:cNvSpPr txBox="1"/>
          <p:nvPr/>
        </p:nvSpPr>
        <p:spPr>
          <a:xfrm>
            <a:off x="7507223" y="5120640"/>
            <a:ext cx="2057400" cy="1005840"/>
          </a:xfrm>
          <a:prstGeom prst="rect">
            <a:avLst/>
          </a:prstGeom>
          <a:noFill/>
        </p:spPr>
        <p:txBody>
          <a:bodyPr wrap="square">
            <a:spAutoFit/>
          </a:bodyPr>
          <a:lstStyle/>
          <a:p>
            <a:pPr algn="ctr"/>
            <a:r>
              <a:rPr sz="1100" b="0">
                <a:solidFill>
                  <a:srgbClr val="7F8C8D"/>
                </a:solidFill>
                <a:latin typeface="Meiryo"/>
              </a:rPr>
              <a:t>脚を伸ばしたまま上げ
つま先にタッチ</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88720"/>
          </a:xfrm>
          <a:prstGeom prst="rect">
            <a:avLst/>
          </a:prstGeom>
          <a:solidFill>
            <a:srgbClr val="1A3A5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720"/>
            <a:ext cx="12188952" cy="54864"/>
          </a:xfrm>
          <a:prstGeom prst="rect">
            <a:avLst/>
          </a:prstGeom>
          <a:solidFill>
            <a:srgbClr val="2E86C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09728"/>
            <a:ext cx="11430000" cy="777240"/>
          </a:xfrm>
          <a:prstGeom prst="rect">
            <a:avLst/>
          </a:prstGeom>
          <a:noFill/>
        </p:spPr>
        <p:txBody>
          <a:bodyPr wrap="square">
            <a:spAutoFit/>
          </a:bodyPr>
          <a:lstStyle/>
          <a:p>
            <a:pPr algn="l"/>
            <a:r>
              <a:rPr sz="2800" b="1">
                <a:solidFill>
                  <a:srgbClr val="FFFFFF"/>
                </a:solidFill>
                <a:latin typeface="Meiryo"/>
              </a:rPr>
              <a:t>下半身ドリル ②  スタンディングジャンプ・連続ホップ&amp;ジャンプ</a:t>
            </a:r>
          </a:p>
        </p:txBody>
      </p:sp>
      <p:sp>
        <p:nvSpPr>
          <p:cNvPr id="6" name="TextBox 5"/>
          <p:cNvSpPr txBox="1"/>
          <p:nvPr/>
        </p:nvSpPr>
        <p:spPr>
          <a:xfrm>
            <a:off x="365760" y="804672"/>
            <a:ext cx="10972800" cy="365760"/>
          </a:xfrm>
          <a:prstGeom prst="rect">
            <a:avLst/>
          </a:prstGeom>
          <a:noFill/>
        </p:spPr>
        <p:txBody>
          <a:bodyPr wrap="square">
            <a:spAutoFit/>
          </a:bodyPr>
          <a:lstStyle/>
          <a:p>
            <a:pPr algn="l"/>
            <a:r>
              <a:rPr sz="1400" b="0">
                <a:solidFill>
                  <a:srgbClr val="AED6F1"/>
                </a:solidFill>
                <a:latin typeface="Meiryo"/>
              </a:rPr>
              <a:t>Standing Jumps（低〜高） &amp; Multiple Hops and Jumps（中〜高）</a:t>
            </a:r>
          </a:p>
        </p:txBody>
      </p:sp>
      <p:sp>
        <p:nvSpPr>
          <p:cNvPr id="7" name="Rectangle 6"/>
          <p:cNvSpPr/>
          <p:nvPr/>
        </p:nvSpPr>
        <p:spPr>
          <a:xfrm>
            <a:off x="228600" y="1417320"/>
            <a:ext cx="2240280" cy="23317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8600" y="1417320"/>
            <a:ext cx="2240280" cy="365760"/>
          </a:xfrm>
          <a:prstGeom prst="rect">
            <a:avLst/>
          </a:prstGeom>
          <a:solidFill>
            <a:srgbClr val="27AE6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1463040"/>
            <a:ext cx="640080" cy="292608"/>
          </a:xfrm>
          <a:prstGeom prst="rect">
            <a:avLst/>
          </a:prstGeom>
          <a:noFill/>
        </p:spPr>
        <p:txBody>
          <a:bodyPr wrap="square">
            <a:spAutoFit/>
          </a:bodyPr>
          <a:lstStyle/>
          <a:p>
            <a:pPr algn="l"/>
            <a:r>
              <a:rPr sz="1000" b="1">
                <a:solidFill>
                  <a:srgbClr val="FFFFFF"/>
                </a:solidFill>
                <a:latin typeface="Meiryo"/>
              </a:rPr>
              <a:t>18.10</a:t>
            </a:r>
          </a:p>
        </p:txBody>
      </p:sp>
      <p:sp>
        <p:nvSpPr>
          <p:cNvPr id="10" name="TextBox 9"/>
          <p:cNvSpPr txBox="1"/>
          <p:nvPr/>
        </p:nvSpPr>
        <p:spPr>
          <a:xfrm>
            <a:off x="1783080" y="1463040"/>
            <a:ext cx="640080" cy="292608"/>
          </a:xfrm>
          <a:prstGeom prst="rect">
            <a:avLst/>
          </a:prstGeom>
          <a:noFill/>
        </p:spPr>
        <p:txBody>
          <a:bodyPr wrap="square">
            <a:spAutoFit/>
          </a:bodyPr>
          <a:lstStyle/>
          <a:p>
            <a:pPr algn="r"/>
            <a:r>
              <a:rPr sz="1000" b="1">
                <a:solidFill>
                  <a:srgbClr val="FFFFFF"/>
                </a:solidFill>
                <a:latin typeface="Meiryo"/>
              </a:rPr>
              <a:t>低</a:t>
            </a:r>
          </a:p>
        </p:txBody>
      </p:sp>
      <p:sp>
        <p:nvSpPr>
          <p:cNvPr id="11" name="TextBox 10"/>
          <p:cNvSpPr txBox="1"/>
          <p:nvPr/>
        </p:nvSpPr>
        <p:spPr>
          <a:xfrm>
            <a:off x="320040" y="1856232"/>
            <a:ext cx="2057400" cy="685800"/>
          </a:xfrm>
          <a:prstGeom prst="rect">
            <a:avLst/>
          </a:prstGeom>
          <a:noFill/>
        </p:spPr>
        <p:txBody>
          <a:bodyPr wrap="square">
            <a:spAutoFit/>
          </a:bodyPr>
          <a:lstStyle/>
          <a:p>
            <a:pPr algn="ctr"/>
            <a:r>
              <a:rPr sz="1100" b="1">
                <a:solidFill>
                  <a:srgbClr val="1A3A5C"/>
                </a:solidFill>
                <a:latin typeface="Meiryo"/>
              </a:rPr>
              <a:t>ダブルレッグ
バーティカルジャンプ</a:t>
            </a:r>
          </a:p>
        </p:txBody>
      </p:sp>
      <p:sp>
        <p:nvSpPr>
          <p:cNvPr id="12" name="TextBox 11"/>
          <p:cNvSpPr txBox="1"/>
          <p:nvPr/>
        </p:nvSpPr>
        <p:spPr>
          <a:xfrm>
            <a:off x="320040" y="2606040"/>
            <a:ext cx="2057400" cy="1005840"/>
          </a:xfrm>
          <a:prstGeom prst="rect">
            <a:avLst/>
          </a:prstGeom>
          <a:noFill/>
        </p:spPr>
        <p:txBody>
          <a:bodyPr wrap="square">
            <a:spAutoFit/>
          </a:bodyPr>
          <a:lstStyle/>
          <a:p>
            <a:pPr algn="ctr"/>
            <a:r>
              <a:rPr sz="1100" b="0">
                <a:solidFill>
                  <a:srgbClr val="7F8C8D"/>
                </a:solidFill>
                <a:latin typeface="Meiryo"/>
              </a:rPr>
              <a:t>目標へ最大努力
ジャンプ間に回復</a:t>
            </a:r>
          </a:p>
        </p:txBody>
      </p:sp>
      <p:sp>
        <p:nvSpPr>
          <p:cNvPr id="13" name="Rectangle 12"/>
          <p:cNvSpPr/>
          <p:nvPr/>
        </p:nvSpPr>
        <p:spPr>
          <a:xfrm>
            <a:off x="2624328" y="1417320"/>
            <a:ext cx="2240280" cy="23317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24328" y="1417320"/>
            <a:ext cx="2240280" cy="365760"/>
          </a:xfrm>
          <a:prstGeom prst="rect">
            <a:avLst/>
          </a:prstGeom>
          <a:solidFill>
            <a:srgbClr val="E74C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70048" y="1463040"/>
            <a:ext cx="640080" cy="292608"/>
          </a:xfrm>
          <a:prstGeom prst="rect">
            <a:avLst/>
          </a:prstGeom>
          <a:noFill/>
        </p:spPr>
        <p:txBody>
          <a:bodyPr wrap="square">
            <a:spAutoFit/>
          </a:bodyPr>
          <a:lstStyle/>
          <a:p>
            <a:pPr algn="l"/>
            <a:r>
              <a:rPr sz="1000" b="1">
                <a:solidFill>
                  <a:srgbClr val="FFFFFF"/>
                </a:solidFill>
                <a:latin typeface="Meiryo"/>
              </a:rPr>
              <a:t>18.11</a:t>
            </a:r>
          </a:p>
        </p:txBody>
      </p:sp>
      <p:sp>
        <p:nvSpPr>
          <p:cNvPr id="16" name="TextBox 15"/>
          <p:cNvSpPr txBox="1"/>
          <p:nvPr/>
        </p:nvSpPr>
        <p:spPr>
          <a:xfrm>
            <a:off x="4178808" y="1463040"/>
            <a:ext cx="640080" cy="292608"/>
          </a:xfrm>
          <a:prstGeom prst="rect">
            <a:avLst/>
          </a:prstGeom>
          <a:noFill/>
        </p:spPr>
        <p:txBody>
          <a:bodyPr wrap="square">
            <a:spAutoFit/>
          </a:bodyPr>
          <a:lstStyle/>
          <a:p>
            <a:pPr algn="r"/>
            <a:r>
              <a:rPr sz="1000" b="1">
                <a:solidFill>
                  <a:srgbClr val="FFFFFF"/>
                </a:solidFill>
                <a:latin typeface="Meiryo"/>
              </a:rPr>
              <a:t>高</a:t>
            </a:r>
          </a:p>
        </p:txBody>
      </p:sp>
      <p:sp>
        <p:nvSpPr>
          <p:cNvPr id="17" name="TextBox 16"/>
          <p:cNvSpPr txBox="1"/>
          <p:nvPr/>
        </p:nvSpPr>
        <p:spPr>
          <a:xfrm>
            <a:off x="2715768" y="1856232"/>
            <a:ext cx="2057400" cy="685800"/>
          </a:xfrm>
          <a:prstGeom prst="rect">
            <a:avLst/>
          </a:prstGeom>
          <a:noFill/>
        </p:spPr>
        <p:txBody>
          <a:bodyPr wrap="square">
            <a:spAutoFit/>
          </a:bodyPr>
          <a:lstStyle/>
          <a:p>
            <a:pPr algn="ctr"/>
            <a:r>
              <a:rPr sz="1100" b="1">
                <a:solidFill>
                  <a:srgbClr val="1A3A5C"/>
                </a:solidFill>
                <a:latin typeface="Meiryo"/>
              </a:rPr>
              <a:t>シングルレッグ
バーティカルジャンプ</a:t>
            </a:r>
          </a:p>
        </p:txBody>
      </p:sp>
      <p:sp>
        <p:nvSpPr>
          <p:cNvPr id="18" name="TextBox 17"/>
          <p:cNvSpPr txBox="1"/>
          <p:nvPr/>
        </p:nvSpPr>
        <p:spPr>
          <a:xfrm>
            <a:off x="2715768" y="2606040"/>
            <a:ext cx="2057400" cy="1005840"/>
          </a:xfrm>
          <a:prstGeom prst="rect">
            <a:avLst/>
          </a:prstGeom>
          <a:noFill/>
        </p:spPr>
        <p:txBody>
          <a:bodyPr wrap="square">
            <a:spAutoFit/>
          </a:bodyPr>
          <a:lstStyle/>
          <a:p>
            <a:pPr algn="ctr"/>
            <a:r>
              <a:rPr sz="1100" b="0">
                <a:solidFill>
                  <a:srgbClr val="7F8C8D"/>
                </a:solidFill>
                <a:latin typeface="Meiryo"/>
              </a:rPr>
              <a:t>片脚で目標へ
ジャンプ間に回復</a:t>
            </a:r>
          </a:p>
        </p:txBody>
      </p:sp>
      <p:sp>
        <p:nvSpPr>
          <p:cNvPr id="19" name="Rectangle 18"/>
          <p:cNvSpPr/>
          <p:nvPr/>
        </p:nvSpPr>
        <p:spPr>
          <a:xfrm>
            <a:off x="5020056" y="1417320"/>
            <a:ext cx="2240280" cy="23317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0056" y="1417320"/>
            <a:ext cx="2240280" cy="365760"/>
          </a:xfrm>
          <a:prstGeom prst="rect">
            <a:avLst/>
          </a:prstGeom>
          <a:solidFill>
            <a:srgbClr val="F39C1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65776" y="1463040"/>
            <a:ext cx="640080" cy="292608"/>
          </a:xfrm>
          <a:prstGeom prst="rect">
            <a:avLst/>
          </a:prstGeom>
          <a:noFill/>
        </p:spPr>
        <p:txBody>
          <a:bodyPr wrap="square">
            <a:spAutoFit/>
          </a:bodyPr>
          <a:lstStyle/>
          <a:p>
            <a:pPr algn="l"/>
            <a:r>
              <a:rPr sz="1000" b="1">
                <a:solidFill>
                  <a:srgbClr val="FFFFFF"/>
                </a:solidFill>
                <a:latin typeface="Meiryo"/>
              </a:rPr>
              <a:t>18.12</a:t>
            </a:r>
          </a:p>
        </p:txBody>
      </p:sp>
      <p:sp>
        <p:nvSpPr>
          <p:cNvPr id="22" name="TextBox 21"/>
          <p:cNvSpPr txBox="1"/>
          <p:nvPr/>
        </p:nvSpPr>
        <p:spPr>
          <a:xfrm>
            <a:off x="6574536" y="1463040"/>
            <a:ext cx="640080" cy="292608"/>
          </a:xfrm>
          <a:prstGeom prst="rect">
            <a:avLst/>
          </a:prstGeom>
          <a:noFill/>
        </p:spPr>
        <p:txBody>
          <a:bodyPr wrap="square">
            <a:spAutoFit/>
          </a:bodyPr>
          <a:lstStyle/>
          <a:p>
            <a:pPr algn="r"/>
            <a:r>
              <a:rPr sz="1000" b="1">
                <a:solidFill>
                  <a:srgbClr val="FFFFFF"/>
                </a:solidFill>
                <a:latin typeface="Meiryo"/>
              </a:rPr>
              <a:t>中</a:t>
            </a:r>
          </a:p>
        </p:txBody>
      </p:sp>
      <p:sp>
        <p:nvSpPr>
          <p:cNvPr id="23" name="TextBox 22"/>
          <p:cNvSpPr txBox="1"/>
          <p:nvPr/>
        </p:nvSpPr>
        <p:spPr>
          <a:xfrm>
            <a:off x="5111496" y="1856232"/>
            <a:ext cx="2057400" cy="685800"/>
          </a:xfrm>
          <a:prstGeom prst="rect">
            <a:avLst/>
          </a:prstGeom>
          <a:noFill/>
        </p:spPr>
        <p:txBody>
          <a:bodyPr wrap="square">
            <a:spAutoFit/>
          </a:bodyPr>
          <a:lstStyle/>
          <a:p>
            <a:pPr algn="ctr"/>
            <a:r>
              <a:rPr sz="1100" b="1">
                <a:solidFill>
                  <a:srgbClr val="1A3A5C"/>
                </a:solidFill>
                <a:latin typeface="Meiryo"/>
              </a:rPr>
              <a:t>障害物飛び越え
（ジャンプ・オーバー・バリア）</a:t>
            </a:r>
          </a:p>
        </p:txBody>
      </p:sp>
      <p:sp>
        <p:nvSpPr>
          <p:cNvPr id="24" name="TextBox 23"/>
          <p:cNvSpPr txBox="1"/>
          <p:nvPr/>
        </p:nvSpPr>
        <p:spPr>
          <a:xfrm>
            <a:off x="5111496" y="2606040"/>
            <a:ext cx="2057400" cy="1005840"/>
          </a:xfrm>
          <a:prstGeom prst="rect">
            <a:avLst/>
          </a:prstGeom>
          <a:noFill/>
        </p:spPr>
        <p:txBody>
          <a:bodyPr wrap="square">
            <a:spAutoFit/>
          </a:bodyPr>
          <a:lstStyle/>
          <a:p>
            <a:pPr algn="ctr"/>
            <a:r>
              <a:rPr sz="1100" b="0">
                <a:solidFill>
                  <a:srgbClr val="7F8C8D"/>
                </a:solidFill>
                <a:latin typeface="Meiryo"/>
              </a:rPr>
              <a:t>両脚で越える
コーン→ハードルへ</a:t>
            </a:r>
          </a:p>
        </p:txBody>
      </p:sp>
      <p:sp>
        <p:nvSpPr>
          <p:cNvPr id="25" name="Rectangle 24"/>
          <p:cNvSpPr/>
          <p:nvPr/>
        </p:nvSpPr>
        <p:spPr>
          <a:xfrm>
            <a:off x="7415783" y="1417320"/>
            <a:ext cx="2240280" cy="23317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15783" y="1417320"/>
            <a:ext cx="2240280" cy="365760"/>
          </a:xfrm>
          <a:prstGeom prst="rect">
            <a:avLst/>
          </a:prstGeom>
          <a:solidFill>
            <a:srgbClr val="27AE6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61504" y="1463040"/>
            <a:ext cx="640080" cy="292608"/>
          </a:xfrm>
          <a:prstGeom prst="rect">
            <a:avLst/>
          </a:prstGeom>
          <a:noFill/>
        </p:spPr>
        <p:txBody>
          <a:bodyPr wrap="square">
            <a:spAutoFit/>
          </a:bodyPr>
          <a:lstStyle/>
          <a:p>
            <a:pPr algn="l"/>
            <a:r>
              <a:rPr sz="1000" b="1">
                <a:solidFill>
                  <a:srgbClr val="FFFFFF"/>
                </a:solidFill>
                <a:latin typeface="Meiryo"/>
              </a:rPr>
              <a:t>18.13</a:t>
            </a:r>
          </a:p>
        </p:txBody>
      </p:sp>
      <p:sp>
        <p:nvSpPr>
          <p:cNvPr id="28" name="TextBox 27"/>
          <p:cNvSpPr txBox="1"/>
          <p:nvPr/>
        </p:nvSpPr>
        <p:spPr>
          <a:xfrm>
            <a:off x="8970263" y="1463040"/>
            <a:ext cx="640080" cy="292608"/>
          </a:xfrm>
          <a:prstGeom prst="rect">
            <a:avLst/>
          </a:prstGeom>
          <a:noFill/>
        </p:spPr>
        <p:txBody>
          <a:bodyPr wrap="square">
            <a:spAutoFit/>
          </a:bodyPr>
          <a:lstStyle/>
          <a:p>
            <a:pPr algn="r"/>
            <a:r>
              <a:rPr sz="1000" b="1">
                <a:solidFill>
                  <a:srgbClr val="FFFFFF"/>
                </a:solidFill>
                <a:latin typeface="Meiryo"/>
              </a:rPr>
              <a:t>低</a:t>
            </a:r>
          </a:p>
        </p:txBody>
      </p:sp>
      <p:sp>
        <p:nvSpPr>
          <p:cNvPr id="29" name="TextBox 28"/>
          <p:cNvSpPr txBox="1"/>
          <p:nvPr/>
        </p:nvSpPr>
        <p:spPr>
          <a:xfrm>
            <a:off x="7507223" y="1856232"/>
            <a:ext cx="2057400" cy="685800"/>
          </a:xfrm>
          <a:prstGeom prst="rect">
            <a:avLst/>
          </a:prstGeom>
          <a:noFill/>
        </p:spPr>
        <p:txBody>
          <a:bodyPr wrap="square">
            <a:spAutoFit/>
          </a:bodyPr>
          <a:lstStyle/>
          <a:p>
            <a:pPr algn="ctr"/>
            <a:r>
              <a:rPr sz="1100" b="1">
                <a:solidFill>
                  <a:srgbClr val="1A3A5C"/>
                </a:solidFill>
                <a:latin typeface="Meiryo"/>
              </a:rPr>
              <a:t>立ち幅跳び</a:t>
            </a:r>
          </a:p>
        </p:txBody>
      </p:sp>
      <p:sp>
        <p:nvSpPr>
          <p:cNvPr id="30" name="TextBox 29"/>
          <p:cNvSpPr txBox="1"/>
          <p:nvPr/>
        </p:nvSpPr>
        <p:spPr>
          <a:xfrm>
            <a:off x="7507223" y="2606040"/>
            <a:ext cx="2057400" cy="1005840"/>
          </a:xfrm>
          <a:prstGeom prst="rect">
            <a:avLst/>
          </a:prstGeom>
          <a:noFill/>
        </p:spPr>
        <p:txBody>
          <a:bodyPr wrap="square">
            <a:spAutoFit/>
          </a:bodyPr>
          <a:lstStyle/>
          <a:p>
            <a:pPr algn="ctr"/>
            <a:r>
              <a:rPr sz="1100" b="0">
                <a:solidFill>
                  <a:srgbClr val="7F8C8D"/>
                </a:solidFill>
                <a:latin typeface="Meiryo"/>
              </a:rPr>
              <a:t>腕振りを使い
前方へ最大距離</a:t>
            </a:r>
          </a:p>
        </p:txBody>
      </p:sp>
      <p:sp>
        <p:nvSpPr>
          <p:cNvPr id="31" name="Rectangle 30"/>
          <p:cNvSpPr/>
          <p:nvPr/>
        </p:nvSpPr>
        <p:spPr>
          <a:xfrm>
            <a:off x="9811512" y="1417320"/>
            <a:ext cx="2240280" cy="23317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811512" y="1417320"/>
            <a:ext cx="2240280" cy="365760"/>
          </a:xfrm>
          <a:prstGeom prst="rect">
            <a:avLst/>
          </a:prstGeom>
          <a:solidFill>
            <a:srgbClr val="F39C1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57232" y="1463040"/>
            <a:ext cx="640080" cy="292608"/>
          </a:xfrm>
          <a:prstGeom prst="rect">
            <a:avLst/>
          </a:prstGeom>
          <a:noFill/>
        </p:spPr>
        <p:txBody>
          <a:bodyPr wrap="square">
            <a:spAutoFit/>
          </a:bodyPr>
          <a:lstStyle/>
          <a:p>
            <a:pPr algn="l"/>
            <a:r>
              <a:rPr sz="1000" b="1">
                <a:solidFill>
                  <a:srgbClr val="FFFFFF"/>
                </a:solidFill>
                <a:latin typeface="Meiryo"/>
              </a:rPr>
              <a:t>18.14</a:t>
            </a:r>
          </a:p>
        </p:txBody>
      </p:sp>
      <p:sp>
        <p:nvSpPr>
          <p:cNvPr id="34" name="TextBox 33"/>
          <p:cNvSpPr txBox="1"/>
          <p:nvPr/>
        </p:nvSpPr>
        <p:spPr>
          <a:xfrm>
            <a:off x="11365992" y="1463040"/>
            <a:ext cx="640080" cy="292608"/>
          </a:xfrm>
          <a:prstGeom prst="rect">
            <a:avLst/>
          </a:prstGeom>
          <a:noFill/>
        </p:spPr>
        <p:txBody>
          <a:bodyPr wrap="square">
            <a:spAutoFit/>
          </a:bodyPr>
          <a:lstStyle/>
          <a:p>
            <a:pPr algn="r"/>
            <a:r>
              <a:rPr sz="1000" b="1">
                <a:solidFill>
                  <a:srgbClr val="FFFFFF"/>
                </a:solidFill>
                <a:latin typeface="Meiryo"/>
              </a:rPr>
              <a:t>中</a:t>
            </a:r>
          </a:p>
        </p:txBody>
      </p:sp>
      <p:sp>
        <p:nvSpPr>
          <p:cNvPr id="35" name="TextBox 34"/>
          <p:cNvSpPr txBox="1"/>
          <p:nvPr/>
        </p:nvSpPr>
        <p:spPr>
          <a:xfrm>
            <a:off x="9902952" y="1856232"/>
            <a:ext cx="2057400" cy="685800"/>
          </a:xfrm>
          <a:prstGeom prst="rect">
            <a:avLst/>
          </a:prstGeom>
          <a:noFill/>
        </p:spPr>
        <p:txBody>
          <a:bodyPr wrap="square">
            <a:spAutoFit/>
          </a:bodyPr>
          <a:lstStyle/>
          <a:p>
            <a:pPr algn="ctr"/>
            <a:r>
              <a:rPr sz="1100" b="1">
                <a:solidFill>
                  <a:srgbClr val="1A3A5C"/>
                </a:solidFill>
                <a:latin typeface="Meiryo"/>
              </a:rPr>
              <a:t>ダブルレッグ
ホップ</a:t>
            </a:r>
          </a:p>
        </p:txBody>
      </p:sp>
      <p:sp>
        <p:nvSpPr>
          <p:cNvPr id="36" name="TextBox 35"/>
          <p:cNvSpPr txBox="1"/>
          <p:nvPr/>
        </p:nvSpPr>
        <p:spPr>
          <a:xfrm>
            <a:off x="9902952" y="2606040"/>
            <a:ext cx="2057400" cy="1005840"/>
          </a:xfrm>
          <a:prstGeom prst="rect">
            <a:avLst/>
          </a:prstGeom>
          <a:noFill/>
        </p:spPr>
        <p:txBody>
          <a:bodyPr wrap="square">
            <a:spAutoFit/>
          </a:bodyPr>
          <a:lstStyle/>
          <a:p>
            <a:pPr algn="ctr"/>
            <a:r>
              <a:rPr sz="1100" b="0">
                <a:solidFill>
                  <a:srgbClr val="7F8C8D"/>
                </a:solidFill>
                <a:latin typeface="Meiryo"/>
              </a:rPr>
              <a:t>前方へ大きく跳び
ただちに繰り返す</a:t>
            </a:r>
          </a:p>
        </p:txBody>
      </p:sp>
      <p:sp>
        <p:nvSpPr>
          <p:cNvPr id="37" name="Rectangle 36"/>
          <p:cNvSpPr/>
          <p:nvPr/>
        </p:nvSpPr>
        <p:spPr>
          <a:xfrm>
            <a:off x="228600" y="3931920"/>
            <a:ext cx="2240280" cy="23317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28600" y="3931920"/>
            <a:ext cx="2240280" cy="365760"/>
          </a:xfrm>
          <a:prstGeom prst="rect">
            <a:avLst/>
          </a:prstGeom>
          <a:solidFill>
            <a:srgbClr val="E74C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74320" y="3977639"/>
            <a:ext cx="640080" cy="292608"/>
          </a:xfrm>
          <a:prstGeom prst="rect">
            <a:avLst/>
          </a:prstGeom>
          <a:noFill/>
        </p:spPr>
        <p:txBody>
          <a:bodyPr wrap="square">
            <a:spAutoFit/>
          </a:bodyPr>
          <a:lstStyle/>
          <a:p>
            <a:pPr algn="l"/>
            <a:r>
              <a:rPr sz="1000" b="1">
                <a:solidFill>
                  <a:srgbClr val="FFFFFF"/>
                </a:solidFill>
                <a:latin typeface="Meiryo"/>
              </a:rPr>
              <a:t>18.15</a:t>
            </a:r>
          </a:p>
        </p:txBody>
      </p:sp>
      <p:sp>
        <p:nvSpPr>
          <p:cNvPr id="40" name="TextBox 39"/>
          <p:cNvSpPr txBox="1"/>
          <p:nvPr/>
        </p:nvSpPr>
        <p:spPr>
          <a:xfrm>
            <a:off x="1783080" y="3977639"/>
            <a:ext cx="640080" cy="292608"/>
          </a:xfrm>
          <a:prstGeom prst="rect">
            <a:avLst/>
          </a:prstGeom>
          <a:noFill/>
        </p:spPr>
        <p:txBody>
          <a:bodyPr wrap="square">
            <a:spAutoFit/>
          </a:bodyPr>
          <a:lstStyle/>
          <a:p>
            <a:pPr algn="r"/>
            <a:r>
              <a:rPr sz="1000" b="1">
                <a:solidFill>
                  <a:srgbClr val="FFFFFF"/>
                </a:solidFill>
                <a:latin typeface="Meiryo"/>
              </a:rPr>
              <a:t>高</a:t>
            </a:r>
          </a:p>
        </p:txBody>
      </p:sp>
      <p:sp>
        <p:nvSpPr>
          <p:cNvPr id="41" name="TextBox 40"/>
          <p:cNvSpPr txBox="1"/>
          <p:nvPr/>
        </p:nvSpPr>
        <p:spPr>
          <a:xfrm>
            <a:off x="320040" y="4370831"/>
            <a:ext cx="2057400" cy="685800"/>
          </a:xfrm>
          <a:prstGeom prst="rect">
            <a:avLst/>
          </a:prstGeom>
          <a:noFill/>
        </p:spPr>
        <p:txBody>
          <a:bodyPr wrap="square">
            <a:spAutoFit/>
          </a:bodyPr>
          <a:lstStyle/>
          <a:p>
            <a:pPr algn="ctr"/>
            <a:r>
              <a:rPr sz="1100" b="1">
                <a:solidFill>
                  <a:srgbClr val="1A3A5C"/>
                </a:solidFill>
                <a:latin typeface="Meiryo"/>
              </a:rPr>
              <a:t>ダブルレッグ
ジグザグホップ</a:t>
            </a:r>
          </a:p>
        </p:txBody>
      </p:sp>
      <p:sp>
        <p:nvSpPr>
          <p:cNvPr id="42" name="TextBox 41"/>
          <p:cNvSpPr txBox="1"/>
          <p:nvPr/>
        </p:nvSpPr>
        <p:spPr>
          <a:xfrm>
            <a:off x="320040" y="5120640"/>
            <a:ext cx="2057400" cy="1005840"/>
          </a:xfrm>
          <a:prstGeom prst="rect">
            <a:avLst/>
          </a:prstGeom>
          <a:noFill/>
        </p:spPr>
        <p:txBody>
          <a:bodyPr wrap="square">
            <a:spAutoFit/>
          </a:bodyPr>
          <a:lstStyle/>
          <a:p>
            <a:pPr algn="ctr"/>
            <a:r>
              <a:rPr sz="1100" b="0">
                <a:solidFill>
                  <a:srgbClr val="7F8C8D"/>
                </a:solidFill>
                <a:latin typeface="Meiryo"/>
              </a:rPr>
              <a:t>ハードル約10個を
ジグザグに斜めへ</a:t>
            </a:r>
          </a:p>
        </p:txBody>
      </p:sp>
      <p:sp>
        <p:nvSpPr>
          <p:cNvPr id="43" name="Rectangle 42"/>
          <p:cNvSpPr/>
          <p:nvPr/>
        </p:nvSpPr>
        <p:spPr>
          <a:xfrm>
            <a:off x="2624328" y="3931920"/>
            <a:ext cx="2240280" cy="23317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2624328" y="3931920"/>
            <a:ext cx="2240280" cy="365760"/>
          </a:xfrm>
          <a:prstGeom prst="rect">
            <a:avLst/>
          </a:prstGeom>
          <a:solidFill>
            <a:srgbClr val="E74C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670048" y="3977639"/>
            <a:ext cx="640080" cy="292608"/>
          </a:xfrm>
          <a:prstGeom prst="rect">
            <a:avLst/>
          </a:prstGeom>
          <a:noFill/>
        </p:spPr>
        <p:txBody>
          <a:bodyPr wrap="square">
            <a:spAutoFit/>
          </a:bodyPr>
          <a:lstStyle/>
          <a:p>
            <a:pPr algn="l"/>
            <a:r>
              <a:rPr sz="1000" b="1">
                <a:solidFill>
                  <a:srgbClr val="FFFFFF"/>
                </a:solidFill>
                <a:latin typeface="Meiryo"/>
              </a:rPr>
              <a:t>18.16</a:t>
            </a:r>
          </a:p>
        </p:txBody>
      </p:sp>
      <p:sp>
        <p:nvSpPr>
          <p:cNvPr id="46" name="TextBox 45"/>
          <p:cNvSpPr txBox="1"/>
          <p:nvPr/>
        </p:nvSpPr>
        <p:spPr>
          <a:xfrm>
            <a:off x="4178808" y="3977639"/>
            <a:ext cx="640080" cy="292608"/>
          </a:xfrm>
          <a:prstGeom prst="rect">
            <a:avLst/>
          </a:prstGeom>
          <a:noFill/>
        </p:spPr>
        <p:txBody>
          <a:bodyPr wrap="square">
            <a:spAutoFit/>
          </a:bodyPr>
          <a:lstStyle/>
          <a:p>
            <a:pPr algn="r"/>
            <a:r>
              <a:rPr sz="1000" b="1">
                <a:solidFill>
                  <a:srgbClr val="FFFFFF"/>
                </a:solidFill>
                <a:latin typeface="Meiryo"/>
              </a:rPr>
              <a:t>高</a:t>
            </a:r>
          </a:p>
        </p:txBody>
      </p:sp>
      <p:sp>
        <p:nvSpPr>
          <p:cNvPr id="47" name="TextBox 46"/>
          <p:cNvSpPr txBox="1"/>
          <p:nvPr/>
        </p:nvSpPr>
        <p:spPr>
          <a:xfrm>
            <a:off x="2715768" y="4370831"/>
            <a:ext cx="2057400" cy="685800"/>
          </a:xfrm>
          <a:prstGeom prst="rect">
            <a:avLst/>
          </a:prstGeom>
          <a:noFill/>
        </p:spPr>
        <p:txBody>
          <a:bodyPr wrap="square">
            <a:spAutoFit/>
          </a:bodyPr>
          <a:lstStyle/>
          <a:p>
            <a:pPr algn="ctr"/>
            <a:r>
              <a:rPr sz="1100" b="1">
                <a:solidFill>
                  <a:srgbClr val="1A3A5C"/>
                </a:solidFill>
                <a:latin typeface="Meiryo"/>
              </a:rPr>
              <a:t>シングルレッグ
ホップ</a:t>
            </a:r>
          </a:p>
        </p:txBody>
      </p:sp>
      <p:sp>
        <p:nvSpPr>
          <p:cNvPr id="48" name="TextBox 47"/>
          <p:cNvSpPr txBox="1"/>
          <p:nvPr/>
        </p:nvSpPr>
        <p:spPr>
          <a:xfrm>
            <a:off x="2715768" y="5120640"/>
            <a:ext cx="2057400" cy="1005840"/>
          </a:xfrm>
          <a:prstGeom prst="rect">
            <a:avLst/>
          </a:prstGeom>
          <a:noFill/>
        </p:spPr>
        <p:txBody>
          <a:bodyPr wrap="square">
            <a:spAutoFit/>
          </a:bodyPr>
          <a:lstStyle/>
          <a:p>
            <a:pPr algn="ctr"/>
            <a:r>
              <a:rPr sz="1100" b="0">
                <a:solidFill>
                  <a:srgbClr val="7F8C8D"/>
                </a:solidFill>
                <a:latin typeface="Meiryo"/>
              </a:rPr>
              <a:t>片脚で前方へ
同じ脚で着地</a:t>
            </a:r>
          </a:p>
        </p:txBody>
      </p:sp>
      <p:sp>
        <p:nvSpPr>
          <p:cNvPr id="49" name="Rectangle 48"/>
          <p:cNvSpPr/>
          <p:nvPr/>
        </p:nvSpPr>
        <p:spPr>
          <a:xfrm>
            <a:off x="5020056" y="3931920"/>
            <a:ext cx="2240280" cy="23317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020056" y="3931920"/>
            <a:ext cx="2240280" cy="365760"/>
          </a:xfrm>
          <a:prstGeom prst="rect">
            <a:avLst/>
          </a:prstGeom>
          <a:solidFill>
            <a:srgbClr val="F39C1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065776" y="3977639"/>
            <a:ext cx="640080" cy="292608"/>
          </a:xfrm>
          <a:prstGeom prst="rect">
            <a:avLst/>
          </a:prstGeom>
          <a:noFill/>
        </p:spPr>
        <p:txBody>
          <a:bodyPr wrap="square">
            <a:spAutoFit/>
          </a:bodyPr>
          <a:lstStyle/>
          <a:p>
            <a:pPr algn="l"/>
            <a:r>
              <a:rPr sz="1000" b="1">
                <a:solidFill>
                  <a:srgbClr val="FFFFFF"/>
                </a:solidFill>
                <a:latin typeface="Meiryo"/>
              </a:rPr>
              <a:t>18.17</a:t>
            </a:r>
          </a:p>
        </p:txBody>
      </p:sp>
      <p:sp>
        <p:nvSpPr>
          <p:cNvPr id="52" name="TextBox 51"/>
          <p:cNvSpPr txBox="1"/>
          <p:nvPr/>
        </p:nvSpPr>
        <p:spPr>
          <a:xfrm>
            <a:off x="6574536" y="3977639"/>
            <a:ext cx="640080" cy="292608"/>
          </a:xfrm>
          <a:prstGeom prst="rect">
            <a:avLst/>
          </a:prstGeom>
          <a:noFill/>
        </p:spPr>
        <p:txBody>
          <a:bodyPr wrap="square">
            <a:spAutoFit/>
          </a:bodyPr>
          <a:lstStyle/>
          <a:p>
            <a:pPr algn="r"/>
            <a:r>
              <a:rPr sz="1000" b="1">
                <a:solidFill>
                  <a:srgbClr val="FFFFFF"/>
                </a:solidFill>
                <a:latin typeface="Meiryo"/>
              </a:rPr>
              <a:t>中</a:t>
            </a:r>
          </a:p>
        </p:txBody>
      </p:sp>
      <p:sp>
        <p:nvSpPr>
          <p:cNvPr id="53" name="TextBox 52"/>
          <p:cNvSpPr txBox="1"/>
          <p:nvPr/>
        </p:nvSpPr>
        <p:spPr>
          <a:xfrm>
            <a:off x="5111496" y="4370831"/>
            <a:ext cx="2057400" cy="685800"/>
          </a:xfrm>
          <a:prstGeom prst="rect">
            <a:avLst/>
          </a:prstGeom>
          <a:noFill/>
        </p:spPr>
        <p:txBody>
          <a:bodyPr wrap="square">
            <a:spAutoFit/>
          </a:bodyPr>
          <a:lstStyle/>
          <a:p>
            <a:pPr algn="ctr"/>
            <a:r>
              <a:rPr sz="1100" b="1">
                <a:solidFill>
                  <a:srgbClr val="1A3A5C"/>
                </a:solidFill>
                <a:latin typeface="Meiryo"/>
              </a:rPr>
              <a:t>フロント
バリアホップ</a:t>
            </a:r>
          </a:p>
        </p:txBody>
      </p:sp>
      <p:sp>
        <p:nvSpPr>
          <p:cNvPr id="54" name="TextBox 53"/>
          <p:cNvSpPr txBox="1"/>
          <p:nvPr/>
        </p:nvSpPr>
        <p:spPr>
          <a:xfrm>
            <a:off x="5111496" y="5120640"/>
            <a:ext cx="2057400" cy="1005840"/>
          </a:xfrm>
          <a:prstGeom prst="rect">
            <a:avLst/>
          </a:prstGeom>
          <a:noFill/>
        </p:spPr>
        <p:txBody>
          <a:bodyPr wrap="square">
            <a:spAutoFit/>
          </a:bodyPr>
          <a:lstStyle/>
          <a:p>
            <a:pPr algn="ctr"/>
            <a:r>
              <a:rPr sz="1100" b="0">
                <a:solidFill>
                  <a:srgbClr val="7F8C8D"/>
                </a:solidFill>
                <a:latin typeface="Meiryo"/>
              </a:rPr>
              <a:t>前方の障害物を
連続で越える</a:t>
            </a:r>
          </a:p>
        </p:txBody>
      </p:sp>
      <p:sp>
        <p:nvSpPr>
          <p:cNvPr id="55" name="Rectangle 54"/>
          <p:cNvSpPr/>
          <p:nvPr/>
        </p:nvSpPr>
        <p:spPr>
          <a:xfrm>
            <a:off x="7415783" y="3931920"/>
            <a:ext cx="2240280" cy="23317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415783" y="3931920"/>
            <a:ext cx="2240280" cy="365760"/>
          </a:xfrm>
          <a:prstGeom prst="rect">
            <a:avLst/>
          </a:prstGeom>
          <a:solidFill>
            <a:srgbClr val="F39C1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461504" y="3977639"/>
            <a:ext cx="640080" cy="292608"/>
          </a:xfrm>
          <a:prstGeom prst="rect">
            <a:avLst/>
          </a:prstGeom>
          <a:noFill/>
        </p:spPr>
        <p:txBody>
          <a:bodyPr wrap="square">
            <a:spAutoFit/>
          </a:bodyPr>
          <a:lstStyle/>
          <a:p>
            <a:pPr algn="l"/>
            <a:r>
              <a:rPr sz="1000" b="1">
                <a:solidFill>
                  <a:srgbClr val="FFFFFF"/>
                </a:solidFill>
                <a:latin typeface="Meiryo"/>
              </a:rPr>
              <a:t>18.18</a:t>
            </a:r>
          </a:p>
        </p:txBody>
      </p:sp>
      <p:sp>
        <p:nvSpPr>
          <p:cNvPr id="58" name="TextBox 57"/>
          <p:cNvSpPr txBox="1"/>
          <p:nvPr/>
        </p:nvSpPr>
        <p:spPr>
          <a:xfrm>
            <a:off x="8970263" y="3977639"/>
            <a:ext cx="640080" cy="292608"/>
          </a:xfrm>
          <a:prstGeom prst="rect">
            <a:avLst/>
          </a:prstGeom>
          <a:noFill/>
        </p:spPr>
        <p:txBody>
          <a:bodyPr wrap="square">
            <a:spAutoFit/>
          </a:bodyPr>
          <a:lstStyle/>
          <a:p>
            <a:pPr algn="r"/>
            <a:r>
              <a:rPr sz="1000" b="1">
                <a:solidFill>
                  <a:srgbClr val="FFFFFF"/>
                </a:solidFill>
                <a:latin typeface="Meiryo"/>
              </a:rPr>
              <a:t>中</a:t>
            </a:r>
          </a:p>
        </p:txBody>
      </p:sp>
      <p:sp>
        <p:nvSpPr>
          <p:cNvPr id="59" name="TextBox 58"/>
          <p:cNvSpPr txBox="1"/>
          <p:nvPr/>
        </p:nvSpPr>
        <p:spPr>
          <a:xfrm>
            <a:off x="7507223" y="4370831"/>
            <a:ext cx="2057400" cy="685800"/>
          </a:xfrm>
          <a:prstGeom prst="rect">
            <a:avLst/>
          </a:prstGeom>
          <a:noFill/>
        </p:spPr>
        <p:txBody>
          <a:bodyPr wrap="square">
            <a:spAutoFit/>
          </a:bodyPr>
          <a:lstStyle/>
          <a:p>
            <a:pPr algn="ctr"/>
            <a:r>
              <a:rPr sz="1100" b="1">
                <a:solidFill>
                  <a:srgbClr val="1A3A5C"/>
                </a:solidFill>
                <a:latin typeface="Meiryo"/>
              </a:rPr>
              <a:t>ラテラル
バリアホップ</a:t>
            </a:r>
          </a:p>
        </p:txBody>
      </p:sp>
      <p:sp>
        <p:nvSpPr>
          <p:cNvPr id="60" name="TextBox 59"/>
          <p:cNvSpPr txBox="1"/>
          <p:nvPr/>
        </p:nvSpPr>
        <p:spPr>
          <a:xfrm>
            <a:off x="7507223" y="5120640"/>
            <a:ext cx="2057400" cy="1005840"/>
          </a:xfrm>
          <a:prstGeom prst="rect">
            <a:avLst/>
          </a:prstGeom>
          <a:noFill/>
        </p:spPr>
        <p:txBody>
          <a:bodyPr wrap="square">
            <a:spAutoFit/>
          </a:bodyPr>
          <a:lstStyle/>
          <a:p>
            <a:pPr algn="ctr"/>
            <a:r>
              <a:rPr sz="1100" b="0">
                <a:solidFill>
                  <a:srgbClr val="7F8C8D"/>
                </a:solidFill>
                <a:latin typeface="Meiryo"/>
              </a:rPr>
              <a:t>障害物を横に
越えて往復</a:t>
            </a:r>
          </a:p>
        </p:txBody>
      </p:sp>
      <p:sp>
        <p:nvSpPr>
          <p:cNvPr id="61" name="Rectangle 60"/>
          <p:cNvSpPr/>
          <p:nvPr/>
        </p:nvSpPr>
        <p:spPr>
          <a:xfrm>
            <a:off x="9811512" y="3931920"/>
            <a:ext cx="2240280" cy="23317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9811512" y="3931920"/>
            <a:ext cx="2240280" cy="365760"/>
          </a:xfrm>
          <a:prstGeom prst="rect">
            <a:avLst/>
          </a:prstGeom>
          <a:solidFill>
            <a:srgbClr val="E74C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857232" y="3977639"/>
            <a:ext cx="640080" cy="292608"/>
          </a:xfrm>
          <a:prstGeom prst="rect">
            <a:avLst/>
          </a:prstGeom>
          <a:noFill/>
        </p:spPr>
        <p:txBody>
          <a:bodyPr wrap="square">
            <a:spAutoFit/>
          </a:bodyPr>
          <a:lstStyle/>
          <a:p>
            <a:pPr algn="l"/>
            <a:r>
              <a:rPr sz="1000" b="1">
                <a:solidFill>
                  <a:srgbClr val="FFFFFF"/>
                </a:solidFill>
                <a:latin typeface="Meiryo"/>
              </a:rPr>
              <a:t>18.19</a:t>
            </a:r>
          </a:p>
        </p:txBody>
      </p:sp>
      <p:sp>
        <p:nvSpPr>
          <p:cNvPr id="64" name="TextBox 63"/>
          <p:cNvSpPr txBox="1"/>
          <p:nvPr/>
        </p:nvSpPr>
        <p:spPr>
          <a:xfrm>
            <a:off x="11365992" y="3977639"/>
            <a:ext cx="640080" cy="292608"/>
          </a:xfrm>
          <a:prstGeom prst="rect">
            <a:avLst/>
          </a:prstGeom>
          <a:noFill/>
        </p:spPr>
        <p:txBody>
          <a:bodyPr wrap="square">
            <a:spAutoFit/>
          </a:bodyPr>
          <a:lstStyle/>
          <a:p>
            <a:pPr algn="r"/>
            <a:r>
              <a:rPr sz="1000" b="1">
                <a:solidFill>
                  <a:srgbClr val="FFFFFF"/>
                </a:solidFill>
                <a:latin typeface="Meiryo"/>
              </a:rPr>
              <a:t>高</a:t>
            </a:r>
          </a:p>
        </p:txBody>
      </p:sp>
      <p:sp>
        <p:nvSpPr>
          <p:cNvPr id="65" name="TextBox 64"/>
          <p:cNvSpPr txBox="1"/>
          <p:nvPr/>
        </p:nvSpPr>
        <p:spPr>
          <a:xfrm>
            <a:off x="9902952" y="4370831"/>
            <a:ext cx="2057400" cy="685800"/>
          </a:xfrm>
          <a:prstGeom prst="rect">
            <a:avLst/>
          </a:prstGeom>
          <a:noFill/>
        </p:spPr>
        <p:txBody>
          <a:bodyPr wrap="square">
            <a:spAutoFit/>
          </a:bodyPr>
          <a:lstStyle/>
          <a:p>
            <a:pPr algn="ctr"/>
            <a:r>
              <a:rPr sz="1100" b="1">
                <a:solidFill>
                  <a:srgbClr val="1A3A5C"/>
                </a:solidFill>
                <a:latin typeface="Meiryo"/>
              </a:rPr>
              <a:t>4ハードル
ドリル</a:t>
            </a:r>
          </a:p>
        </p:txBody>
      </p:sp>
      <p:sp>
        <p:nvSpPr>
          <p:cNvPr id="66" name="TextBox 65"/>
          <p:cNvSpPr txBox="1"/>
          <p:nvPr/>
        </p:nvSpPr>
        <p:spPr>
          <a:xfrm>
            <a:off x="9902952" y="5120640"/>
            <a:ext cx="2057400" cy="1005840"/>
          </a:xfrm>
          <a:prstGeom prst="rect">
            <a:avLst/>
          </a:prstGeom>
          <a:noFill/>
        </p:spPr>
        <p:txBody>
          <a:bodyPr wrap="square">
            <a:spAutoFit/>
          </a:bodyPr>
          <a:lstStyle/>
          <a:p>
            <a:pPr algn="ctr"/>
            <a:r>
              <a:rPr sz="1100" b="0">
                <a:solidFill>
                  <a:srgbClr val="7F8C8D"/>
                </a:solidFill>
                <a:latin typeface="Meiryo"/>
              </a:rPr>
              <a:t>片脚で側方へ
ハードルを越える</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88720"/>
          </a:xfrm>
          <a:prstGeom prst="rect">
            <a:avLst/>
          </a:prstGeom>
          <a:solidFill>
            <a:srgbClr val="1A3A5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720"/>
            <a:ext cx="12188952" cy="54864"/>
          </a:xfrm>
          <a:prstGeom prst="rect">
            <a:avLst/>
          </a:prstGeom>
          <a:solidFill>
            <a:srgbClr val="2E86C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09728"/>
            <a:ext cx="11430000" cy="777240"/>
          </a:xfrm>
          <a:prstGeom prst="rect">
            <a:avLst/>
          </a:prstGeom>
          <a:noFill/>
        </p:spPr>
        <p:txBody>
          <a:bodyPr wrap="square">
            <a:spAutoFit/>
          </a:bodyPr>
          <a:lstStyle/>
          <a:p>
            <a:pPr algn="l"/>
            <a:r>
              <a:rPr sz="2800" b="1">
                <a:solidFill>
                  <a:srgbClr val="FFFFFF"/>
                </a:solidFill>
                <a:latin typeface="Meiryo"/>
              </a:rPr>
              <a:t>下半身ドリル ③  バウンド</a:t>
            </a:r>
          </a:p>
        </p:txBody>
      </p:sp>
      <p:sp>
        <p:nvSpPr>
          <p:cNvPr id="6" name="TextBox 5"/>
          <p:cNvSpPr txBox="1"/>
          <p:nvPr/>
        </p:nvSpPr>
        <p:spPr>
          <a:xfrm>
            <a:off x="365760" y="804672"/>
            <a:ext cx="10972800" cy="365760"/>
          </a:xfrm>
          <a:prstGeom prst="rect">
            <a:avLst/>
          </a:prstGeom>
          <a:noFill/>
        </p:spPr>
        <p:txBody>
          <a:bodyPr wrap="square">
            <a:spAutoFit/>
          </a:bodyPr>
          <a:lstStyle/>
          <a:p>
            <a:pPr algn="l"/>
            <a:r>
              <a:rPr sz="1400" b="0">
                <a:solidFill>
                  <a:srgbClr val="AED6F1"/>
                </a:solidFill>
                <a:latin typeface="Meiryo"/>
              </a:rPr>
              <a:t>Bounds  |  強度：低〜中</a:t>
            </a:r>
          </a:p>
        </p:txBody>
      </p:sp>
      <p:sp>
        <p:nvSpPr>
          <p:cNvPr id="7" name="Rectangle 6"/>
          <p:cNvSpPr/>
          <p:nvPr/>
        </p:nvSpPr>
        <p:spPr>
          <a:xfrm>
            <a:off x="365760" y="1463040"/>
            <a:ext cx="1783080" cy="32004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463040"/>
            <a:ext cx="1783080" cy="411480"/>
          </a:xfrm>
          <a:prstGeom prst="rect">
            <a:avLst/>
          </a:prstGeom>
          <a:solidFill>
            <a:srgbClr val="27AE6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517904"/>
            <a:ext cx="640080" cy="320040"/>
          </a:xfrm>
          <a:prstGeom prst="rect">
            <a:avLst/>
          </a:prstGeom>
          <a:noFill/>
        </p:spPr>
        <p:txBody>
          <a:bodyPr wrap="square">
            <a:spAutoFit/>
          </a:bodyPr>
          <a:lstStyle/>
          <a:p>
            <a:pPr algn="l"/>
            <a:r>
              <a:rPr sz="1000" b="1">
                <a:solidFill>
                  <a:srgbClr val="FFFFFF"/>
                </a:solidFill>
                <a:latin typeface="Meiryo"/>
              </a:rPr>
              <a:t>18.20</a:t>
            </a:r>
          </a:p>
        </p:txBody>
      </p:sp>
      <p:sp>
        <p:nvSpPr>
          <p:cNvPr id="10" name="TextBox 9"/>
          <p:cNvSpPr txBox="1"/>
          <p:nvPr/>
        </p:nvSpPr>
        <p:spPr>
          <a:xfrm>
            <a:off x="1508760" y="1517904"/>
            <a:ext cx="594360" cy="320040"/>
          </a:xfrm>
          <a:prstGeom prst="rect">
            <a:avLst/>
          </a:prstGeom>
          <a:noFill/>
        </p:spPr>
        <p:txBody>
          <a:bodyPr wrap="square">
            <a:spAutoFit/>
          </a:bodyPr>
          <a:lstStyle/>
          <a:p>
            <a:pPr algn="r"/>
            <a:r>
              <a:rPr sz="1000" b="1">
                <a:solidFill>
                  <a:srgbClr val="FFFFFF"/>
                </a:solidFill>
                <a:latin typeface="Meiryo"/>
              </a:rPr>
              <a:t>低</a:t>
            </a:r>
          </a:p>
        </p:txBody>
      </p:sp>
      <p:sp>
        <p:nvSpPr>
          <p:cNvPr id="11" name="TextBox 10"/>
          <p:cNvSpPr txBox="1"/>
          <p:nvPr/>
        </p:nvSpPr>
        <p:spPr>
          <a:xfrm>
            <a:off x="411480" y="1965960"/>
            <a:ext cx="1691640" cy="685800"/>
          </a:xfrm>
          <a:prstGeom prst="rect">
            <a:avLst/>
          </a:prstGeom>
          <a:noFill/>
        </p:spPr>
        <p:txBody>
          <a:bodyPr wrap="square">
            <a:spAutoFit/>
          </a:bodyPr>
          <a:lstStyle/>
          <a:p>
            <a:pPr algn="ctr"/>
            <a:r>
              <a:rPr sz="1200" b="1">
                <a:solidFill>
                  <a:srgbClr val="1A3A5C"/>
                </a:solidFill>
                <a:latin typeface="Meiryo"/>
              </a:rPr>
              <a:t>スキップ</a:t>
            </a:r>
          </a:p>
        </p:txBody>
      </p:sp>
      <p:sp>
        <p:nvSpPr>
          <p:cNvPr id="12" name="TextBox 11"/>
          <p:cNvSpPr txBox="1"/>
          <p:nvPr/>
        </p:nvSpPr>
        <p:spPr>
          <a:xfrm>
            <a:off x="411480" y="2834640"/>
            <a:ext cx="1691640" cy="1371600"/>
          </a:xfrm>
          <a:prstGeom prst="rect">
            <a:avLst/>
          </a:prstGeom>
          <a:noFill/>
        </p:spPr>
        <p:txBody>
          <a:bodyPr wrap="square">
            <a:spAutoFit/>
          </a:bodyPr>
          <a:lstStyle/>
          <a:p>
            <a:pPr algn="ctr"/>
            <a:r>
              <a:rPr sz="1100" b="0">
                <a:solidFill>
                  <a:srgbClr val="7F8C8D"/>
                </a:solidFill>
                <a:latin typeface="Meiryo"/>
              </a:rPr>
              <a:t>片脚で上・前方へ
同じ脚で着地</a:t>
            </a:r>
          </a:p>
        </p:txBody>
      </p:sp>
      <p:sp>
        <p:nvSpPr>
          <p:cNvPr id="13" name="Rectangle 12"/>
          <p:cNvSpPr/>
          <p:nvPr/>
        </p:nvSpPr>
        <p:spPr>
          <a:xfrm>
            <a:off x="2286000" y="1463040"/>
            <a:ext cx="1783080" cy="32004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286000" y="1463040"/>
            <a:ext cx="1783080" cy="411480"/>
          </a:xfrm>
          <a:prstGeom prst="rect">
            <a:avLst/>
          </a:prstGeom>
          <a:solidFill>
            <a:srgbClr val="27AE6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31720" y="1517904"/>
            <a:ext cx="640080" cy="320040"/>
          </a:xfrm>
          <a:prstGeom prst="rect">
            <a:avLst/>
          </a:prstGeom>
          <a:noFill/>
        </p:spPr>
        <p:txBody>
          <a:bodyPr wrap="square">
            <a:spAutoFit/>
          </a:bodyPr>
          <a:lstStyle/>
          <a:p>
            <a:pPr algn="l"/>
            <a:r>
              <a:rPr sz="1000" b="1">
                <a:solidFill>
                  <a:srgbClr val="FFFFFF"/>
                </a:solidFill>
                <a:latin typeface="Meiryo"/>
              </a:rPr>
              <a:t>18.21</a:t>
            </a:r>
          </a:p>
        </p:txBody>
      </p:sp>
      <p:sp>
        <p:nvSpPr>
          <p:cNvPr id="16" name="TextBox 15"/>
          <p:cNvSpPr txBox="1"/>
          <p:nvPr/>
        </p:nvSpPr>
        <p:spPr>
          <a:xfrm>
            <a:off x="3429000" y="1517904"/>
            <a:ext cx="594360" cy="320040"/>
          </a:xfrm>
          <a:prstGeom prst="rect">
            <a:avLst/>
          </a:prstGeom>
          <a:noFill/>
        </p:spPr>
        <p:txBody>
          <a:bodyPr wrap="square">
            <a:spAutoFit/>
          </a:bodyPr>
          <a:lstStyle/>
          <a:p>
            <a:pPr algn="r"/>
            <a:r>
              <a:rPr sz="1000" b="1">
                <a:solidFill>
                  <a:srgbClr val="FFFFFF"/>
                </a:solidFill>
                <a:latin typeface="Meiryo"/>
              </a:rPr>
              <a:t>低</a:t>
            </a:r>
          </a:p>
        </p:txBody>
      </p:sp>
      <p:sp>
        <p:nvSpPr>
          <p:cNvPr id="17" name="TextBox 16"/>
          <p:cNvSpPr txBox="1"/>
          <p:nvPr/>
        </p:nvSpPr>
        <p:spPr>
          <a:xfrm>
            <a:off x="2331720" y="1965960"/>
            <a:ext cx="1691640" cy="685800"/>
          </a:xfrm>
          <a:prstGeom prst="rect">
            <a:avLst/>
          </a:prstGeom>
          <a:noFill/>
        </p:spPr>
        <p:txBody>
          <a:bodyPr wrap="square">
            <a:spAutoFit/>
          </a:bodyPr>
          <a:lstStyle/>
          <a:p>
            <a:pPr algn="ctr"/>
            <a:r>
              <a:rPr sz="1200" b="1">
                <a:solidFill>
                  <a:srgbClr val="1A3A5C"/>
                </a:solidFill>
                <a:latin typeface="Meiryo"/>
              </a:rPr>
              <a:t>パワースキップ</a:t>
            </a:r>
          </a:p>
        </p:txBody>
      </p:sp>
      <p:sp>
        <p:nvSpPr>
          <p:cNvPr id="18" name="TextBox 17"/>
          <p:cNvSpPr txBox="1"/>
          <p:nvPr/>
        </p:nvSpPr>
        <p:spPr>
          <a:xfrm>
            <a:off x="2331720" y="2834640"/>
            <a:ext cx="1691640" cy="1371600"/>
          </a:xfrm>
          <a:prstGeom prst="rect">
            <a:avLst/>
          </a:prstGeom>
          <a:noFill/>
        </p:spPr>
        <p:txBody>
          <a:bodyPr wrap="square">
            <a:spAutoFit/>
          </a:bodyPr>
          <a:lstStyle/>
          <a:p>
            <a:pPr algn="ctr"/>
            <a:r>
              <a:rPr sz="1100" b="0">
                <a:solidFill>
                  <a:srgbClr val="7F8C8D"/>
                </a:solidFill>
                <a:latin typeface="Meiryo"/>
              </a:rPr>
              <a:t>反対脚を大きく
引き上げる</a:t>
            </a:r>
          </a:p>
        </p:txBody>
      </p:sp>
      <p:sp>
        <p:nvSpPr>
          <p:cNvPr id="19" name="Rectangle 18"/>
          <p:cNvSpPr/>
          <p:nvPr/>
        </p:nvSpPr>
        <p:spPr>
          <a:xfrm>
            <a:off x="4206240" y="1463040"/>
            <a:ext cx="1783080" cy="32004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06240" y="1463040"/>
            <a:ext cx="1783080" cy="411480"/>
          </a:xfrm>
          <a:prstGeom prst="rect">
            <a:avLst/>
          </a:prstGeom>
          <a:solidFill>
            <a:srgbClr val="27AE6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51960" y="1517904"/>
            <a:ext cx="640080" cy="320040"/>
          </a:xfrm>
          <a:prstGeom prst="rect">
            <a:avLst/>
          </a:prstGeom>
          <a:noFill/>
        </p:spPr>
        <p:txBody>
          <a:bodyPr wrap="square">
            <a:spAutoFit/>
          </a:bodyPr>
          <a:lstStyle/>
          <a:p>
            <a:pPr algn="l"/>
            <a:r>
              <a:rPr sz="1000" b="1">
                <a:solidFill>
                  <a:srgbClr val="FFFFFF"/>
                </a:solidFill>
                <a:latin typeface="Meiryo"/>
              </a:rPr>
              <a:t>18.22</a:t>
            </a:r>
          </a:p>
        </p:txBody>
      </p:sp>
      <p:sp>
        <p:nvSpPr>
          <p:cNvPr id="22" name="TextBox 21"/>
          <p:cNvSpPr txBox="1"/>
          <p:nvPr/>
        </p:nvSpPr>
        <p:spPr>
          <a:xfrm>
            <a:off x="5349240" y="1517904"/>
            <a:ext cx="594360" cy="320040"/>
          </a:xfrm>
          <a:prstGeom prst="rect">
            <a:avLst/>
          </a:prstGeom>
          <a:noFill/>
        </p:spPr>
        <p:txBody>
          <a:bodyPr wrap="square">
            <a:spAutoFit/>
          </a:bodyPr>
          <a:lstStyle/>
          <a:p>
            <a:pPr algn="r"/>
            <a:r>
              <a:rPr sz="1000" b="1">
                <a:solidFill>
                  <a:srgbClr val="FFFFFF"/>
                </a:solidFill>
                <a:latin typeface="Meiryo"/>
              </a:rPr>
              <a:t>低</a:t>
            </a:r>
          </a:p>
        </p:txBody>
      </p:sp>
      <p:sp>
        <p:nvSpPr>
          <p:cNvPr id="23" name="TextBox 22"/>
          <p:cNvSpPr txBox="1"/>
          <p:nvPr/>
        </p:nvSpPr>
        <p:spPr>
          <a:xfrm>
            <a:off x="4251960" y="1965960"/>
            <a:ext cx="1691640" cy="685800"/>
          </a:xfrm>
          <a:prstGeom prst="rect">
            <a:avLst/>
          </a:prstGeom>
          <a:noFill/>
        </p:spPr>
        <p:txBody>
          <a:bodyPr wrap="square">
            <a:spAutoFit/>
          </a:bodyPr>
          <a:lstStyle/>
          <a:p>
            <a:pPr algn="ctr"/>
            <a:r>
              <a:rPr sz="1200" b="1">
                <a:solidFill>
                  <a:srgbClr val="1A3A5C"/>
                </a:solidFill>
                <a:latin typeface="Meiryo"/>
              </a:rPr>
              <a:t>バックワード
スキップ</a:t>
            </a:r>
          </a:p>
        </p:txBody>
      </p:sp>
      <p:sp>
        <p:nvSpPr>
          <p:cNvPr id="24" name="TextBox 23"/>
          <p:cNvSpPr txBox="1"/>
          <p:nvPr/>
        </p:nvSpPr>
        <p:spPr>
          <a:xfrm>
            <a:off x="4251960" y="2834640"/>
            <a:ext cx="1691640" cy="1371600"/>
          </a:xfrm>
          <a:prstGeom prst="rect">
            <a:avLst/>
          </a:prstGeom>
          <a:noFill/>
        </p:spPr>
        <p:txBody>
          <a:bodyPr wrap="square">
            <a:spAutoFit/>
          </a:bodyPr>
          <a:lstStyle/>
          <a:p>
            <a:pPr algn="ctr"/>
            <a:r>
              <a:rPr sz="1100" b="0">
                <a:solidFill>
                  <a:srgbClr val="7F8C8D"/>
                </a:solidFill>
                <a:latin typeface="Meiryo"/>
              </a:rPr>
              <a:t>後方への
スキップ</a:t>
            </a:r>
          </a:p>
        </p:txBody>
      </p:sp>
      <p:sp>
        <p:nvSpPr>
          <p:cNvPr id="25" name="Rectangle 24"/>
          <p:cNvSpPr/>
          <p:nvPr/>
        </p:nvSpPr>
        <p:spPr>
          <a:xfrm>
            <a:off x="6126480" y="1463040"/>
            <a:ext cx="1783080" cy="32004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26480" y="1463040"/>
            <a:ext cx="1783080" cy="411480"/>
          </a:xfrm>
          <a:prstGeom prst="rect">
            <a:avLst/>
          </a:prstGeom>
          <a:solidFill>
            <a:srgbClr val="F39C1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72200" y="1517904"/>
            <a:ext cx="640080" cy="320040"/>
          </a:xfrm>
          <a:prstGeom prst="rect">
            <a:avLst/>
          </a:prstGeom>
          <a:noFill/>
        </p:spPr>
        <p:txBody>
          <a:bodyPr wrap="square">
            <a:spAutoFit/>
          </a:bodyPr>
          <a:lstStyle/>
          <a:p>
            <a:pPr algn="l"/>
            <a:r>
              <a:rPr sz="1000" b="1">
                <a:solidFill>
                  <a:srgbClr val="FFFFFF"/>
                </a:solidFill>
                <a:latin typeface="Meiryo"/>
              </a:rPr>
              <a:t>18.23</a:t>
            </a:r>
          </a:p>
        </p:txBody>
      </p:sp>
      <p:sp>
        <p:nvSpPr>
          <p:cNvPr id="28" name="TextBox 27"/>
          <p:cNvSpPr txBox="1"/>
          <p:nvPr/>
        </p:nvSpPr>
        <p:spPr>
          <a:xfrm>
            <a:off x="7269480" y="1517904"/>
            <a:ext cx="594360" cy="320040"/>
          </a:xfrm>
          <a:prstGeom prst="rect">
            <a:avLst/>
          </a:prstGeom>
          <a:noFill/>
        </p:spPr>
        <p:txBody>
          <a:bodyPr wrap="square">
            <a:spAutoFit/>
          </a:bodyPr>
          <a:lstStyle/>
          <a:p>
            <a:pPr algn="r"/>
            <a:r>
              <a:rPr sz="1000" b="1">
                <a:solidFill>
                  <a:srgbClr val="FFFFFF"/>
                </a:solidFill>
                <a:latin typeface="Meiryo"/>
              </a:rPr>
              <a:t>中</a:t>
            </a:r>
          </a:p>
        </p:txBody>
      </p:sp>
      <p:sp>
        <p:nvSpPr>
          <p:cNvPr id="29" name="TextBox 28"/>
          <p:cNvSpPr txBox="1"/>
          <p:nvPr/>
        </p:nvSpPr>
        <p:spPr>
          <a:xfrm>
            <a:off x="6172200" y="1965960"/>
            <a:ext cx="1691640" cy="685800"/>
          </a:xfrm>
          <a:prstGeom prst="rect">
            <a:avLst/>
          </a:prstGeom>
          <a:noFill/>
        </p:spPr>
        <p:txBody>
          <a:bodyPr wrap="square">
            <a:spAutoFit/>
          </a:bodyPr>
          <a:lstStyle/>
          <a:p>
            <a:pPr algn="ctr"/>
            <a:r>
              <a:rPr sz="1200" b="1">
                <a:solidFill>
                  <a:srgbClr val="1A3A5C"/>
                </a:solidFill>
                <a:latin typeface="Meiryo"/>
              </a:rPr>
              <a:t>サイドスキップ</a:t>
            </a:r>
          </a:p>
        </p:txBody>
      </p:sp>
      <p:sp>
        <p:nvSpPr>
          <p:cNvPr id="30" name="TextBox 29"/>
          <p:cNvSpPr txBox="1"/>
          <p:nvPr/>
        </p:nvSpPr>
        <p:spPr>
          <a:xfrm>
            <a:off x="6172200" y="2834640"/>
            <a:ext cx="1691640" cy="1371600"/>
          </a:xfrm>
          <a:prstGeom prst="rect">
            <a:avLst/>
          </a:prstGeom>
          <a:noFill/>
        </p:spPr>
        <p:txBody>
          <a:bodyPr wrap="square">
            <a:spAutoFit/>
          </a:bodyPr>
          <a:lstStyle/>
          <a:p>
            <a:pPr algn="ctr"/>
            <a:r>
              <a:rPr sz="1100" b="0">
                <a:solidFill>
                  <a:srgbClr val="7F8C8D"/>
                </a:solidFill>
                <a:latin typeface="Meiryo"/>
              </a:rPr>
              <a:t>上方・側方への
スキップ</a:t>
            </a:r>
          </a:p>
        </p:txBody>
      </p:sp>
      <p:sp>
        <p:nvSpPr>
          <p:cNvPr id="31" name="Rectangle 30"/>
          <p:cNvSpPr/>
          <p:nvPr/>
        </p:nvSpPr>
        <p:spPr>
          <a:xfrm>
            <a:off x="8046720" y="1463040"/>
            <a:ext cx="1783080" cy="32004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46720" y="1463040"/>
            <a:ext cx="1783080" cy="411480"/>
          </a:xfrm>
          <a:prstGeom prst="rect">
            <a:avLst/>
          </a:prstGeom>
          <a:solidFill>
            <a:srgbClr val="F39C1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92440" y="1517904"/>
            <a:ext cx="640080" cy="320040"/>
          </a:xfrm>
          <a:prstGeom prst="rect">
            <a:avLst/>
          </a:prstGeom>
          <a:noFill/>
        </p:spPr>
        <p:txBody>
          <a:bodyPr wrap="square">
            <a:spAutoFit/>
          </a:bodyPr>
          <a:lstStyle/>
          <a:p>
            <a:pPr algn="l"/>
            <a:r>
              <a:rPr sz="1000" b="1">
                <a:solidFill>
                  <a:srgbClr val="FFFFFF"/>
                </a:solidFill>
                <a:latin typeface="Meiryo"/>
              </a:rPr>
              <a:t>18.24</a:t>
            </a:r>
          </a:p>
        </p:txBody>
      </p:sp>
      <p:sp>
        <p:nvSpPr>
          <p:cNvPr id="34" name="TextBox 33"/>
          <p:cNvSpPr txBox="1"/>
          <p:nvPr/>
        </p:nvSpPr>
        <p:spPr>
          <a:xfrm>
            <a:off x="9189720" y="1517904"/>
            <a:ext cx="594360" cy="320040"/>
          </a:xfrm>
          <a:prstGeom prst="rect">
            <a:avLst/>
          </a:prstGeom>
          <a:noFill/>
        </p:spPr>
        <p:txBody>
          <a:bodyPr wrap="square">
            <a:spAutoFit/>
          </a:bodyPr>
          <a:lstStyle/>
          <a:p>
            <a:pPr algn="r"/>
            <a:r>
              <a:rPr sz="1000" b="1">
                <a:solidFill>
                  <a:srgbClr val="FFFFFF"/>
                </a:solidFill>
                <a:latin typeface="Meiryo"/>
              </a:rPr>
              <a:t>中</a:t>
            </a:r>
          </a:p>
        </p:txBody>
      </p:sp>
      <p:sp>
        <p:nvSpPr>
          <p:cNvPr id="35" name="TextBox 34"/>
          <p:cNvSpPr txBox="1"/>
          <p:nvPr/>
        </p:nvSpPr>
        <p:spPr>
          <a:xfrm>
            <a:off x="8092440" y="1965960"/>
            <a:ext cx="1691640" cy="685800"/>
          </a:xfrm>
          <a:prstGeom prst="rect">
            <a:avLst/>
          </a:prstGeom>
          <a:noFill/>
        </p:spPr>
        <p:txBody>
          <a:bodyPr wrap="square">
            <a:spAutoFit/>
          </a:bodyPr>
          <a:lstStyle/>
          <a:p>
            <a:pPr algn="ctr"/>
            <a:r>
              <a:rPr sz="1200" b="1">
                <a:solidFill>
                  <a:srgbClr val="1A3A5C"/>
                </a:solidFill>
                <a:latin typeface="Meiryo"/>
              </a:rPr>
              <a:t>シングルアーム
交互バウンド</a:t>
            </a:r>
          </a:p>
        </p:txBody>
      </p:sp>
      <p:sp>
        <p:nvSpPr>
          <p:cNvPr id="36" name="TextBox 35"/>
          <p:cNvSpPr txBox="1"/>
          <p:nvPr/>
        </p:nvSpPr>
        <p:spPr>
          <a:xfrm>
            <a:off x="8092440" y="2834640"/>
            <a:ext cx="1691640" cy="1371600"/>
          </a:xfrm>
          <a:prstGeom prst="rect">
            <a:avLst/>
          </a:prstGeom>
          <a:noFill/>
        </p:spPr>
        <p:txBody>
          <a:bodyPr wrap="square">
            <a:spAutoFit/>
          </a:bodyPr>
          <a:lstStyle/>
          <a:p>
            <a:pPr algn="ctr"/>
            <a:r>
              <a:rPr sz="1100" b="0">
                <a:solidFill>
                  <a:srgbClr val="7F8C8D"/>
                </a:solidFill>
                <a:latin typeface="Meiryo"/>
              </a:rPr>
              <a:t>片腕を前へ
1歩を大きく</a:t>
            </a:r>
          </a:p>
        </p:txBody>
      </p:sp>
      <p:sp>
        <p:nvSpPr>
          <p:cNvPr id="37" name="Rectangle 36"/>
          <p:cNvSpPr/>
          <p:nvPr/>
        </p:nvSpPr>
        <p:spPr>
          <a:xfrm>
            <a:off x="9966960" y="1463040"/>
            <a:ext cx="1783080" cy="32004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966960" y="1463040"/>
            <a:ext cx="1783080" cy="411480"/>
          </a:xfrm>
          <a:prstGeom prst="rect">
            <a:avLst/>
          </a:prstGeom>
          <a:solidFill>
            <a:srgbClr val="F39C1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012680" y="1517904"/>
            <a:ext cx="640080" cy="320040"/>
          </a:xfrm>
          <a:prstGeom prst="rect">
            <a:avLst/>
          </a:prstGeom>
          <a:noFill/>
        </p:spPr>
        <p:txBody>
          <a:bodyPr wrap="square">
            <a:spAutoFit/>
          </a:bodyPr>
          <a:lstStyle/>
          <a:p>
            <a:pPr algn="l"/>
            <a:r>
              <a:rPr sz="1000" b="1">
                <a:solidFill>
                  <a:srgbClr val="FFFFFF"/>
                </a:solidFill>
                <a:latin typeface="Meiryo"/>
              </a:rPr>
              <a:t>18.25</a:t>
            </a:r>
          </a:p>
        </p:txBody>
      </p:sp>
      <p:sp>
        <p:nvSpPr>
          <p:cNvPr id="40" name="TextBox 39"/>
          <p:cNvSpPr txBox="1"/>
          <p:nvPr/>
        </p:nvSpPr>
        <p:spPr>
          <a:xfrm>
            <a:off x="11109960" y="1517904"/>
            <a:ext cx="594360" cy="320040"/>
          </a:xfrm>
          <a:prstGeom prst="rect">
            <a:avLst/>
          </a:prstGeom>
          <a:noFill/>
        </p:spPr>
        <p:txBody>
          <a:bodyPr wrap="square">
            <a:spAutoFit/>
          </a:bodyPr>
          <a:lstStyle/>
          <a:p>
            <a:pPr algn="r"/>
            <a:r>
              <a:rPr sz="1000" b="1">
                <a:solidFill>
                  <a:srgbClr val="FFFFFF"/>
                </a:solidFill>
                <a:latin typeface="Meiryo"/>
              </a:rPr>
              <a:t>中</a:t>
            </a:r>
          </a:p>
        </p:txBody>
      </p:sp>
      <p:sp>
        <p:nvSpPr>
          <p:cNvPr id="41" name="TextBox 40"/>
          <p:cNvSpPr txBox="1"/>
          <p:nvPr/>
        </p:nvSpPr>
        <p:spPr>
          <a:xfrm>
            <a:off x="10012680" y="1965960"/>
            <a:ext cx="1691640" cy="685800"/>
          </a:xfrm>
          <a:prstGeom prst="rect">
            <a:avLst/>
          </a:prstGeom>
          <a:noFill/>
        </p:spPr>
        <p:txBody>
          <a:bodyPr wrap="square">
            <a:spAutoFit/>
          </a:bodyPr>
          <a:lstStyle/>
          <a:p>
            <a:pPr algn="ctr"/>
            <a:r>
              <a:rPr sz="1200" b="1">
                <a:solidFill>
                  <a:srgbClr val="1A3A5C"/>
                </a:solidFill>
                <a:latin typeface="Meiryo"/>
              </a:rPr>
              <a:t>ダブルアーム
交互バウンド</a:t>
            </a:r>
          </a:p>
        </p:txBody>
      </p:sp>
      <p:sp>
        <p:nvSpPr>
          <p:cNvPr id="42" name="TextBox 41"/>
          <p:cNvSpPr txBox="1"/>
          <p:nvPr/>
        </p:nvSpPr>
        <p:spPr>
          <a:xfrm>
            <a:off x="10012680" y="2834640"/>
            <a:ext cx="1691640" cy="1371600"/>
          </a:xfrm>
          <a:prstGeom prst="rect">
            <a:avLst/>
          </a:prstGeom>
          <a:noFill/>
        </p:spPr>
        <p:txBody>
          <a:bodyPr wrap="square">
            <a:spAutoFit/>
          </a:bodyPr>
          <a:lstStyle/>
          <a:p>
            <a:pPr algn="ctr"/>
            <a:r>
              <a:rPr sz="1100" b="0">
                <a:solidFill>
                  <a:srgbClr val="7F8C8D"/>
                </a:solidFill>
                <a:latin typeface="Meiryo"/>
              </a:rPr>
              <a:t>両腕を前へ
1歩を大きく</a:t>
            </a:r>
          </a:p>
        </p:txBody>
      </p:sp>
      <p:sp>
        <p:nvSpPr>
          <p:cNvPr id="43" name="Rectangle 42"/>
          <p:cNvSpPr/>
          <p:nvPr/>
        </p:nvSpPr>
        <p:spPr>
          <a:xfrm>
            <a:off x="274320" y="4892040"/>
            <a:ext cx="11640312" cy="169164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274320" y="4892040"/>
            <a:ext cx="11640312" cy="365760"/>
          </a:xfrm>
          <a:prstGeom prst="rect">
            <a:avLst/>
          </a:prstGeom>
          <a:solidFill>
            <a:srgbClr val="8E44AD"/>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7200" y="4937760"/>
            <a:ext cx="7315200" cy="320040"/>
          </a:xfrm>
          <a:prstGeom prst="rect">
            <a:avLst/>
          </a:prstGeom>
          <a:noFill/>
        </p:spPr>
        <p:txBody>
          <a:bodyPr wrap="square">
            <a:spAutoFit/>
          </a:bodyPr>
          <a:lstStyle/>
          <a:p>
            <a:pPr algn="l"/>
            <a:r>
              <a:rPr sz="1300" b="1">
                <a:solidFill>
                  <a:srgbClr val="FFFFFF"/>
                </a:solidFill>
                <a:latin typeface="Meiryo"/>
              </a:rPr>
              <a:t>バウンドの特徴</a:t>
            </a:r>
          </a:p>
        </p:txBody>
      </p:sp>
      <p:sp>
        <p:nvSpPr>
          <p:cNvPr id="46" name="TextBox 45"/>
          <p:cNvSpPr txBox="1"/>
          <p:nvPr/>
        </p:nvSpPr>
        <p:spPr>
          <a:xfrm>
            <a:off x="457200" y="5349240"/>
            <a:ext cx="11247120" cy="1188720"/>
          </a:xfrm>
          <a:prstGeom prst="rect">
            <a:avLst/>
          </a:prstGeom>
          <a:noFill/>
        </p:spPr>
        <p:txBody>
          <a:bodyPr wrap="square">
            <a:spAutoFit/>
          </a:bodyPr>
          <a:lstStyle/>
          <a:p>
            <a:pPr algn="l"/>
            <a:r>
              <a:rPr sz="1300" b="0">
                <a:solidFill>
                  <a:srgbClr val="1A3A5C"/>
                </a:solidFill>
                <a:latin typeface="Meiryo"/>
              </a:rPr>
              <a:t>● ほかのドリルより水平方向のスピードを強調した動き（ランニング動作を強調）
● 量は距離で数えるのが一般的（例：ダブルレッグ・バウンドを30mから始めて100mへ）
● 通常30m以上の直線で行う</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88720"/>
          </a:xfrm>
          <a:prstGeom prst="rect">
            <a:avLst/>
          </a:prstGeom>
          <a:solidFill>
            <a:srgbClr val="1A3A5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720"/>
            <a:ext cx="12188952" cy="54864"/>
          </a:xfrm>
          <a:prstGeom prst="rect">
            <a:avLst/>
          </a:prstGeom>
          <a:solidFill>
            <a:srgbClr val="2E86C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09728"/>
            <a:ext cx="11430000" cy="777240"/>
          </a:xfrm>
          <a:prstGeom prst="rect">
            <a:avLst/>
          </a:prstGeom>
          <a:noFill/>
        </p:spPr>
        <p:txBody>
          <a:bodyPr wrap="square">
            <a:spAutoFit/>
          </a:bodyPr>
          <a:lstStyle/>
          <a:p>
            <a:pPr algn="l"/>
            <a:r>
              <a:rPr sz="2800" b="1">
                <a:solidFill>
                  <a:srgbClr val="FFFFFF"/>
                </a:solidFill>
                <a:latin typeface="Meiryo"/>
              </a:rPr>
              <a:t>下半身ドリル ④  ボックスドリル</a:t>
            </a:r>
          </a:p>
        </p:txBody>
      </p:sp>
      <p:sp>
        <p:nvSpPr>
          <p:cNvPr id="6" name="TextBox 5"/>
          <p:cNvSpPr txBox="1"/>
          <p:nvPr/>
        </p:nvSpPr>
        <p:spPr>
          <a:xfrm>
            <a:off x="365760" y="804672"/>
            <a:ext cx="10972800" cy="365760"/>
          </a:xfrm>
          <a:prstGeom prst="rect">
            <a:avLst/>
          </a:prstGeom>
          <a:noFill/>
        </p:spPr>
        <p:txBody>
          <a:bodyPr wrap="square">
            <a:spAutoFit/>
          </a:bodyPr>
          <a:lstStyle/>
          <a:p>
            <a:pPr algn="l"/>
            <a:r>
              <a:rPr sz="1400" b="0">
                <a:solidFill>
                  <a:srgbClr val="AED6F1"/>
                </a:solidFill>
                <a:latin typeface="Meiryo"/>
              </a:rPr>
              <a:t>Box Drills  |  強度：低〜高　※最初は低い高さ（15cm、ドロップフリーズは30cm）から</a:t>
            </a:r>
          </a:p>
        </p:txBody>
      </p:sp>
      <p:sp>
        <p:nvSpPr>
          <p:cNvPr id="7" name="Rectangle 6"/>
          <p:cNvSpPr/>
          <p:nvPr/>
        </p:nvSpPr>
        <p:spPr>
          <a:xfrm>
            <a:off x="228600" y="1417320"/>
            <a:ext cx="2240280" cy="23317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8600" y="1417320"/>
            <a:ext cx="2240280" cy="365760"/>
          </a:xfrm>
          <a:prstGeom prst="rect">
            <a:avLst/>
          </a:prstGeom>
          <a:solidFill>
            <a:srgbClr val="27AE6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1463040"/>
            <a:ext cx="640080" cy="292608"/>
          </a:xfrm>
          <a:prstGeom prst="rect">
            <a:avLst/>
          </a:prstGeom>
          <a:noFill/>
        </p:spPr>
        <p:txBody>
          <a:bodyPr wrap="square">
            <a:spAutoFit/>
          </a:bodyPr>
          <a:lstStyle/>
          <a:p>
            <a:pPr algn="l"/>
            <a:r>
              <a:rPr sz="1000" b="1">
                <a:solidFill>
                  <a:srgbClr val="FFFFFF"/>
                </a:solidFill>
                <a:latin typeface="Meiryo"/>
              </a:rPr>
              <a:t>18.26</a:t>
            </a:r>
          </a:p>
        </p:txBody>
      </p:sp>
      <p:sp>
        <p:nvSpPr>
          <p:cNvPr id="10" name="TextBox 9"/>
          <p:cNvSpPr txBox="1"/>
          <p:nvPr/>
        </p:nvSpPr>
        <p:spPr>
          <a:xfrm>
            <a:off x="1783080" y="1463040"/>
            <a:ext cx="640080" cy="292608"/>
          </a:xfrm>
          <a:prstGeom prst="rect">
            <a:avLst/>
          </a:prstGeom>
          <a:noFill/>
        </p:spPr>
        <p:txBody>
          <a:bodyPr wrap="square">
            <a:spAutoFit/>
          </a:bodyPr>
          <a:lstStyle/>
          <a:p>
            <a:pPr algn="r"/>
            <a:r>
              <a:rPr sz="1000" b="1">
                <a:solidFill>
                  <a:srgbClr val="FFFFFF"/>
                </a:solidFill>
                <a:latin typeface="Meiryo"/>
              </a:rPr>
              <a:t>低</a:t>
            </a:r>
          </a:p>
        </p:txBody>
      </p:sp>
      <p:sp>
        <p:nvSpPr>
          <p:cNvPr id="11" name="TextBox 10"/>
          <p:cNvSpPr txBox="1"/>
          <p:nvPr/>
        </p:nvSpPr>
        <p:spPr>
          <a:xfrm>
            <a:off x="320040" y="1856232"/>
            <a:ext cx="2057400" cy="685800"/>
          </a:xfrm>
          <a:prstGeom prst="rect">
            <a:avLst/>
          </a:prstGeom>
          <a:noFill/>
        </p:spPr>
        <p:txBody>
          <a:bodyPr wrap="square">
            <a:spAutoFit/>
          </a:bodyPr>
          <a:lstStyle/>
          <a:p>
            <a:pPr algn="ctr"/>
            <a:r>
              <a:rPr sz="1200" b="1">
                <a:solidFill>
                  <a:srgbClr val="1A3A5C"/>
                </a:solidFill>
                <a:latin typeface="Meiryo"/>
              </a:rPr>
              <a:t>シングルレッグ
プッシュオフ</a:t>
            </a:r>
          </a:p>
        </p:txBody>
      </p:sp>
      <p:sp>
        <p:nvSpPr>
          <p:cNvPr id="12" name="TextBox 11"/>
          <p:cNvSpPr txBox="1"/>
          <p:nvPr/>
        </p:nvSpPr>
        <p:spPr>
          <a:xfrm>
            <a:off x="320040" y="2606040"/>
            <a:ext cx="2057400" cy="1005840"/>
          </a:xfrm>
          <a:prstGeom prst="rect">
            <a:avLst/>
          </a:prstGeom>
          <a:noFill/>
        </p:spPr>
        <p:txBody>
          <a:bodyPr wrap="square">
            <a:spAutoFit/>
          </a:bodyPr>
          <a:lstStyle/>
          <a:p>
            <a:pPr algn="ctr"/>
            <a:r>
              <a:rPr sz="1100" b="0">
                <a:solidFill>
                  <a:srgbClr val="7F8C8D"/>
                </a:solidFill>
                <a:latin typeface="Meiryo"/>
              </a:rPr>
              <a:t>ボックス上の足で
踏み切る（15〜46cm）</a:t>
            </a:r>
          </a:p>
        </p:txBody>
      </p:sp>
      <p:sp>
        <p:nvSpPr>
          <p:cNvPr id="13" name="Rectangle 12"/>
          <p:cNvSpPr/>
          <p:nvPr/>
        </p:nvSpPr>
        <p:spPr>
          <a:xfrm>
            <a:off x="2624328" y="1417320"/>
            <a:ext cx="2240280" cy="23317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24328" y="1417320"/>
            <a:ext cx="2240280" cy="365760"/>
          </a:xfrm>
          <a:prstGeom prst="rect">
            <a:avLst/>
          </a:prstGeom>
          <a:solidFill>
            <a:srgbClr val="27AE6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70048" y="1463040"/>
            <a:ext cx="640080" cy="292608"/>
          </a:xfrm>
          <a:prstGeom prst="rect">
            <a:avLst/>
          </a:prstGeom>
          <a:noFill/>
        </p:spPr>
        <p:txBody>
          <a:bodyPr wrap="square">
            <a:spAutoFit/>
          </a:bodyPr>
          <a:lstStyle/>
          <a:p>
            <a:pPr algn="l"/>
            <a:r>
              <a:rPr sz="1000" b="1">
                <a:solidFill>
                  <a:srgbClr val="FFFFFF"/>
                </a:solidFill>
                <a:latin typeface="Meiryo"/>
              </a:rPr>
              <a:t>18.27</a:t>
            </a:r>
          </a:p>
        </p:txBody>
      </p:sp>
      <p:sp>
        <p:nvSpPr>
          <p:cNvPr id="16" name="TextBox 15"/>
          <p:cNvSpPr txBox="1"/>
          <p:nvPr/>
        </p:nvSpPr>
        <p:spPr>
          <a:xfrm>
            <a:off x="4178808" y="1463040"/>
            <a:ext cx="640080" cy="292608"/>
          </a:xfrm>
          <a:prstGeom prst="rect">
            <a:avLst/>
          </a:prstGeom>
          <a:noFill/>
        </p:spPr>
        <p:txBody>
          <a:bodyPr wrap="square">
            <a:spAutoFit/>
          </a:bodyPr>
          <a:lstStyle/>
          <a:p>
            <a:pPr algn="r"/>
            <a:r>
              <a:rPr sz="1000" b="1">
                <a:solidFill>
                  <a:srgbClr val="FFFFFF"/>
                </a:solidFill>
                <a:latin typeface="Meiryo"/>
              </a:rPr>
              <a:t>低</a:t>
            </a:r>
          </a:p>
        </p:txBody>
      </p:sp>
      <p:sp>
        <p:nvSpPr>
          <p:cNvPr id="17" name="TextBox 16"/>
          <p:cNvSpPr txBox="1"/>
          <p:nvPr/>
        </p:nvSpPr>
        <p:spPr>
          <a:xfrm>
            <a:off x="2715768" y="1856232"/>
            <a:ext cx="2057400" cy="685800"/>
          </a:xfrm>
          <a:prstGeom prst="rect">
            <a:avLst/>
          </a:prstGeom>
          <a:noFill/>
        </p:spPr>
        <p:txBody>
          <a:bodyPr wrap="square">
            <a:spAutoFit/>
          </a:bodyPr>
          <a:lstStyle/>
          <a:p>
            <a:pPr algn="ctr"/>
            <a:r>
              <a:rPr sz="1200" b="1">
                <a:solidFill>
                  <a:srgbClr val="1A3A5C"/>
                </a:solidFill>
                <a:latin typeface="Meiryo"/>
              </a:rPr>
              <a:t>交互
プッシュオフ</a:t>
            </a:r>
          </a:p>
        </p:txBody>
      </p:sp>
      <p:sp>
        <p:nvSpPr>
          <p:cNvPr id="18" name="TextBox 17"/>
          <p:cNvSpPr txBox="1"/>
          <p:nvPr/>
        </p:nvSpPr>
        <p:spPr>
          <a:xfrm>
            <a:off x="2715768" y="2606040"/>
            <a:ext cx="2057400" cy="1005840"/>
          </a:xfrm>
          <a:prstGeom prst="rect">
            <a:avLst/>
          </a:prstGeom>
          <a:noFill/>
        </p:spPr>
        <p:txBody>
          <a:bodyPr wrap="square">
            <a:spAutoFit/>
          </a:bodyPr>
          <a:lstStyle/>
          <a:p>
            <a:pPr algn="ctr"/>
            <a:r>
              <a:rPr sz="1100" b="0">
                <a:solidFill>
                  <a:srgbClr val="7F8C8D"/>
                </a:solidFill>
                <a:latin typeface="Meiryo"/>
              </a:rPr>
              <a:t>踏み切るたびに
足を入れ替える</a:t>
            </a:r>
          </a:p>
        </p:txBody>
      </p:sp>
      <p:sp>
        <p:nvSpPr>
          <p:cNvPr id="19" name="Rectangle 18"/>
          <p:cNvSpPr/>
          <p:nvPr/>
        </p:nvSpPr>
        <p:spPr>
          <a:xfrm>
            <a:off x="5020056" y="1417320"/>
            <a:ext cx="2240280" cy="23317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0056" y="1417320"/>
            <a:ext cx="2240280" cy="365760"/>
          </a:xfrm>
          <a:prstGeom prst="rect">
            <a:avLst/>
          </a:prstGeom>
          <a:solidFill>
            <a:srgbClr val="27AE6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65776" y="1463040"/>
            <a:ext cx="640080" cy="292608"/>
          </a:xfrm>
          <a:prstGeom prst="rect">
            <a:avLst/>
          </a:prstGeom>
          <a:noFill/>
        </p:spPr>
        <p:txBody>
          <a:bodyPr wrap="square">
            <a:spAutoFit/>
          </a:bodyPr>
          <a:lstStyle/>
          <a:p>
            <a:pPr algn="l"/>
            <a:r>
              <a:rPr sz="1000" b="1">
                <a:solidFill>
                  <a:srgbClr val="FFFFFF"/>
                </a:solidFill>
                <a:latin typeface="Meiryo"/>
              </a:rPr>
              <a:t>18.28</a:t>
            </a:r>
          </a:p>
        </p:txBody>
      </p:sp>
      <p:sp>
        <p:nvSpPr>
          <p:cNvPr id="22" name="TextBox 21"/>
          <p:cNvSpPr txBox="1"/>
          <p:nvPr/>
        </p:nvSpPr>
        <p:spPr>
          <a:xfrm>
            <a:off x="6574536" y="1463040"/>
            <a:ext cx="640080" cy="292608"/>
          </a:xfrm>
          <a:prstGeom prst="rect">
            <a:avLst/>
          </a:prstGeom>
          <a:noFill/>
        </p:spPr>
        <p:txBody>
          <a:bodyPr wrap="square">
            <a:spAutoFit/>
          </a:bodyPr>
          <a:lstStyle/>
          <a:p>
            <a:pPr algn="r"/>
            <a:r>
              <a:rPr sz="1000" b="1">
                <a:solidFill>
                  <a:srgbClr val="FFFFFF"/>
                </a:solidFill>
                <a:latin typeface="Meiryo"/>
              </a:rPr>
              <a:t>低</a:t>
            </a:r>
          </a:p>
        </p:txBody>
      </p:sp>
      <p:sp>
        <p:nvSpPr>
          <p:cNvPr id="23" name="TextBox 22"/>
          <p:cNvSpPr txBox="1"/>
          <p:nvPr/>
        </p:nvSpPr>
        <p:spPr>
          <a:xfrm>
            <a:off x="5111496" y="1856232"/>
            <a:ext cx="2057400" cy="685800"/>
          </a:xfrm>
          <a:prstGeom prst="rect">
            <a:avLst/>
          </a:prstGeom>
          <a:noFill/>
        </p:spPr>
        <p:txBody>
          <a:bodyPr wrap="square">
            <a:spAutoFit/>
          </a:bodyPr>
          <a:lstStyle/>
          <a:p>
            <a:pPr algn="ctr"/>
            <a:r>
              <a:rPr sz="1200" b="1">
                <a:solidFill>
                  <a:srgbClr val="1A3A5C"/>
                </a:solidFill>
                <a:latin typeface="Meiryo"/>
              </a:rPr>
              <a:t>ラテラル
プッシュオフ</a:t>
            </a:r>
          </a:p>
        </p:txBody>
      </p:sp>
      <p:sp>
        <p:nvSpPr>
          <p:cNvPr id="24" name="TextBox 23"/>
          <p:cNvSpPr txBox="1"/>
          <p:nvPr/>
        </p:nvSpPr>
        <p:spPr>
          <a:xfrm>
            <a:off x="5111496" y="2606040"/>
            <a:ext cx="2057400" cy="1005840"/>
          </a:xfrm>
          <a:prstGeom prst="rect">
            <a:avLst/>
          </a:prstGeom>
          <a:noFill/>
        </p:spPr>
        <p:txBody>
          <a:bodyPr wrap="square">
            <a:spAutoFit/>
          </a:bodyPr>
          <a:lstStyle/>
          <a:p>
            <a:pPr algn="ctr"/>
            <a:r>
              <a:rPr sz="1100" b="0">
                <a:solidFill>
                  <a:srgbClr val="7F8C8D"/>
                </a:solidFill>
                <a:latin typeface="Meiryo"/>
              </a:rPr>
              <a:t>ボックスの横から
踏み切る</a:t>
            </a:r>
          </a:p>
        </p:txBody>
      </p:sp>
      <p:sp>
        <p:nvSpPr>
          <p:cNvPr id="25" name="Rectangle 24"/>
          <p:cNvSpPr/>
          <p:nvPr/>
        </p:nvSpPr>
        <p:spPr>
          <a:xfrm>
            <a:off x="7415783" y="1417320"/>
            <a:ext cx="2240280" cy="23317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15783" y="1417320"/>
            <a:ext cx="2240280" cy="365760"/>
          </a:xfrm>
          <a:prstGeom prst="rect">
            <a:avLst/>
          </a:prstGeom>
          <a:solidFill>
            <a:srgbClr val="F39C1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61504" y="1463040"/>
            <a:ext cx="640080" cy="292608"/>
          </a:xfrm>
          <a:prstGeom prst="rect">
            <a:avLst/>
          </a:prstGeom>
          <a:noFill/>
        </p:spPr>
        <p:txBody>
          <a:bodyPr wrap="square">
            <a:spAutoFit/>
          </a:bodyPr>
          <a:lstStyle/>
          <a:p>
            <a:pPr algn="l"/>
            <a:r>
              <a:rPr sz="1000" b="1">
                <a:solidFill>
                  <a:srgbClr val="FFFFFF"/>
                </a:solidFill>
                <a:latin typeface="Meiryo"/>
              </a:rPr>
              <a:t>18.29</a:t>
            </a:r>
          </a:p>
        </p:txBody>
      </p:sp>
      <p:sp>
        <p:nvSpPr>
          <p:cNvPr id="28" name="TextBox 27"/>
          <p:cNvSpPr txBox="1"/>
          <p:nvPr/>
        </p:nvSpPr>
        <p:spPr>
          <a:xfrm>
            <a:off x="8970263" y="1463040"/>
            <a:ext cx="640080" cy="292608"/>
          </a:xfrm>
          <a:prstGeom prst="rect">
            <a:avLst/>
          </a:prstGeom>
          <a:noFill/>
        </p:spPr>
        <p:txBody>
          <a:bodyPr wrap="square">
            <a:spAutoFit/>
          </a:bodyPr>
          <a:lstStyle/>
          <a:p>
            <a:pPr algn="r"/>
            <a:r>
              <a:rPr sz="1000" b="1">
                <a:solidFill>
                  <a:srgbClr val="FFFFFF"/>
                </a:solidFill>
                <a:latin typeface="Meiryo"/>
              </a:rPr>
              <a:t>中</a:t>
            </a:r>
          </a:p>
        </p:txBody>
      </p:sp>
      <p:sp>
        <p:nvSpPr>
          <p:cNvPr id="29" name="TextBox 28"/>
          <p:cNvSpPr txBox="1"/>
          <p:nvPr/>
        </p:nvSpPr>
        <p:spPr>
          <a:xfrm>
            <a:off x="7507223" y="1856232"/>
            <a:ext cx="2057400" cy="685800"/>
          </a:xfrm>
          <a:prstGeom prst="rect">
            <a:avLst/>
          </a:prstGeom>
          <a:noFill/>
        </p:spPr>
        <p:txBody>
          <a:bodyPr wrap="square">
            <a:spAutoFit/>
          </a:bodyPr>
          <a:lstStyle/>
          <a:p>
            <a:pPr algn="ctr"/>
            <a:r>
              <a:rPr sz="1200" b="1">
                <a:solidFill>
                  <a:srgbClr val="1A3A5C"/>
                </a:solidFill>
                <a:latin typeface="Meiryo"/>
              </a:rPr>
              <a:t>サイドトゥーサイド
プッシュオフ</a:t>
            </a:r>
          </a:p>
        </p:txBody>
      </p:sp>
      <p:sp>
        <p:nvSpPr>
          <p:cNvPr id="30" name="TextBox 29"/>
          <p:cNvSpPr txBox="1"/>
          <p:nvPr/>
        </p:nvSpPr>
        <p:spPr>
          <a:xfrm>
            <a:off x="7507223" y="2606040"/>
            <a:ext cx="2057400" cy="1005840"/>
          </a:xfrm>
          <a:prstGeom prst="rect">
            <a:avLst/>
          </a:prstGeom>
          <a:noFill/>
        </p:spPr>
        <p:txBody>
          <a:bodyPr wrap="square">
            <a:spAutoFit/>
          </a:bodyPr>
          <a:lstStyle/>
          <a:p>
            <a:pPr algn="ctr"/>
            <a:r>
              <a:rPr sz="1100" b="0">
                <a:solidFill>
                  <a:srgbClr val="7F8C8D"/>
                </a:solidFill>
                <a:latin typeface="Meiryo"/>
              </a:rPr>
              <a:t>ボックスを横に
跳び越える</a:t>
            </a:r>
          </a:p>
        </p:txBody>
      </p:sp>
      <p:sp>
        <p:nvSpPr>
          <p:cNvPr id="31" name="Rectangle 30"/>
          <p:cNvSpPr/>
          <p:nvPr/>
        </p:nvSpPr>
        <p:spPr>
          <a:xfrm>
            <a:off x="9811512" y="1417320"/>
            <a:ext cx="2240280" cy="23317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811512" y="1417320"/>
            <a:ext cx="2240280" cy="365760"/>
          </a:xfrm>
          <a:prstGeom prst="rect">
            <a:avLst/>
          </a:prstGeom>
          <a:solidFill>
            <a:srgbClr val="27AE6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57232" y="1463040"/>
            <a:ext cx="640080" cy="292608"/>
          </a:xfrm>
          <a:prstGeom prst="rect">
            <a:avLst/>
          </a:prstGeom>
          <a:noFill/>
        </p:spPr>
        <p:txBody>
          <a:bodyPr wrap="square">
            <a:spAutoFit/>
          </a:bodyPr>
          <a:lstStyle/>
          <a:p>
            <a:pPr algn="l"/>
            <a:r>
              <a:rPr sz="1000" b="1">
                <a:solidFill>
                  <a:srgbClr val="FFFFFF"/>
                </a:solidFill>
                <a:latin typeface="Meiryo"/>
              </a:rPr>
              <a:t>18.30</a:t>
            </a:r>
          </a:p>
        </p:txBody>
      </p:sp>
      <p:sp>
        <p:nvSpPr>
          <p:cNvPr id="34" name="TextBox 33"/>
          <p:cNvSpPr txBox="1"/>
          <p:nvPr/>
        </p:nvSpPr>
        <p:spPr>
          <a:xfrm>
            <a:off x="11365992" y="1463040"/>
            <a:ext cx="640080" cy="292608"/>
          </a:xfrm>
          <a:prstGeom prst="rect">
            <a:avLst/>
          </a:prstGeom>
          <a:noFill/>
        </p:spPr>
        <p:txBody>
          <a:bodyPr wrap="square">
            <a:spAutoFit/>
          </a:bodyPr>
          <a:lstStyle/>
          <a:p>
            <a:pPr algn="r"/>
            <a:r>
              <a:rPr sz="1000" b="1">
                <a:solidFill>
                  <a:srgbClr val="FFFFFF"/>
                </a:solidFill>
                <a:latin typeface="Meiryo"/>
              </a:rPr>
              <a:t>低</a:t>
            </a:r>
          </a:p>
        </p:txBody>
      </p:sp>
      <p:sp>
        <p:nvSpPr>
          <p:cNvPr id="35" name="TextBox 34"/>
          <p:cNvSpPr txBox="1"/>
          <p:nvPr/>
        </p:nvSpPr>
        <p:spPr>
          <a:xfrm>
            <a:off x="9902952" y="1856232"/>
            <a:ext cx="2057400" cy="685800"/>
          </a:xfrm>
          <a:prstGeom prst="rect">
            <a:avLst/>
          </a:prstGeom>
          <a:noFill/>
        </p:spPr>
        <p:txBody>
          <a:bodyPr wrap="square">
            <a:spAutoFit/>
          </a:bodyPr>
          <a:lstStyle/>
          <a:p>
            <a:pPr algn="ctr"/>
            <a:r>
              <a:rPr sz="1200" b="1">
                <a:solidFill>
                  <a:srgbClr val="1A3A5C"/>
                </a:solidFill>
                <a:latin typeface="Meiryo"/>
              </a:rPr>
              <a:t>ダブルレッグ
ジャンプトゥボックス</a:t>
            </a:r>
          </a:p>
        </p:txBody>
      </p:sp>
      <p:sp>
        <p:nvSpPr>
          <p:cNvPr id="36" name="TextBox 35"/>
          <p:cNvSpPr txBox="1"/>
          <p:nvPr/>
        </p:nvSpPr>
        <p:spPr>
          <a:xfrm>
            <a:off x="9902952" y="2606040"/>
            <a:ext cx="2057400" cy="1005840"/>
          </a:xfrm>
          <a:prstGeom prst="rect">
            <a:avLst/>
          </a:prstGeom>
          <a:noFill/>
        </p:spPr>
        <p:txBody>
          <a:bodyPr wrap="square">
            <a:spAutoFit/>
          </a:bodyPr>
          <a:lstStyle/>
          <a:p>
            <a:pPr algn="ctr"/>
            <a:r>
              <a:rPr sz="1100" b="0">
                <a:solidFill>
                  <a:srgbClr val="7F8C8D"/>
                </a:solidFill>
                <a:latin typeface="Meiryo"/>
              </a:rPr>
              <a:t>両脚で跳び乗り
ハーフスクワット着地</a:t>
            </a:r>
          </a:p>
        </p:txBody>
      </p:sp>
      <p:sp>
        <p:nvSpPr>
          <p:cNvPr id="37" name="Rectangle 36"/>
          <p:cNvSpPr/>
          <p:nvPr/>
        </p:nvSpPr>
        <p:spPr>
          <a:xfrm>
            <a:off x="228600" y="3931920"/>
            <a:ext cx="2240280" cy="23317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28600" y="3931920"/>
            <a:ext cx="2240280" cy="365760"/>
          </a:xfrm>
          <a:prstGeom prst="rect">
            <a:avLst/>
          </a:prstGeom>
          <a:solidFill>
            <a:srgbClr val="E74C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74320" y="3977639"/>
            <a:ext cx="640080" cy="292608"/>
          </a:xfrm>
          <a:prstGeom prst="rect">
            <a:avLst/>
          </a:prstGeom>
          <a:noFill/>
        </p:spPr>
        <p:txBody>
          <a:bodyPr wrap="square">
            <a:spAutoFit/>
          </a:bodyPr>
          <a:lstStyle/>
          <a:p>
            <a:pPr algn="l"/>
            <a:r>
              <a:rPr sz="1000" b="1">
                <a:solidFill>
                  <a:srgbClr val="FFFFFF"/>
                </a:solidFill>
                <a:latin typeface="Meiryo"/>
              </a:rPr>
              <a:t>18.31</a:t>
            </a:r>
          </a:p>
        </p:txBody>
      </p:sp>
      <p:sp>
        <p:nvSpPr>
          <p:cNvPr id="40" name="TextBox 39"/>
          <p:cNvSpPr txBox="1"/>
          <p:nvPr/>
        </p:nvSpPr>
        <p:spPr>
          <a:xfrm>
            <a:off x="1783080" y="3977639"/>
            <a:ext cx="640080" cy="292608"/>
          </a:xfrm>
          <a:prstGeom prst="rect">
            <a:avLst/>
          </a:prstGeom>
          <a:noFill/>
        </p:spPr>
        <p:txBody>
          <a:bodyPr wrap="square">
            <a:spAutoFit/>
          </a:bodyPr>
          <a:lstStyle/>
          <a:p>
            <a:pPr algn="r"/>
            <a:r>
              <a:rPr sz="1000" b="1">
                <a:solidFill>
                  <a:srgbClr val="FFFFFF"/>
                </a:solidFill>
                <a:latin typeface="Meiryo"/>
              </a:rPr>
              <a:t>高</a:t>
            </a:r>
          </a:p>
        </p:txBody>
      </p:sp>
      <p:sp>
        <p:nvSpPr>
          <p:cNvPr id="41" name="TextBox 40"/>
          <p:cNvSpPr txBox="1"/>
          <p:nvPr/>
        </p:nvSpPr>
        <p:spPr>
          <a:xfrm>
            <a:off x="320040" y="4370831"/>
            <a:ext cx="2057400" cy="685800"/>
          </a:xfrm>
          <a:prstGeom prst="rect">
            <a:avLst/>
          </a:prstGeom>
          <a:noFill/>
        </p:spPr>
        <p:txBody>
          <a:bodyPr wrap="square">
            <a:spAutoFit/>
          </a:bodyPr>
          <a:lstStyle/>
          <a:p>
            <a:pPr algn="ctr"/>
            <a:r>
              <a:rPr sz="1200" b="1">
                <a:solidFill>
                  <a:srgbClr val="1A3A5C"/>
                </a:solidFill>
                <a:latin typeface="Meiryo"/>
              </a:rPr>
              <a:t>シングルレッグ
ジャンプトゥボックス</a:t>
            </a:r>
          </a:p>
        </p:txBody>
      </p:sp>
      <p:sp>
        <p:nvSpPr>
          <p:cNvPr id="42" name="TextBox 41"/>
          <p:cNvSpPr txBox="1"/>
          <p:nvPr/>
        </p:nvSpPr>
        <p:spPr>
          <a:xfrm>
            <a:off x="320040" y="5120640"/>
            <a:ext cx="2057400" cy="1005840"/>
          </a:xfrm>
          <a:prstGeom prst="rect">
            <a:avLst/>
          </a:prstGeom>
          <a:noFill/>
        </p:spPr>
        <p:txBody>
          <a:bodyPr wrap="square">
            <a:spAutoFit/>
          </a:bodyPr>
          <a:lstStyle/>
          <a:p>
            <a:pPr algn="ctr"/>
            <a:r>
              <a:rPr sz="1100" b="0">
                <a:solidFill>
                  <a:srgbClr val="7F8C8D"/>
                </a:solidFill>
                <a:latin typeface="Meiryo"/>
              </a:rPr>
              <a:t>片脚で跳び乗り
片脚で着地</a:t>
            </a:r>
          </a:p>
        </p:txBody>
      </p:sp>
      <p:sp>
        <p:nvSpPr>
          <p:cNvPr id="43" name="Rectangle 42"/>
          <p:cNvSpPr/>
          <p:nvPr/>
        </p:nvSpPr>
        <p:spPr>
          <a:xfrm>
            <a:off x="2624328" y="3931920"/>
            <a:ext cx="2240280" cy="23317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2624328" y="3931920"/>
            <a:ext cx="2240280" cy="365760"/>
          </a:xfrm>
          <a:prstGeom prst="rect">
            <a:avLst/>
          </a:prstGeom>
          <a:solidFill>
            <a:srgbClr val="F39C1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670048" y="3977639"/>
            <a:ext cx="640080" cy="292608"/>
          </a:xfrm>
          <a:prstGeom prst="rect">
            <a:avLst/>
          </a:prstGeom>
          <a:noFill/>
        </p:spPr>
        <p:txBody>
          <a:bodyPr wrap="square">
            <a:spAutoFit/>
          </a:bodyPr>
          <a:lstStyle/>
          <a:p>
            <a:pPr algn="l"/>
            <a:r>
              <a:rPr sz="1000" b="1">
                <a:solidFill>
                  <a:srgbClr val="FFFFFF"/>
                </a:solidFill>
                <a:latin typeface="Meiryo"/>
              </a:rPr>
              <a:t>18.32</a:t>
            </a:r>
          </a:p>
        </p:txBody>
      </p:sp>
      <p:sp>
        <p:nvSpPr>
          <p:cNvPr id="46" name="TextBox 45"/>
          <p:cNvSpPr txBox="1"/>
          <p:nvPr/>
        </p:nvSpPr>
        <p:spPr>
          <a:xfrm>
            <a:off x="4178808" y="3977639"/>
            <a:ext cx="640080" cy="292608"/>
          </a:xfrm>
          <a:prstGeom prst="rect">
            <a:avLst/>
          </a:prstGeom>
          <a:noFill/>
        </p:spPr>
        <p:txBody>
          <a:bodyPr wrap="square">
            <a:spAutoFit/>
          </a:bodyPr>
          <a:lstStyle/>
          <a:p>
            <a:pPr algn="r"/>
            <a:r>
              <a:rPr sz="1000" b="1">
                <a:solidFill>
                  <a:srgbClr val="FFFFFF"/>
                </a:solidFill>
                <a:latin typeface="Meiryo"/>
              </a:rPr>
              <a:t>中</a:t>
            </a:r>
          </a:p>
        </p:txBody>
      </p:sp>
      <p:sp>
        <p:nvSpPr>
          <p:cNvPr id="47" name="TextBox 46"/>
          <p:cNvSpPr txBox="1"/>
          <p:nvPr/>
        </p:nvSpPr>
        <p:spPr>
          <a:xfrm>
            <a:off x="2715768" y="4370831"/>
            <a:ext cx="2057400" cy="685800"/>
          </a:xfrm>
          <a:prstGeom prst="rect">
            <a:avLst/>
          </a:prstGeom>
          <a:noFill/>
        </p:spPr>
        <p:txBody>
          <a:bodyPr wrap="square">
            <a:spAutoFit/>
          </a:bodyPr>
          <a:lstStyle/>
          <a:p>
            <a:pPr algn="ctr"/>
            <a:r>
              <a:rPr sz="1200" b="1">
                <a:solidFill>
                  <a:srgbClr val="1A3A5C"/>
                </a:solidFill>
                <a:latin typeface="Meiryo"/>
              </a:rPr>
              <a:t>スクワット
ボックスジャンプ</a:t>
            </a:r>
          </a:p>
        </p:txBody>
      </p:sp>
      <p:sp>
        <p:nvSpPr>
          <p:cNvPr id="48" name="TextBox 47"/>
          <p:cNvSpPr txBox="1"/>
          <p:nvPr/>
        </p:nvSpPr>
        <p:spPr>
          <a:xfrm>
            <a:off x="2715768" y="5120640"/>
            <a:ext cx="2057400" cy="1005840"/>
          </a:xfrm>
          <a:prstGeom prst="rect">
            <a:avLst/>
          </a:prstGeom>
          <a:noFill/>
        </p:spPr>
        <p:txBody>
          <a:bodyPr wrap="square">
            <a:spAutoFit/>
          </a:bodyPr>
          <a:lstStyle/>
          <a:p>
            <a:pPr algn="ctr"/>
            <a:r>
              <a:rPr sz="1100" b="0">
                <a:solidFill>
                  <a:srgbClr val="7F8C8D"/>
                </a:solidFill>
                <a:latin typeface="Meiryo"/>
              </a:rPr>
              <a:t>手を頭の後ろで組み
跳び乗る</a:t>
            </a:r>
          </a:p>
        </p:txBody>
      </p:sp>
      <p:sp>
        <p:nvSpPr>
          <p:cNvPr id="49" name="Rectangle 48"/>
          <p:cNvSpPr/>
          <p:nvPr/>
        </p:nvSpPr>
        <p:spPr>
          <a:xfrm>
            <a:off x="5020056" y="3931920"/>
            <a:ext cx="2240280" cy="23317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020056" y="3931920"/>
            <a:ext cx="2240280" cy="365760"/>
          </a:xfrm>
          <a:prstGeom prst="rect">
            <a:avLst/>
          </a:prstGeom>
          <a:solidFill>
            <a:srgbClr val="F39C1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065776" y="3977639"/>
            <a:ext cx="640080" cy="292608"/>
          </a:xfrm>
          <a:prstGeom prst="rect">
            <a:avLst/>
          </a:prstGeom>
          <a:noFill/>
        </p:spPr>
        <p:txBody>
          <a:bodyPr wrap="square">
            <a:spAutoFit/>
          </a:bodyPr>
          <a:lstStyle/>
          <a:p>
            <a:pPr algn="l"/>
            <a:r>
              <a:rPr sz="1000" b="1">
                <a:solidFill>
                  <a:srgbClr val="FFFFFF"/>
                </a:solidFill>
                <a:latin typeface="Meiryo"/>
              </a:rPr>
              <a:t>18.33</a:t>
            </a:r>
          </a:p>
        </p:txBody>
      </p:sp>
      <p:sp>
        <p:nvSpPr>
          <p:cNvPr id="52" name="TextBox 51"/>
          <p:cNvSpPr txBox="1"/>
          <p:nvPr/>
        </p:nvSpPr>
        <p:spPr>
          <a:xfrm>
            <a:off x="6574536" y="3977639"/>
            <a:ext cx="640080" cy="292608"/>
          </a:xfrm>
          <a:prstGeom prst="rect">
            <a:avLst/>
          </a:prstGeom>
          <a:noFill/>
        </p:spPr>
        <p:txBody>
          <a:bodyPr wrap="square">
            <a:spAutoFit/>
          </a:bodyPr>
          <a:lstStyle/>
          <a:p>
            <a:pPr algn="r"/>
            <a:r>
              <a:rPr sz="1000" b="1">
                <a:solidFill>
                  <a:srgbClr val="FFFFFF"/>
                </a:solidFill>
                <a:latin typeface="Meiryo"/>
              </a:rPr>
              <a:t>中</a:t>
            </a:r>
          </a:p>
        </p:txBody>
      </p:sp>
      <p:sp>
        <p:nvSpPr>
          <p:cNvPr id="53" name="TextBox 52"/>
          <p:cNvSpPr txBox="1"/>
          <p:nvPr/>
        </p:nvSpPr>
        <p:spPr>
          <a:xfrm>
            <a:off x="5111496" y="4370831"/>
            <a:ext cx="2057400" cy="685800"/>
          </a:xfrm>
          <a:prstGeom prst="rect">
            <a:avLst/>
          </a:prstGeom>
          <a:noFill/>
        </p:spPr>
        <p:txBody>
          <a:bodyPr wrap="square">
            <a:spAutoFit/>
          </a:bodyPr>
          <a:lstStyle/>
          <a:p>
            <a:pPr algn="ctr"/>
            <a:r>
              <a:rPr sz="1200" b="1">
                <a:solidFill>
                  <a:srgbClr val="1A3A5C"/>
                </a:solidFill>
                <a:latin typeface="Meiryo"/>
              </a:rPr>
              <a:t>ラテラル
ボックスジャンプ</a:t>
            </a:r>
          </a:p>
        </p:txBody>
      </p:sp>
      <p:sp>
        <p:nvSpPr>
          <p:cNvPr id="54" name="TextBox 53"/>
          <p:cNvSpPr txBox="1"/>
          <p:nvPr/>
        </p:nvSpPr>
        <p:spPr>
          <a:xfrm>
            <a:off x="5111496" y="5120640"/>
            <a:ext cx="2057400" cy="1005840"/>
          </a:xfrm>
          <a:prstGeom prst="rect">
            <a:avLst/>
          </a:prstGeom>
          <a:noFill/>
        </p:spPr>
        <p:txBody>
          <a:bodyPr wrap="square">
            <a:spAutoFit/>
          </a:bodyPr>
          <a:lstStyle/>
          <a:p>
            <a:pPr algn="ctr"/>
            <a:r>
              <a:rPr sz="1100" b="0">
                <a:solidFill>
                  <a:srgbClr val="7F8C8D"/>
                </a:solidFill>
                <a:latin typeface="Meiryo"/>
              </a:rPr>
              <a:t>ボックスの横から
跳び乗る</a:t>
            </a:r>
          </a:p>
        </p:txBody>
      </p:sp>
      <p:sp>
        <p:nvSpPr>
          <p:cNvPr id="55" name="Rectangle 54"/>
          <p:cNvSpPr/>
          <p:nvPr/>
        </p:nvSpPr>
        <p:spPr>
          <a:xfrm>
            <a:off x="7415783" y="3931920"/>
            <a:ext cx="2240280" cy="23317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415783" y="3931920"/>
            <a:ext cx="2240280" cy="365760"/>
          </a:xfrm>
          <a:prstGeom prst="rect">
            <a:avLst/>
          </a:prstGeom>
          <a:solidFill>
            <a:srgbClr val="F39C1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461504" y="3977639"/>
            <a:ext cx="640080" cy="292608"/>
          </a:xfrm>
          <a:prstGeom prst="rect">
            <a:avLst/>
          </a:prstGeom>
          <a:noFill/>
        </p:spPr>
        <p:txBody>
          <a:bodyPr wrap="square">
            <a:spAutoFit/>
          </a:bodyPr>
          <a:lstStyle/>
          <a:p>
            <a:pPr algn="l"/>
            <a:r>
              <a:rPr sz="1000" b="1">
                <a:solidFill>
                  <a:srgbClr val="FFFFFF"/>
                </a:solidFill>
                <a:latin typeface="Meiryo"/>
              </a:rPr>
              <a:t>18.34</a:t>
            </a:r>
          </a:p>
        </p:txBody>
      </p:sp>
      <p:sp>
        <p:nvSpPr>
          <p:cNvPr id="58" name="TextBox 57"/>
          <p:cNvSpPr txBox="1"/>
          <p:nvPr/>
        </p:nvSpPr>
        <p:spPr>
          <a:xfrm>
            <a:off x="8970263" y="3977639"/>
            <a:ext cx="640080" cy="292608"/>
          </a:xfrm>
          <a:prstGeom prst="rect">
            <a:avLst/>
          </a:prstGeom>
          <a:noFill/>
        </p:spPr>
        <p:txBody>
          <a:bodyPr wrap="square">
            <a:spAutoFit/>
          </a:bodyPr>
          <a:lstStyle/>
          <a:p>
            <a:pPr algn="r"/>
            <a:r>
              <a:rPr sz="1000" b="1">
                <a:solidFill>
                  <a:srgbClr val="FFFFFF"/>
                </a:solidFill>
                <a:latin typeface="Meiryo"/>
              </a:rPr>
              <a:t>中</a:t>
            </a:r>
          </a:p>
        </p:txBody>
      </p:sp>
      <p:sp>
        <p:nvSpPr>
          <p:cNvPr id="59" name="TextBox 58"/>
          <p:cNvSpPr txBox="1"/>
          <p:nvPr/>
        </p:nvSpPr>
        <p:spPr>
          <a:xfrm>
            <a:off x="7507223" y="4370831"/>
            <a:ext cx="2057400" cy="685800"/>
          </a:xfrm>
          <a:prstGeom prst="rect">
            <a:avLst/>
          </a:prstGeom>
          <a:noFill/>
        </p:spPr>
        <p:txBody>
          <a:bodyPr wrap="square">
            <a:spAutoFit/>
          </a:bodyPr>
          <a:lstStyle/>
          <a:p>
            <a:pPr algn="ctr"/>
            <a:r>
              <a:rPr sz="1200" b="1">
                <a:solidFill>
                  <a:srgbClr val="1A3A5C"/>
                </a:solidFill>
                <a:latin typeface="Meiryo"/>
              </a:rPr>
              <a:t>ドロップ
フリーズ</a:t>
            </a:r>
          </a:p>
        </p:txBody>
      </p:sp>
      <p:sp>
        <p:nvSpPr>
          <p:cNvPr id="60" name="TextBox 59"/>
          <p:cNvSpPr txBox="1"/>
          <p:nvPr/>
        </p:nvSpPr>
        <p:spPr>
          <a:xfrm>
            <a:off x="7507223" y="5120640"/>
            <a:ext cx="2057400" cy="1005840"/>
          </a:xfrm>
          <a:prstGeom prst="rect">
            <a:avLst/>
          </a:prstGeom>
          <a:noFill/>
        </p:spPr>
        <p:txBody>
          <a:bodyPr wrap="square">
            <a:spAutoFit/>
          </a:bodyPr>
          <a:lstStyle/>
          <a:p>
            <a:pPr algn="ctr"/>
            <a:r>
              <a:rPr sz="1100" b="0">
                <a:solidFill>
                  <a:srgbClr val="7F8C8D"/>
                </a:solidFill>
                <a:latin typeface="Meiryo"/>
              </a:rPr>
              <a:t>踏み出して着地し
衝撃を吸収して止まる</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88720"/>
          </a:xfrm>
          <a:prstGeom prst="rect">
            <a:avLst/>
          </a:prstGeom>
          <a:solidFill>
            <a:srgbClr val="1A3A5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720"/>
            <a:ext cx="12188952" cy="54864"/>
          </a:xfrm>
          <a:prstGeom prst="rect">
            <a:avLst/>
          </a:prstGeom>
          <a:solidFill>
            <a:srgbClr val="2E86C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09728"/>
            <a:ext cx="11430000" cy="777240"/>
          </a:xfrm>
          <a:prstGeom prst="rect">
            <a:avLst/>
          </a:prstGeom>
          <a:noFill/>
        </p:spPr>
        <p:txBody>
          <a:bodyPr wrap="square">
            <a:spAutoFit/>
          </a:bodyPr>
          <a:lstStyle/>
          <a:p>
            <a:pPr algn="l"/>
            <a:r>
              <a:rPr sz="2800" b="1">
                <a:solidFill>
                  <a:srgbClr val="FFFFFF"/>
                </a:solidFill>
                <a:latin typeface="Meiryo"/>
              </a:rPr>
              <a:t>下半身ドリル ⑤  デプスジャンプ</a:t>
            </a:r>
          </a:p>
        </p:txBody>
      </p:sp>
      <p:sp>
        <p:nvSpPr>
          <p:cNvPr id="6" name="TextBox 5"/>
          <p:cNvSpPr txBox="1"/>
          <p:nvPr/>
        </p:nvSpPr>
        <p:spPr>
          <a:xfrm>
            <a:off x="365760" y="804672"/>
            <a:ext cx="10972800" cy="365760"/>
          </a:xfrm>
          <a:prstGeom prst="rect">
            <a:avLst/>
          </a:prstGeom>
          <a:noFill/>
        </p:spPr>
        <p:txBody>
          <a:bodyPr wrap="square">
            <a:spAutoFit/>
          </a:bodyPr>
          <a:lstStyle/>
          <a:p>
            <a:pPr algn="l"/>
            <a:r>
              <a:rPr sz="1400" b="0">
                <a:solidFill>
                  <a:srgbClr val="AED6F1"/>
                </a:solidFill>
                <a:latin typeface="Meiryo"/>
              </a:rPr>
              <a:t>Depth Jumps  |  強度：高</a:t>
            </a:r>
          </a:p>
        </p:txBody>
      </p:sp>
      <p:sp>
        <p:nvSpPr>
          <p:cNvPr id="7" name="Rectangle 6"/>
          <p:cNvSpPr/>
          <p:nvPr/>
        </p:nvSpPr>
        <p:spPr>
          <a:xfrm>
            <a:off x="274320" y="1371600"/>
            <a:ext cx="11640312" cy="594360"/>
          </a:xfrm>
          <a:prstGeom prst="rect">
            <a:avLst/>
          </a:prstGeom>
          <a:solidFill>
            <a:srgbClr val="FFEBE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435608"/>
            <a:ext cx="11247120" cy="457200"/>
          </a:xfrm>
          <a:prstGeom prst="rect">
            <a:avLst/>
          </a:prstGeom>
          <a:noFill/>
        </p:spPr>
        <p:txBody>
          <a:bodyPr wrap="square">
            <a:spAutoFit/>
          </a:bodyPr>
          <a:lstStyle/>
          <a:p>
            <a:pPr algn="l"/>
            <a:r>
              <a:rPr sz="1200" b="1">
                <a:solidFill>
                  <a:srgbClr val="E74C3C"/>
                </a:solidFill>
                <a:latin typeface="Meiryo"/>
              </a:rPr>
              <a:t>共通：真っ直ぐ踏み出す（跳び上がらない）／接地時間は最小限／最初は30cmから。高さは41〜107cm（一般的に76〜81cm）</a:t>
            </a:r>
          </a:p>
        </p:txBody>
      </p:sp>
      <p:sp>
        <p:nvSpPr>
          <p:cNvPr id="9" name="Rectangle 8"/>
          <p:cNvSpPr/>
          <p:nvPr/>
        </p:nvSpPr>
        <p:spPr>
          <a:xfrm>
            <a:off x="228600" y="2148840"/>
            <a:ext cx="2834640" cy="20116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2148840"/>
            <a:ext cx="2834640" cy="365760"/>
          </a:xfrm>
          <a:prstGeom prst="rect">
            <a:avLst/>
          </a:prstGeom>
          <a:solidFill>
            <a:srgbClr val="E74C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1752" y="2203704"/>
            <a:ext cx="731520" cy="292608"/>
          </a:xfrm>
          <a:prstGeom prst="rect">
            <a:avLst/>
          </a:prstGeom>
          <a:noFill/>
        </p:spPr>
        <p:txBody>
          <a:bodyPr wrap="square">
            <a:spAutoFit/>
          </a:bodyPr>
          <a:lstStyle/>
          <a:p>
            <a:pPr algn="l"/>
            <a:r>
              <a:rPr sz="1000" b="1">
                <a:solidFill>
                  <a:srgbClr val="FFFFFF"/>
                </a:solidFill>
                <a:latin typeface="Meiryo"/>
              </a:rPr>
              <a:t>18.35</a:t>
            </a:r>
          </a:p>
        </p:txBody>
      </p:sp>
      <p:sp>
        <p:nvSpPr>
          <p:cNvPr id="12" name="TextBox 11"/>
          <p:cNvSpPr txBox="1"/>
          <p:nvPr/>
        </p:nvSpPr>
        <p:spPr>
          <a:xfrm>
            <a:off x="320040" y="2606040"/>
            <a:ext cx="2651760" cy="685800"/>
          </a:xfrm>
          <a:prstGeom prst="rect">
            <a:avLst/>
          </a:prstGeom>
          <a:noFill/>
        </p:spPr>
        <p:txBody>
          <a:bodyPr wrap="square">
            <a:spAutoFit/>
          </a:bodyPr>
          <a:lstStyle/>
          <a:p>
            <a:pPr algn="ctr"/>
            <a:r>
              <a:rPr sz="1200" b="1">
                <a:solidFill>
                  <a:srgbClr val="1A3A5C"/>
                </a:solidFill>
                <a:latin typeface="Meiryo"/>
              </a:rPr>
              <a:t>デプスジャンプ</a:t>
            </a:r>
          </a:p>
        </p:txBody>
      </p:sp>
      <p:sp>
        <p:nvSpPr>
          <p:cNvPr id="13" name="TextBox 12"/>
          <p:cNvSpPr txBox="1"/>
          <p:nvPr/>
        </p:nvSpPr>
        <p:spPr>
          <a:xfrm>
            <a:off x="320040" y="3337560"/>
            <a:ext cx="2651760" cy="777240"/>
          </a:xfrm>
          <a:prstGeom prst="rect">
            <a:avLst/>
          </a:prstGeom>
          <a:noFill/>
        </p:spPr>
        <p:txBody>
          <a:bodyPr wrap="square">
            <a:spAutoFit/>
          </a:bodyPr>
          <a:lstStyle/>
          <a:p>
            <a:pPr algn="ctr"/>
            <a:r>
              <a:rPr sz="1100" b="0">
                <a:solidFill>
                  <a:srgbClr val="7F8C8D"/>
                </a:solidFill>
                <a:latin typeface="Meiryo"/>
              </a:rPr>
              <a:t>着地したらただちに
できるだけ高く跳ぶ</a:t>
            </a:r>
          </a:p>
        </p:txBody>
      </p:sp>
      <p:sp>
        <p:nvSpPr>
          <p:cNvPr id="14" name="Rectangle 13"/>
          <p:cNvSpPr/>
          <p:nvPr/>
        </p:nvSpPr>
        <p:spPr>
          <a:xfrm>
            <a:off x="3227832" y="2148840"/>
            <a:ext cx="2834640" cy="20116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27832" y="2148840"/>
            <a:ext cx="2834640" cy="365760"/>
          </a:xfrm>
          <a:prstGeom prst="rect">
            <a:avLst/>
          </a:prstGeom>
          <a:solidFill>
            <a:srgbClr val="E74C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00984" y="2203704"/>
            <a:ext cx="731520" cy="292608"/>
          </a:xfrm>
          <a:prstGeom prst="rect">
            <a:avLst/>
          </a:prstGeom>
          <a:noFill/>
        </p:spPr>
        <p:txBody>
          <a:bodyPr wrap="square">
            <a:spAutoFit/>
          </a:bodyPr>
          <a:lstStyle/>
          <a:p>
            <a:pPr algn="l"/>
            <a:r>
              <a:rPr sz="1000" b="1">
                <a:solidFill>
                  <a:srgbClr val="FFFFFF"/>
                </a:solidFill>
                <a:latin typeface="Meiryo"/>
              </a:rPr>
              <a:t>18.36</a:t>
            </a:r>
          </a:p>
        </p:txBody>
      </p:sp>
      <p:sp>
        <p:nvSpPr>
          <p:cNvPr id="17" name="TextBox 16"/>
          <p:cNvSpPr txBox="1"/>
          <p:nvPr/>
        </p:nvSpPr>
        <p:spPr>
          <a:xfrm>
            <a:off x="3319272" y="2606040"/>
            <a:ext cx="2651760" cy="685800"/>
          </a:xfrm>
          <a:prstGeom prst="rect">
            <a:avLst/>
          </a:prstGeom>
          <a:noFill/>
        </p:spPr>
        <p:txBody>
          <a:bodyPr wrap="square">
            <a:spAutoFit/>
          </a:bodyPr>
          <a:lstStyle/>
          <a:p>
            <a:pPr algn="ctr"/>
            <a:r>
              <a:rPr sz="1200" b="1">
                <a:solidFill>
                  <a:srgbClr val="1A3A5C"/>
                </a:solidFill>
                <a:latin typeface="Meiryo"/>
              </a:rPr>
              <a:t>デプスジャンプ
to セカンドボックス</a:t>
            </a:r>
          </a:p>
        </p:txBody>
      </p:sp>
      <p:sp>
        <p:nvSpPr>
          <p:cNvPr id="18" name="TextBox 17"/>
          <p:cNvSpPr txBox="1"/>
          <p:nvPr/>
        </p:nvSpPr>
        <p:spPr>
          <a:xfrm>
            <a:off x="3319272" y="3337560"/>
            <a:ext cx="2651760" cy="777240"/>
          </a:xfrm>
          <a:prstGeom prst="rect">
            <a:avLst/>
          </a:prstGeom>
          <a:noFill/>
        </p:spPr>
        <p:txBody>
          <a:bodyPr wrap="square">
            <a:spAutoFit/>
          </a:bodyPr>
          <a:lstStyle/>
          <a:p>
            <a:pPr algn="ctr"/>
            <a:r>
              <a:rPr sz="1100" b="0">
                <a:solidFill>
                  <a:srgbClr val="7F8C8D"/>
                </a:solidFill>
                <a:latin typeface="Meiryo"/>
              </a:rPr>
              <a:t>着地後ただちに2つ目の
ボックスへ（間隔61cm〜）</a:t>
            </a:r>
          </a:p>
        </p:txBody>
      </p:sp>
      <p:sp>
        <p:nvSpPr>
          <p:cNvPr id="19" name="Rectangle 18"/>
          <p:cNvSpPr/>
          <p:nvPr/>
        </p:nvSpPr>
        <p:spPr>
          <a:xfrm>
            <a:off x="6227064" y="2148840"/>
            <a:ext cx="2834640" cy="20116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27064" y="2148840"/>
            <a:ext cx="2834640" cy="365760"/>
          </a:xfrm>
          <a:prstGeom prst="rect">
            <a:avLst/>
          </a:prstGeom>
          <a:solidFill>
            <a:srgbClr val="E74C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0216" y="2203704"/>
            <a:ext cx="731520" cy="292608"/>
          </a:xfrm>
          <a:prstGeom prst="rect">
            <a:avLst/>
          </a:prstGeom>
          <a:noFill/>
        </p:spPr>
        <p:txBody>
          <a:bodyPr wrap="square">
            <a:spAutoFit/>
          </a:bodyPr>
          <a:lstStyle/>
          <a:p>
            <a:pPr algn="l"/>
            <a:r>
              <a:rPr sz="1000" b="1">
                <a:solidFill>
                  <a:srgbClr val="FFFFFF"/>
                </a:solidFill>
                <a:latin typeface="Meiryo"/>
              </a:rPr>
              <a:t>18.37</a:t>
            </a:r>
          </a:p>
        </p:txBody>
      </p:sp>
      <p:sp>
        <p:nvSpPr>
          <p:cNvPr id="22" name="TextBox 21"/>
          <p:cNvSpPr txBox="1"/>
          <p:nvPr/>
        </p:nvSpPr>
        <p:spPr>
          <a:xfrm>
            <a:off x="6318503" y="2606040"/>
            <a:ext cx="2651760" cy="685800"/>
          </a:xfrm>
          <a:prstGeom prst="rect">
            <a:avLst/>
          </a:prstGeom>
          <a:noFill/>
        </p:spPr>
        <p:txBody>
          <a:bodyPr wrap="square">
            <a:spAutoFit/>
          </a:bodyPr>
          <a:lstStyle/>
          <a:p>
            <a:pPr algn="ctr"/>
            <a:r>
              <a:rPr sz="1200" b="1">
                <a:solidFill>
                  <a:srgbClr val="1A3A5C"/>
                </a:solidFill>
                <a:latin typeface="Meiryo"/>
              </a:rPr>
              <a:t>スクワット
デプスジャンプ</a:t>
            </a:r>
          </a:p>
        </p:txBody>
      </p:sp>
      <p:sp>
        <p:nvSpPr>
          <p:cNvPr id="23" name="TextBox 22"/>
          <p:cNvSpPr txBox="1"/>
          <p:nvPr/>
        </p:nvSpPr>
        <p:spPr>
          <a:xfrm>
            <a:off x="6318503" y="3337560"/>
            <a:ext cx="2651760" cy="777240"/>
          </a:xfrm>
          <a:prstGeom prst="rect">
            <a:avLst/>
          </a:prstGeom>
          <a:noFill/>
        </p:spPr>
        <p:txBody>
          <a:bodyPr wrap="square">
            <a:spAutoFit/>
          </a:bodyPr>
          <a:lstStyle/>
          <a:p>
            <a:pPr algn="ctr"/>
            <a:r>
              <a:rPr sz="1100" b="0">
                <a:solidFill>
                  <a:srgbClr val="7F8C8D"/>
                </a:solidFill>
                <a:latin typeface="Meiryo"/>
              </a:rPr>
              <a:t>股・膝約90°で着地し
ただちに跳ぶ</a:t>
            </a:r>
          </a:p>
        </p:txBody>
      </p:sp>
      <p:sp>
        <p:nvSpPr>
          <p:cNvPr id="24" name="Rectangle 23"/>
          <p:cNvSpPr/>
          <p:nvPr/>
        </p:nvSpPr>
        <p:spPr>
          <a:xfrm>
            <a:off x="9226296" y="2148840"/>
            <a:ext cx="2834640" cy="20116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226296" y="2148840"/>
            <a:ext cx="2834640" cy="365760"/>
          </a:xfrm>
          <a:prstGeom prst="rect">
            <a:avLst/>
          </a:prstGeom>
          <a:solidFill>
            <a:srgbClr val="E74C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99448" y="2203704"/>
            <a:ext cx="731520" cy="292608"/>
          </a:xfrm>
          <a:prstGeom prst="rect">
            <a:avLst/>
          </a:prstGeom>
          <a:noFill/>
        </p:spPr>
        <p:txBody>
          <a:bodyPr wrap="square">
            <a:spAutoFit/>
          </a:bodyPr>
          <a:lstStyle/>
          <a:p>
            <a:pPr algn="l"/>
            <a:r>
              <a:rPr sz="1000" b="1">
                <a:solidFill>
                  <a:srgbClr val="FFFFFF"/>
                </a:solidFill>
                <a:latin typeface="Meiryo"/>
              </a:rPr>
              <a:t>18.38</a:t>
            </a:r>
          </a:p>
        </p:txBody>
      </p:sp>
      <p:sp>
        <p:nvSpPr>
          <p:cNvPr id="27" name="TextBox 26"/>
          <p:cNvSpPr txBox="1"/>
          <p:nvPr/>
        </p:nvSpPr>
        <p:spPr>
          <a:xfrm>
            <a:off x="9317736" y="2606040"/>
            <a:ext cx="2651760" cy="685800"/>
          </a:xfrm>
          <a:prstGeom prst="rect">
            <a:avLst/>
          </a:prstGeom>
          <a:noFill/>
        </p:spPr>
        <p:txBody>
          <a:bodyPr wrap="square">
            <a:spAutoFit/>
          </a:bodyPr>
          <a:lstStyle/>
          <a:p>
            <a:pPr algn="ctr"/>
            <a:r>
              <a:rPr sz="1200" b="1">
                <a:solidFill>
                  <a:srgbClr val="1A3A5C"/>
                </a:solidFill>
                <a:latin typeface="Meiryo"/>
              </a:rPr>
              <a:t>側方動作を伴う
デプスジャンプ</a:t>
            </a:r>
          </a:p>
        </p:txBody>
      </p:sp>
      <p:sp>
        <p:nvSpPr>
          <p:cNvPr id="28" name="TextBox 27"/>
          <p:cNvSpPr txBox="1"/>
          <p:nvPr/>
        </p:nvSpPr>
        <p:spPr>
          <a:xfrm>
            <a:off x="9317736" y="3337560"/>
            <a:ext cx="2651760" cy="777240"/>
          </a:xfrm>
          <a:prstGeom prst="rect">
            <a:avLst/>
          </a:prstGeom>
          <a:noFill/>
        </p:spPr>
        <p:txBody>
          <a:bodyPr wrap="square">
            <a:spAutoFit/>
          </a:bodyPr>
          <a:lstStyle/>
          <a:p>
            <a:pPr algn="ctr"/>
            <a:r>
              <a:rPr sz="1100" b="0">
                <a:solidFill>
                  <a:srgbClr val="7F8C8D"/>
                </a:solidFill>
                <a:latin typeface="Meiryo"/>
              </a:rPr>
              <a:t>パートナーが示した
方向へただちにダッシュ</a:t>
            </a:r>
          </a:p>
        </p:txBody>
      </p:sp>
      <p:sp>
        <p:nvSpPr>
          <p:cNvPr id="29" name="Rectangle 28"/>
          <p:cNvSpPr/>
          <p:nvPr/>
        </p:nvSpPr>
        <p:spPr>
          <a:xfrm>
            <a:off x="1728216" y="4572000"/>
            <a:ext cx="2834640" cy="20116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728216" y="4572000"/>
            <a:ext cx="2834640" cy="365760"/>
          </a:xfrm>
          <a:prstGeom prst="rect">
            <a:avLst/>
          </a:prstGeom>
          <a:solidFill>
            <a:srgbClr val="E74C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801368" y="4626864"/>
            <a:ext cx="731520" cy="292608"/>
          </a:xfrm>
          <a:prstGeom prst="rect">
            <a:avLst/>
          </a:prstGeom>
          <a:noFill/>
        </p:spPr>
        <p:txBody>
          <a:bodyPr wrap="square">
            <a:spAutoFit/>
          </a:bodyPr>
          <a:lstStyle/>
          <a:p>
            <a:pPr algn="l"/>
            <a:r>
              <a:rPr sz="1000" b="1">
                <a:solidFill>
                  <a:srgbClr val="FFFFFF"/>
                </a:solidFill>
                <a:latin typeface="Meiryo"/>
              </a:rPr>
              <a:t>18.39</a:t>
            </a:r>
          </a:p>
        </p:txBody>
      </p:sp>
      <p:sp>
        <p:nvSpPr>
          <p:cNvPr id="32" name="TextBox 31"/>
          <p:cNvSpPr txBox="1"/>
          <p:nvPr/>
        </p:nvSpPr>
        <p:spPr>
          <a:xfrm>
            <a:off x="1819656" y="5029200"/>
            <a:ext cx="2651760" cy="685800"/>
          </a:xfrm>
          <a:prstGeom prst="rect">
            <a:avLst/>
          </a:prstGeom>
          <a:noFill/>
        </p:spPr>
        <p:txBody>
          <a:bodyPr wrap="square">
            <a:spAutoFit/>
          </a:bodyPr>
          <a:lstStyle/>
          <a:p>
            <a:pPr algn="ctr"/>
            <a:r>
              <a:rPr sz="1200" b="1">
                <a:solidFill>
                  <a:srgbClr val="1A3A5C"/>
                </a:solidFill>
                <a:latin typeface="Meiryo"/>
              </a:rPr>
              <a:t>立ち幅跳びを伴う
デプスジャンプ</a:t>
            </a:r>
          </a:p>
        </p:txBody>
      </p:sp>
      <p:sp>
        <p:nvSpPr>
          <p:cNvPr id="33" name="TextBox 32"/>
          <p:cNvSpPr txBox="1"/>
          <p:nvPr/>
        </p:nvSpPr>
        <p:spPr>
          <a:xfrm>
            <a:off x="1819656" y="5760720"/>
            <a:ext cx="2651760" cy="777240"/>
          </a:xfrm>
          <a:prstGeom prst="rect">
            <a:avLst/>
          </a:prstGeom>
          <a:noFill/>
        </p:spPr>
        <p:txBody>
          <a:bodyPr wrap="square">
            <a:spAutoFit/>
          </a:bodyPr>
          <a:lstStyle/>
          <a:p>
            <a:pPr algn="ctr"/>
            <a:r>
              <a:rPr sz="1100" b="0">
                <a:solidFill>
                  <a:srgbClr val="7F8C8D"/>
                </a:solidFill>
                <a:latin typeface="Meiryo"/>
              </a:rPr>
              <a:t>着地後ただちに
前方へ遠く跳ぶ</a:t>
            </a:r>
          </a:p>
        </p:txBody>
      </p:sp>
      <p:sp>
        <p:nvSpPr>
          <p:cNvPr id="34" name="Rectangle 33"/>
          <p:cNvSpPr/>
          <p:nvPr/>
        </p:nvSpPr>
        <p:spPr>
          <a:xfrm>
            <a:off x="4727448" y="4572000"/>
            <a:ext cx="2834640" cy="20116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727448" y="4572000"/>
            <a:ext cx="2834640" cy="365760"/>
          </a:xfrm>
          <a:prstGeom prst="rect">
            <a:avLst/>
          </a:prstGeom>
          <a:solidFill>
            <a:srgbClr val="E74C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00600" y="4626864"/>
            <a:ext cx="731520" cy="292608"/>
          </a:xfrm>
          <a:prstGeom prst="rect">
            <a:avLst/>
          </a:prstGeom>
          <a:noFill/>
        </p:spPr>
        <p:txBody>
          <a:bodyPr wrap="square">
            <a:spAutoFit/>
          </a:bodyPr>
          <a:lstStyle/>
          <a:p>
            <a:pPr algn="l"/>
            <a:r>
              <a:rPr sz="1000" b="1">
                <a:solidFill>
                  <a:srgbClr val="FFFFFF"/>
                </a:solidFill>
                <a:latin typeface="Meiryo"/>
              </a:rPr>
              <a:t>18.40</a:t>
            </a:r>
          </a:p>
        </p:txBody>
      </p:sp>
      <p:sp>
        <p:nvSpPr>
          <p:cNvPr id="37" name="TextBox 36"/>
          <p:cNvSpPr txBox="1"/>
          <p:nvPr/>
        </p:nvSpPr>
        <p:spPr>
          <a:xfrm>
            <a:off x="4818888" y="5029200"/>
            <a:ext cx="2651760" cy="685800"/>
          </a:xfrm>
          <a:prstGeom prst="rect">
            <a:avLst/>
          </a:prstGeom>
          <a:noFill/>
        </p:spPr>
        <p:txBody>
          <a:bodyPr wrap="square">
            <a:spAutoFit/>
          </a:bodyPr>
          <a:lstStyle/>
          <a:p>
            <a:pPr algn="ctr"/>
            <a:r>
              <a:rPr sz="1200" b="1">
                <a:solidFill>
                  <a:srgbClr val="1A3A5C"/>
                </a:solidFill>
                <a:latin typeface="Meiryo"/>
              </a:rPr>
              <a:t>デプスジャンプ
180°ターン</a:t>
            </a:r>
          </a:p>
        </p:txBody>
      </p:sp>
      <p:sp>
        <p:nvSpPr>
          <p:cNvPr id="38" name="TextBox 37"/>
          <p:cNvSpPr txBox="1"/>
          <p:nvPr/>
        </p:nvSpPr>
        <p:spPr>
          <a:xfrm>
            <a:off x="4818888" y="5760720"/>
            <a:ext cx="2651760" cy="777240"/>
          </a:xfrm>
          <a:prstGeom prst="rect">
            <a:avLst/>
          </a:prstGeom>
          <a:noFill/>
        </p:spPr>
        <p:txBody>
          <a:bodyPr wrap="square">
            <a:spAutoFit/>
          </a:bodyPr>
          <a:lstStyle/>
          <a:p>
            <a:pPr algn="ctr"/>
            <a:r>
              <a:rPr sz="1100" b="0">
                <a:solidFill>
                  <a:srgbClr val="7F8C8D"/>
                </a:solidFill>
                <a:latin typeface="Meiryo"/>
              </a:rPr>
              <a:t>空中で180°回転し
反対向きに着地</a:t>
            </a:r>
          </a:p>
        </p:txBody>
      </p:sp>
      <p:sp>
        <p:nvSpPr>
          <p:cNvPr id="39" name="Rectangle 38"/>
          <p:cNvSpPr/>
          <p:nvPr/>
        </p:nvSpPr>
        <p:spPr>
          <a:xfrm>
            <a:off x="7726679" y="4572000"/>
            <a:ext cx="2834640" cy="20116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726679" y="4572000"/>
            <a:ext cx="2834640" cy="365760"/>
          </a:xfrm>
          <a:prstGeom prst="rect">
            <a:avLst/>
          </a:prstGeom>
          <a:solidFill>
            <a:srgbClr val="E74C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799831" y="4626864"/>
            <a:ext cx="731520" cy="292608"/>
          </a:xfrm>
          <a:prstGeom prst="rect">
            <a:avLst/>
          </a:prstGeom>
          <a:noFill/>
        </p:spPr>
        <p:txBody>
          <a:bodyPr wrap="square">
            <a:spAutoFit/>
          </a:bodyPr>
          <a:lstStyle/>
          <a:p>
            <a:pPr algn="l"/>
            <a:r>
              <a:rPr sz="1000" b="1">
                <a:solidFill>
                  <a:srgbClr val="FFFFFF"/>
                </a:solidFill>
                <a:latin typeface="Meiryo"/>
              </a:rPr>
              <a:t>18.41</a:t>
            </a:r>
          </a:p>
        </p:txBody>
      </p:sp>
      <p:sp>
        <p:nvSpPr>
          <p:cNvPr id="42" name="TextBox 41"/>
          <p:cNvSpPr txBox="1"/>
          <p:nvPr/>
        </p:nvSpPr>
        <p:spPr>
          <a:xfrm>
            <a:off x="7818119" y="5029200"/>
            <a:ext cx="2651760" cy="685800"/>
          </a:xfrm>
          <a:prstGeom prst="rect">
            <a:avLst/>
          </a:prstGeom>
          <a:noFill/>
        </p:spPr>
        <p:txBody>
          <a:bodyPr wrap="square">
            <a:spAutoFit/>
          </a:bodyPr>
          <a:lstStyle/>
          <a:p>
            <a:pPr algn="ctr"/>
            <a:r>
              <a:rPr sz="1200" b="1">
                <a:solidFill>
                  <a:srgbClr val="1A3A5C"/>
                </a:solidFill>
                <a:latin typeface="Meiryo"/>
              </a:rPr>
              <a:t>シングルレッグ
デプスジャンプ</a:t>
            </a:r>
          </a:p>
        </p:txBody>
      </p:sp>
      <p:sp>
        <p:nvSpPr>
          <p:cNvPr id="43" name="TextBox 42"/>
          <p:cNvSpPr txBox="1"/>
          <p:nvPr/>
        </p:nvSpPr>
        <p:spPr>
          <a:xfrm>
            <a:off x="7818119" y="5760720"/>
            <a:ext cx="2651760" cy="777240"/>
          </a:xfrm>
          <a:prstGeom prst="rect">
            <a:avLst/>
          </a:prstGeom>
          <a:noFill/>
        </p:spPr>
        <p:txBody>
          <a:bodyPr wrap="square">
            <a:spAutoFit/>
          </a:bodyPr>
          <a:lstStyle/>
          <a:p>
            <a:pPr algn="ctr"/>
            <a:r>
              <a:rPr sz="1100" b="0">
                <a:solidFill>
                  <a:srgbClr val="7F8C8D"/>
                </a:solidFill>
                <a:latin typeface="Meiryo"/>
              </a:rPr>
              <a:t>片足で着地して跳ぶ
十分な経験がある場合のみ</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88720"/>
          </a:xfrm>
          <a:prstGeom prst="rect">
            <a:avLst/>
          </a:prstGeom>
          <a:solidFill>
            <a:srgbClr val="1A3A5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720"/>
            <a:ext cx="12188952" cy="54864"/>
          </a:xfrm>
          <a:prstGeom prst="rect">
            <a:avLst/>
          </a:prstGeom>
          <a:solidFill>
            <a:srgbClr val="2E86C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09728"/>
            <a:ext cx="11430000" cy="777240"/>
          </a:xfrm>
          <a:prstGeom prst="rect">
            <a:avLst/>
          </a:prstGeom>
          <a:noFill/>
        </p:spPr>
        <p:txBody>
          <a:bodyPr wrap="square">
            <a:spAutoFit/>
          </a:bodyPr>
          <a:lstStyle/>
          <a:p>
            <a:pPr algn="l"/>
            <a:r>
              <a:rPr sz="2800" b="1">
                <a:solidFill>
                  <a:srgbClr val="FFFFFF"/>
                </a:solidFill>
                <a:latin typeface="Meiryo"/>
              </a:rPr>
              <a:t>上半身・体幹のプライオメトリクス</a:t>
            </a:r>
          </a:p>
        </p:txBody>
      </p:sp>
      <p:sp>
        <p:nvSpPr>
          <p:cNvPr id="6" name="TextBox 5"/>
          <p:cNvSpPr txBox="1"/>
          <p:nvPr/>
        </p:nvSpPr>
        <p:spPr>
          <a:xfrm>
            <a:off x="365760" y="804672"/>
            <a:ext cx="10972800" cy="365760"/>
          </a:xfrm>
          <a:prstGeom prst="rect">
            <a:avLst/>
          </a:prstGeom>
          <a:noFill/>
        </p:spPr>
        <p:txBody>
          <a:bodyPr wrap="square">
            <a:spAutoFit/>
          </a:bodyPr>
          <a:lstStyle/>
          <a:p>
            <a:pPr algn="l"/>
            <a:r>
              <a:rPr sz="1400" b="0">
                <a:solidFill>
                  <a:srgbClr val="AED6F1"/>
                </a:solidFill>
                <a:latin typeface="Meiryo"/>
              </a:rPr>
              <a:t>Upper Body &amp; Core Plyometrics</a:t>
            </a:r>
          </a:p>
        </p:txBody>
      </p:sp>
      <p:sp>
        <p:nvSpPr>
          <p:cNvPr id="7" name="Rectangle 6"/>
          <p:cNvSpPr/>
          <p:nvPr/>
        </p:nvSpPr>
        <p:spPr>
          <a:xfrm>
            <a:off x="274320" y="1417320"/>
            <a:ext cx="2834640" cy="260604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417320"/>
            <a:ext cx="2834640" cy="384048"/>
          </a:xfrm>
          <a:prstGeom prst="rect">
            <a:avLst/>
          </a:prstGeom>
          <a:solidFill>
            <a:srgbClr val="27AE6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472" y="1481328"/>
            <a:ext cx="731520" cy="292608"/>
          </a:xfrm>
          <a:prstGeom prst="rect">
            <a:avLst/>
          </a:prstGeom>
          <a:noFill/>
        </p:spPr>
        <p:txBody>
          <a:bodyPr wrap="square">
            <a:spAutoFit/>
          </a:bodyPr>
          <a:lstStyle/>
          <a:p>
            <a:pPr algn="l"/>
            <a:r>
              <a:rPr sz="1000" b="1">
                <a:solidFill>
                  <a:srgbClr val="FFFFFF"/>
                </a:solidFill>
                <a:latin typeface="Meiryo"/>
              </a:rPr>
              <a:t>18.42</a:t>
            </a:r>
          </a:p>
        </p:txBody>
      </p:sp>
      <p:sp>
        <p:nvSpPr>
          <p:cNvPr id="10" name="TextBox 9"/>
          <p:cNvSpPr txBox="1"/>
          <p:nvPr/>
        </p:nvSpPr>
        <p:spPr>
          <a:xfrm>
            <a:off x="2286000" y="1481328"/>
            <a:ext cx="777240" cy="292608"/>
          </a:xfrm>
          <a:prstGeom prst="rect">
            <a:avLst/>
          </a:prstGeom>
          <a:noFill/>
        </p:spPr>
        <p:txBody>
          <a:bodyPr wrap="square">
            <a:spAutoFit/>
          </a:bodyPr>
          <a:lstStyle/>
          <a:p>
            <a:pPr algn="r"/>
            <a:r>
              <a:rPr sz="1000" b="1">
                <a:solidFill>
                  <a:srgbClr val="FFFFFF"/>
                </a:solidFill>
                <a:latin typeface="Meiryo"/>
              </a:rPr>
              <a:t>低</a:t>
            </a:r>
          </a:p>
        </p:txBody>
      </p:sp>
      <p:sp>
        <p:nvSpPr>
          <p:cNvPr id="11" name="TextBox 10"/>
          <p:cNvSpPr txBox="1"/>
          <p:nvPr/>
        </p:nvSpPr>
        <p:spPr>
          <a:xfrm>
            <a:off x="365760" y="1892808"/>
            <a:ext cx="2651760" cy="685800"/>
          </a:xfrm>
          <a:prstGeom prst="rect">
            <a:avLst/>
          </a:prstGeom>
          <a:noFill/>
        </p:spPr>
        <p:txBody>
          <a:bodyPr wrap="square">
            <a:spAutoFit/>
          </a:bodyPr>
          <a:lstStyle/>
          <a:p>
            <a:pPr algn="ctr"/>
            <a:r>
              <a:rPr sz="1200" b="1">
                <a:solidFill>
                  <a:srgbClr val="1A3A5C"/>
                </a:solidFill>
                <a:latin typeface="Meiryo"/>
              </a:rPr>
              <a:t>チェストパス</a:t>
            </a:r>
          </a:p>
        </p:txBody>
      </p:sp>
      <p:sp>
        <p:nvSpPr>
          <p:cNvPr id="12" name="TextBox 11"/>
          <p:cNvSpPr txBox="1"/>
          <p:nvPr/>
        </p:nvSpPr>
        <p:spPr>
          <a:xfrm>
            <a:off x="365760" y="2606040"/>
            <a:ext cx="2651760" cy="365760"/>
          </a:xfrm>
          <a:prstGeom prst="rect">
            <a:avLst/>
          </a:prstGeom>
          <a:noFill/>
        </p:spPr>
        <p:txBody>
          <a:bodyPr wrap="square">
            <a:spAutoFit/>
          </a:bodyPr>
          <a:lstStyle/>
          <a:p>
            <a:pPr algn="ctr"/>
            <a:r>
              <a:rPr sz="1000" b="0">
                <a:solidFill>
                  <a:srgbClr val="2E86C1"/>
                </a:solidFill>
                <a:latin typeface="Meiryo"/>
              </a:rPr>
              <a:t>MB 0.9〜3.6kg</a:t>
            </a:r>
          </a:p>
        </p:txBody>
      </p:sp>
      <p:sp>
        <p:nvSpPr>
          <p:cNvPr id="13" name="TextBox 12"/>
          <p:cNvSpPr txBox="1"/>
          <p:nvPr/>
        </p:nvSpPr>
        <p:spPr>
          <a:xfrm>
            <a:off x="365760" y="3017520"/>
            <a:ext cx="2651760" cy="914400"/>
          </a:xfrm>
          <a:prstGeom prst="rect">
            <a:avLst/>
          </a:prstGeom>
          <a:noFill/>
        </p:spPr>
        <p:txBody>
          <a:bodyPr wrap="square">
            <a:spAutoFit/>
          </a:bodyPr>
          <a:lstStyle/>
          <a:p>
            <a:pPr algn="ctr"/>
            <a:r>
              <a:rPr sz="1100" b="0">
                <a:solidFill>
                  <a:srgbClr val="7F8C8D"/>
                </a:solidFill>
                <a:latin typeface="Meiryo"/>
              </a:rPr>
              <a:t>胸から両腕で投げ
ただちに投げ返す</a:t>
            </a:r>
          </a:p>
        </p:txBody>
      </p:sp>
      <p:sp>
        <p:nvSpPr>
          <p:cNvPr id="14" name="Rectangle 13"/>
          <p:cNvSpPr/>
          <p:nvPr/>
        </p:nvSpPr>
        <p:spPr>
          <a:xfrm>
            <a:off x="3273551" y="1417320"/>
            <a:ext cx="2834640" cy="260604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73551" y="1417320"/>
            <a:ext cx="2834640" cy="384048"/>
          </a:xfrm>
          <a:prstGeom prst="rect">
            <a:avLst/>
          </a:prstGeom>
          <a:solidFill>
            <a:srgbClr val="27AE6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46703" y="1481328"/>
            <a:ext cx="731520" cy="292608"/>
          </a:xfrm>
          <a:prstGeom prst="rect">
            <a:avLst/>
          </a:prstGeom>
          <a:noFill/>
        </p:spPr>
        <p:txBody>
          <a:bodyPr wrap="square">
            <a:spAutoFit/>
          </a:bodyPr>
          <a:lstStyle/>
          <a:p>
            <a:pPr algn="l"/>
            <a:r>
              <a:rPr sz="1000" b="1">
                <a:solidFill>
                  <a:srgbClr val="FFFFFF"/>
                </a:solidFill>
                <a:latin typeface="Meiryo"/>
              </a:rPr>
              <a:t>18.43</a:t>
            </a:r>
          </a:p>
        </p:txBody>
      </p:sp>
      <p:sp>
        <p:nvSpPr>
          <p:cNvPr id="17" name="TextBox 16"/>
          <p:cNvSpPr txBox="1"/>
          <p:nvPr/>
        </p:nvSpPr>
        <p:spPr>
          <a:xfrm>
            <a:off x="5285231" y="1481328"/>
            <a:ext cx="777240" cy="292608"/>
          </a:xfrm>
          <a:prstGeom prst="rect">
            <a:avLst/>
          </a:prstGeom>
          <a:noFill/>
        </p:spPr>
        <p:txBody>
          <a:bodyPr wrap="square">
            <a:spAutoFit/>
          </a:bodyPr>
          <a:lstStyle/>
          <a:p>
            <a:pPr algn="r"/>
            <a:r>
              <a:rPr sz="1000" b="1">
                <a:solidFill>
                  <a:srgbClr val="FFFFFF"/>
                </a:solidFill>
                <a:latin typeface="Meiryo"/>
              </a:rPr>
              <a:t>低</a:t>
            </a:r>
          </a:p>
        </p:txBody>
      </p:sp>
      <p:sp>
        <p:nvSpPr>
          <p:cNvPr id="18" name="TextBox 17"/>
          <p:cNvSpPr txBox="1"/>
          <p:nvPr/>
        </p:nvSpPr>
        <p:spPr>
          <a:xfrm>
            <a:off x="3364991" y="1892808"/>
            <a:ext cx="2651760" cy="685800"/>
          </a:xfrm>
          <a:prstGeom prst="rect">
            <a:avLst/>
          </a:prstGeom>
          <a:noFill/>
        </p:spPr>
        <p:txBody>
          <a:bodyPr wrap="square">
            <a:spAutoFit/>
          </a:bodyPr>
          <a:lstStyle/>
          <a:p>
            <a:pPr algn="ctr"/>
            <a:r>
              <a:rPr sz="1200" b="1">
                <a:solidFill>
                  <a:srgbClr val="1A3A5C"/>
                </a:solidFill>
                <a:latin typeface="Meiryo"/>
              </a:rPr>
              <a:t>トゥーハンド
オーバーヘッドスロー</a:t>
            </a:r>
          </a:p>
        </p:txBody>
      </p:sp>
      <p:sp>
        <p:nvSpPr>
          <p:cNvPr id="19" name="TextBox 18"/>
          <p:cNvSpPr txBox="1"/>
          <p:nvPr/>
        </p:nvSpPr>
        <p:spPr>
          <a:xfrm>
            <a:off x="3364991" y="2606040"/>
            <a:ext cx="2651760" cy="365760"/>
          </a:xfrm>
          <a:prstGeom prst="rect">
            <a:avLst/>
          </a:prstGeom>
          <a:noFill/>
        </p:spPr>
        <p:txBody>
          <a:bodyPr wrap="square">
            <a:spAutoFit/>
          </a:bodyPr>
          <a:lstStyle/>
          <a:p>
            <a:pPr algn="ctr"/>
            <a:r>
              <a:rPr sz="1000" b="0">
                <a:solidFill>
                  <a:srgbClr val="2E86C1"/>
                </a:solidFill>
                <a:latin typeface="Meiryo"/>
              </a:rPr>
              <a:t>MB 0.9〜3.6kg</a:t>
            </a:r>
          </a:p>
        </p:txBody>
      </p:sp>
      <p:sp>
        <p:nvSpPr>
          <p:cNvPr id="20" name="TextBox 19"/>
          <p:cNvSpPr txBox="1"/>
          <p:nvPr/>
        </p:nvSpPr>
        <p:spPr>
          <a:xfrm>
            <a:off x="3364991" y="3017520"/>
            <a:ext cx="2651760" cy="914400"/>
          </a:xfrm>
          <a:prstGeom prst="rect">
            <a:avLst/>
          </a:prstGeom>
          <a:noFill/>
        </p:spPr>
        <p:txBody>
          <a:bodyPr wrap="square">
            <a:spAutoFit/>
          </a:bodyPr>
          <a:lstStyle/>
          <a:p>
            <a:pPr algn="ctr"/>
            <a:r>
              <a:rPr sz="1100" b="0">
                <a:solidFill>
                  <a:srgbClr val="7F8C8D"/>
                </a:solidFill>
                <a:latin typeface="Meiryo"/>
              </a:rPr>
              <a:t>頭上から投げ
頭上でキャッチ</a:t>
            </a:r>
          </a:p>
        </p:txBody>
      </p:sp>
      <p:sp>
        <p:nvSpPr>
          <p:cNvPr id="21" name="Rectangle 20"/>
          <p:cNvSpPr/>
          <p:nvPr/>
        </p:nvSpPr>
        <p:spPr>
          <a:xfrm>
            <a:off x="6272783" y="1417320"/>
            <a:ext cx="2834640" cy="260604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72783" y="1417320"/>
            <a:ext cx="2834640" cy="384048"/>
          </a:xfrm>
          <a:prstGeom prst="rect">
            <a:avLst/>
          </a:prstGeom>
          <a:solidFill>
            <a:srgbClr val="27AE6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45936" y="1481328"/>
            <a:ext cx="731520" cy="292608"/>
          </a:xfrm>
          <a:prstGeom prst="rect">
            <a:avLst/>
          </a:prstGeom>
          <a:noFill/>
        </p:spPr>
        <p:txBody>
          <a:bodyPr wrap="square">
            <a:spAutoFit/>
          </a:bodyPr>
          <a:lstStyle/>
          <a:p>
            <a:pPr algn="l"/>
            <a:r>
              <a:rPr sz="1000" b="1">
                <a:solidFill>
                  <a:srgbClr val="FFFFFF"/>
                </a:solidFill>
                <a:latin typeface="Meiryo"/>
              </a:rPr>
              <a:t>18.44</a:t>
            </a:r>
          </a:p>
        </p:txBody>
      </p:sp>
      <p:sp>
        <p:nvSpPr>
          <p:cNvPr id="24" name="TextBox 23"/>
          <p:cNvSpPr txBox="1"/>
          <p:nvPr/>
        </p:nvSpPr>
        <p:spPr>
          <a:xfrm>
            <a:off x="8284463" y="1481328"/>
            <a:ext cx="777240" cy="292608"/>
          </a:xfrm>
          <a:prstGeom prst="rect">
            <a:avLst/>
          </a:prstGeom>
          <a:noFill/>
        </p:spPr>
        <p:txBody>
          <a:bodyPr wrap="square">
            <a:spAutoFit/>
          </a:bodyPr>
          <a:lstStyle/>
          <a:p>
            <a:pPr algn="r"/>
            <a:r>
              <a:rPr sz="1000" b="1">
                <a:solidFill>
                  <a:srgbClr val="FFFFFF"/>
                </a:solidFill>
                <a:latin typeface="Meiryo"/>
              </a:rPr>
              <a:t>低</a:t>
            </a:r>
          </a:p>
        </p:txBody>
      </p:sp>
      <p:sp>
        <p:nvSpPr>
          <p:cNvPr id="25" name="TextBox 24"/>
          <p:cNvSpPr txBox="1"/>
          <p:nvPr/>
        </p:nvSpPr>
        <p:spPr>
          <a:xfrm>
            <a:off x="6364223" y="1892808"/>
            <a:ext cx="2651760" cy="685800"/>
          </a:xfrm>
          <a:prstGeom prst="rect">
            <a:avLst/>
          </a:prstGeom>
          <a:noFill/>
        </p:spPr>
        <p:txBody>
          <a:bodyPr wrap="square">
            <a:spAutoFit/>
          </a:bodyPr>
          <a:lstStyle/>
          <a:p>
            <a:pPr algn="ctr"/>
            <a:r>
              <a:rPr sz="1200" b="1">
                <a:solidFill>
                  <a:srgbClr val="1A3A5C"/>
                </a:solidFill>
                <a:latin typeface="Meiryo"/>
              </a:rPr>
              <a:t>トゥーハンド
サイドトゥーサイドスロー</a:t>
            </a:r>
          </a:p>
        </p:txBody>
      </p:sp>
      <p:sp>
        <p:nvSpPr>
          <p:cNvPr id="26" name="TextBox 25"/>
          <p:cNvSpPr txBox="1"/>
          <p:nvPr/>
        </p:nvSpPr>
        <p:spPr>
          <a:xfrm>
            <a:off x="6364223" y="2606040"/>
            <a:ext cx="2651760" cy="365760"/>
          </a:xfrm>
          <a:prstGeom prst="rect">
            <a:avLst/>
          </a:prstGeom>
          <a:noFill/>
        </p:spPr>
        <p:txBody>
          <a:bodyPr wrap="square">
            <a:spAutoFit/>
          </a:bodyPr>
          <a:lstStyle/>
          <a:p>
            <a:pPr algn="ctr"/>
            <a:r>
              <a:rPr sz="1000" b="0">
                <a:solidFill>
                  <a:srgbClr val="2E86C1"/>
                </a:solidFill>
                <a:latin typeface="Meiryo"/>
              </a:rPr>
              <a:t>MB 0.9〜3.6kg</a:t>
            </a:r>
          </a:p>
        </p:txBody>
      </p:sp>
      <p:sp>
        <p:nvSpPr>
          <p:cNvPr id="27" name="TextBox 26"/>
          <p:cNvSpPr txBox="1"/>
          <p:nvPr/>
        </p:nvSpPr>
        <p:spPr>
          <a:xfrm>
            <a:off x="6364223" y="3017520"/>
            <a:ext cx="2651760" cy="914400"/>
          </a:xfrm>
          <a:prstGeom prst="rect">
            <a:avLst/>
          </a:prstGeom>
          <a:noFill/>
        </p:spPr>
        <p:txBody>
          <a:bodyPr wrap="square">
            <a:spAutoFit/>
          </a:bodyPr>
          <a:lstStyle/>
          <a:p>
            <a:pPr algn="ctr"/>
            <a:r>
              <a:rPr sz="1100" b="0">
                <a:solidFill>
                  <a:srgbClr val="7F8C8D"/>
                </a:solidFill>
                <a:latin typeface="Meiryo"/>
              </a:rPr>
              <a:t>片側の肩の上から投げ
反対の肩の上でキャッチ</a:t>
            </a:r>
          </a:p>
        </p:txBody>
      </p:sp>
      <p:sp>
        <p:nvSpPr>
          <p:cNvPr id="28" name="Rectangle 27"/>
          <p:cNvSpPr/>
          <p:nvPr/>
        </p:nvSpPr>
        <p:spPr>
          <a:xfrm>
            <a:off x="9272016" y="1417320"/>
            <a:ext cx="2834640" cy="260604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272016" y="1417320"/>
            <a:ext cx="2834640" cy="384048"/>
          </a:xfrm>
          <a:prstGeom prst="rect">
            <a:avLst/>
          </a:prstGeom>
          <a:solidFill>
            <a:srgbClr val="F39C1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345168" y="1481328"/>
            <a:ext cx="731520" cy="292608"/>
          </a:xfrm>
          <a:prstGeom prst="rect">
            <a:avLst/>
          </a:prstGeom>
          <a:noFill/>
        </p:spPr>
        <p:txBody>
          <a:bodyPr wrap="square">
            <a:spAutoFit/>
          </a:bodyPr>
          <a:lstStyle/>
          <a:p>
            <a:pPr algn="l"/>
            <a:r>
              <a:rPr sz="1000" b="1">
                <a:solidFill>
                  <a:srgbClr val="FFFFFF"/>
                </a:solidFill>
                <a:latin typeface="Meiryo"/>
              </a:rPr>
              <a:t>18.45</a:t>
            </a:r>
          </a:p>
        </p:txBody>
      </p:sp>
      <p:sp>
        <p:nvSpPr>
          <p:cNvPr id="31" name="TextBox 30"/>
          <p:cNvSpPr txBox="1"/>
          <p:nvPr/>
        </p:nvSpPr>
        <p:spPr>
          <a:xfrm>
            <a:off x="11283696" y="1481328"/>
            <a:ext cx="777240" cy="292608"/>
          </a:xfrm>
          <a:prstGeom prst="rect">
            <a:avLst/>
          </a:prstGeom>
          <a:noFill/>
        </p:spPr>
        <p:txBody>
          <a:bodyPr wrap="square">
            <a:spAutoFit/>
          </a:bodyPr>
          <a:lstStyle/>
          <a:p>
            <a:pPr algn="r"/>
            <a:r>
              <a:rPr sz="1000" b="1">
                <a:solidFill>
                  <a:srgbClr val="FFFFFF"/>
                </a:solidFill>
                <a:latin typeface="Meiryo"/>
              </a:rPr>
              <a:t>中</a:t>
            </a:r>
          </a:p>
        </p:txBody>
      </p:sp>
      <p:sp>
        <p:nvSpPr>
          <p:cNvPr id="32" name="TextBox 31"/>
          <p:cNvSpPr txBox="1"/>
          <p:nvPr/>
        </p:nvSpPr>
        <p:spPr>
          <a:xfrm>
            <a:off x="9363456" y="1892808"/>
            <a:ext cx="2651760" cy="685800"/>
          </a:xfrm>
          <a:prstGeom prst="rect">
            <a:avLst/>
          </a:prstGeom>
          <a:noFill/>
        </p:spPr>
        <p:txBody>
          <a:bodyPr wrap="square">
            <a:spAutoFit/>
          </a:bodyPr>
          <a:lstStyle/>
          <a:p>
            <a:pPr algn="ctr"/>
            <a:r>
              <a:rPr sz="1200" b="1">
                <a:solidFill>
                  <a:srgbClr val="1A3A5C"/>
                </a:solidFill>
                <a:latin typeface="Meiryo"/>
              </a:rPr>
              <a:t>シングルアーム
スロー</a:t>
            </a:r>
          </a:p>
        </p:txBody>
      </p:sp>
      <p:sp>
        <p:nvSpPr>
          <p:cNvPr id="33" name="TextBox 32"/>
          <p:cNvSpPr txBox="1"/>
          <p:nvPr/>
        </p:nvSpPr>
        <p:spPr>
          <a:xfrm>
            <a:off x="9363456" y="2606040"/>
            <a:ext cx="2651760" cy="365760"/>
          </a:xfrm>
          <a:prstGeom prst="rect">
            <a:avLst/>
          </a:prstGeom>
          <a:noFill/>
        </p:spPr>
        <p:txBody>
          <a:bodyPr wrap="square">
            <a:spAutoFit/>
          </a:bodyPr>
          <a:lstStyle/>
          <a:p>
            <a:pPr algn="ctr"/>
            <a:r>
              <a:rPr sz="1000" b="0">
                <a:solidFill>
                  <a:srgbClr val="2E86C1"/>
                </a:solidFill>
                <a:latin typeface="Meiryo"/>
              </a:rPr>
              <a:t>MB 0.5〜2.3kg</a:t>
            </a:r>
          </a:p>
        </p:txBody>
      </p:sp>
      <p:sp>
        <p:nvSpPr>
          <p:cNvPr id="34" name="TextBox 33"/>
          <p:cNvSpPr txBox="1"/>
          <p:nvPr/>
        </p:nvSpPr>
        <p:spPr>
          <a:xfrm>
            <a:off x="9363456" y="3017520"/>
            <a:ext cx="2651760" cy="914400"/>
          </a:xfrm>
          <a:prstGeom prst="rect">
            <a:avLst/>
          </a:prstGeom>
          <a:noFill/>
        </p:spPr>
        <p:txBody>
          <a:bodyPr wrap="square">
            <a:spAutoFit/>
          </a:bodyPr>
          <a:lstStyle/>
          <a:p>
            <a:pPr algn="ctr"/>
            <a:r>
              <a:rPr sz="1100" b="0">
                <a:solidFill>
                  <a:srgbClr val="7F8C8D"/>
                </a:solidFill>
                <a:latin typeface="Meiryo"/>
              </a:rPr>
              <a:t>肩90°外転・肘90°屈曲
から片腕で投げる</a:t>
            </a:r>
          </a:p>
        </p:txBody>
      </p:sp>
      <p:sp>
        <p:nvSpPr>
          <p:cNvPr id="35" name="Rectangle 34"/>
          <p:cNvSpPr/>
          <p:nvPr/>
        </p:nvSpPr>
        <p:spPr>
          <a:xfrm>
            <a:off x="1691640" y="3931920"/>
            <a:ext cx="2834640" cy="260604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691640" y="3931920"/>
            <a:ext cx="2834640" cy="384048"/>
          </a:xfrm>
          <a:prstGeom prst="rect">
            <a:avLst/>
          </a:prstGeom>
          <a:solidFill>
            <a:srgbClr val="E74C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764792" y="3995928"/>
            <a:ext cx="731520" cy="292608"/>
          </a:xfrm>
          <a:prstGeom prst="rect">
            <a:avLst/>
          </a:prstGeom>
          <a:noFill/>
        </p:spPr>
        <p:txBody>
          <a:bodyPr wrap="square">
            <a:spAutoFit/>
          </a:bodyPr>
          <a:lstStyle/>
          <a:p>
            <a:pPr algn="l"/>
            <a:r>
              <a:rPr sz="1000" b="1">
                <a:solidFill>
                  <a:srgbClr val="FFFFFF"/>
                </a:solidFill>
                <a:latin typeface="Meiryo"/>
              </a:rPr>
              <a:t>18.46</a:t>
            </a:r>
          </a:p>
        </p:txBody>
      </p:sp>
      <p:sp>
        <p:nvSpPr>
          <p:cNvPr id="38" name="TextBox 37"/>
          <p:cNvSpPr txBox="1"/>
          <p:nvPr/>
        </p:nvSpPr>
        <p:spPr>
          <a:xfrm>
            <a:off x="3703320" y="3995928"/>
            <a:ext cx="777240" cy="292608"/>
          </a:xfrm>
          <a:prstGeom prst="rect">
            <a:avLst/>
          </a:prstGeom>
          <a:noFill/>
        </p:spPr>
        <p:txBody>
          <a:bodyPr wrap="square">
            <a:spAutoFit/>
          </a:bodyPr>
          <a:lstStyle/>
          <a:p>
            <a:pPr algn="r"/>
            <a:r>
              <a:rPr sz="1000" b="1">
                <a:solidFill>
                  <a:srgbClr val="FFFFFF"/>
                </a:solidFill>
                <a:latin typeface="Meiryo"/>
              </a:rPr>
              <a:t>高</a:t>
            </a:r>
          </a:p>
        </p:txBody>
      </p:sp>
      <p:sp>
        <p:nvSpPr>
          <p:cNvPr id="39" name="TextBox 38"/>
          <p:cNvSpPr txBox="1"/>
          <p:nvPr/>
        </p:nvSpPr>
        <p:spPr>
          <a:xfrm>
            <a:off x="1783080" y="4407408"/>
            <a:ext cx="2651760" cy="685800"/>
          </a:xfrm>
          <a:prstGeom prst="rect">
            <a:avLst/>
          </a:prstGeom>
          <a:noFill/>
        </p:spPr>
        <p:txBody>
          <a:bodyPr wrap="square">
            <a:spAutoFit/>
          </a:bodyPr>
          <a:lstStyle/>
          <a:p>
            <a:pPr algn="ctr"/>
            <a:r>
              <a:rPr sz="1200" b="1">
                <a:solidFill>
                  <a:srgbClr val="1A3A5C"/>
                </a:solidFill>
                <a:latin typeface="Meiryo"/>
              </a:rPr>
              <a:t>パワー
ドロップ</a:t>
            </a:r>
          </a:p>
        </p:txBody>
      </p:sp>
      <p:sp>
        <p:nvSpPr>
          <p:cNvPr id="40" name="TextBox 39"/>
          <p:cNvSpPr txBox="1"/>
          <p:nvPr/>
        </p:nvSpPr>
        <p:spPr>
          <a:xfrm>
            <a:off x="1783080" y="5120640"/>
            <a:ext cx="2651760" cy="365760"/>
          </a:xfrm>
          <a:prstGeom prst="rect">
            <a:avLst/>
          </a:prstGeom>
          <a:noFill/>
        </p:spPr>
        <p:txBody>
          <a:bodyPr wrap="square">
            <a:spAutoFit/>
          </a:bodyPr>
          <a:lstStyle/>
          <a:p>
            <a:pPr algn="ctr"/>
            <a:r>
              <a:rPr sz="1000" b="0">
                <a:solidFill>
                  <a:srgbClr val="2E86C1"/>
                </a:solidFill>
                <a:latin typeface="Meiryo"/>
              </a:rPr>
              <a:t>MB 0.9〜3.6kg＋ボックス</a:t>
            </a:r>
          </a:p>
        </p:txBody>
      </p:sp>
      <p:sp>
        <p:nvSpPr>
          <p:cNvPr id="41" name="TextBox 40"/>
          <p:cNvSpPr txBox="1"/>
          <p:nvPr/>
        </p:nvSpPr>
        <p:spPr>
          <a:xfrm>
            <a:off x="1783080" y="5532120"/>
            <a:ext cx="2651760" cy="914400"/>
          </a:xfrm>
          <a:prstGeom prst="rect">
            <a:avLst/>
          </a:prstGeom>
          <a:noFill/>
        </p:spPr>
        <p:txBody>
          <a:bodyPr wrap="square">
            <a:spAutoFit/>
          </a:bodyPr>
          <a:lstStyle/>
          <a:p>
            <a:pPr algn="ctr"/>
            <a:r>
              <a:rPr sz="1100" b="0">
                <a:solidFill>
                  <a:srgbClr val="7F8C8D"/>
                </a:solidFill>
                <a:latin typeface="Meiryo"/>
              </a:rPr>
              <a:t>仰向けで落ちてきたボールを
キャッチしてただちに返す</a:t>
            </a:r>
          </a:p>
        </p:txBody>
      </p:sp>
      <p:sp>
        <p:nvSpPr>
          <p:cNvPr id="42" name="Rectangle 41"/>
          <p:cNvSpPr/>
          <p:nvPr/>
        </p:nvSpPr>
        <p:spPr>
          <a:xfrm>
            <a:off x="4690872" y="3931920"/>
            <a:ext cx="2834640" cy="260604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690872" y="3931920"/>
            <a:ext cx="2834640" cy="384048"/>
          </a:xfrm>
          <a:prstGeom prst="rect">
            <a:avLst/>
          </a:prstGeom>
          <a:solidFill>
            <a:srgbClr val="F39C1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764024" y="3995928"/>
            <a:ext cx="731520" cy="292608"/>
          </a:xfrm>
          <a:prstGeom prst="rect">
            <a:avLst/>
          </a:prstGeom>
          <a:noFill/>
        </p:spPr>
        <p:txBody>
          <a:bodyPr wrap="square">
            <a:spAutoFit/>
          </a:bodyPr>
          <a:lstStyle/>
          <a:p>
            <a:pPr algn="l"/>
            <a:r>
              <a:rPr sz="1000" b="1">
                <a:solidFill>
                  <a:srgbClr val="FFFFFF"/>
                </a:solidFill>
                <a:latin typeface="Meiryo"/>
              </a:rPr>
              <a:t>18.47</a:t>
            </a:r>
          </a:p>
        </p:txBody>
      </p:sp>
      <p:sp>
        <p:nvSpPr>
          <p:cNvPr id="45" name="TextBox 44"/>
          <p:cNvSpPr txBox="1"/>
          <p:nvPr/>
        </p:nvSpPr>
        <p:spPr>
          <a:xfrm>
            <a:off x="6702552" y="3995928"/>
            <a:ext cx="777240" cy="292608"/>
          </a:xfrm>
          <a:prstGeom prst="rect">
            <a:avLst/>
          </a:prstGeom>
          <a:noFill/>
        </p:spPr>
        <p:txBody>
          <a:bodyPr wrap="square">
            <a:spAutoFit/>
          </a:bodyPr>
          <a:lstStyle/>
          <a:p>
            <a:pPr algn="r"/>
            <a:r>
              <a:rPr sz="1000" b="1">
                <a:solidFill>
                  <a:srgbClr val="FFFFFF"/>
                </a:solidFill>
                <a:latin typeface="Meiryo"/>
              </a:rPr>
              <a:t>中</a:t>
            </a:r>
          </a:p>
        </p:txBody>
      </p:sp>
      <p:sp>
        <p:nvSpPr>
          <p:cNvPr id="46" name="TextBox 45"/>
          <p:cNvSpPr txBox="1"/>
          <p:nvPr/>
        </p:nvSpPr>
        <p:spPr>
          <a:xfrm>
            <a:off x="4782312" y="4407408"/>
            <a:ext cx="2651760" cy="685800"/>
          </a:xfrm>
          <a:prstGeom prst="rect">
            <a:avLst/>
          </a:prstGeom>
          <a:noFill/>
        </p:spPr>
        <p:txBody>
          <a:bodyPr wrap="square">
            <a:spAutoFit/>
          </a:bodyPr>
          <a:lstStyle/>
          <a:p>
            <a:pPr algn="ctr"/>
            <a:r>
              <a:rPr sz="1200" b="1">
                <a:solidFill>
                  <a:srgbClr val="1A3A5C"/>
                </a:solidFill>
                <a:latin typeface="Meiryo"/>
              </a:rPr>
              <a:t>デプス
プッシュアップ</a:t>
            </a:r>
          </a:p>
        </p:txBody>
      </p:sp>
      <p:sp>
        <p:nvSpPr>
          <p:cNvPr id="47" name="TextBox 46"/>
          <p:cNvSpPr txBox="1"/>
          <p:nvPr/>
        </p:nvSpPr>
        <p:spPr>
          <a:xfrm>
            <a:off x="4782312" y="5120640"/>
            <a:ext cx="2651760" cy="365760"/>
          </a:xfrm>
          <a:prstGeom prst="rect">
            <a:avLst/>
          </a:prstGeom>
          <a:noFill/>
        </p:spPr>
        <p:txBody>
          <a:bodyPr wrap="square">
            <a:spAutoFit/>
          </a:bodyPr>
          <a:lstStyle/>
          <a:p>
            <a:pPr algn="ctr"/>
            <a:r>
              <a:rPr sz="1000" b="0">
                <a:solidFill>
                  <a:srgbClr val="2E86C1"/>
                </a:solidFill>
                <a:latin typeface="Meiryo"/>
              </a:rPr>
              <a:t>MB 2.3〜3.6kg</a:t>
            </a:r>
          </a:p>
        </p:txBody>
      </p:sp>
      <p:sp>
        <p:nvSpPr>
          <p:cNvPr id="48" name="TextBox 47"/>
          <p:cNvSpPr txBox="1"/>
          <p:nvPr/>
        </p:nvSpPr>
        <p:spPr>
          <a:xfrm>
            <a:off x="4782312" y="5532120"/>
            <a:ext cx="2651760" cy="914400"/>
          </a:xfrm>
          <a:prstGeom prst="rect">
            <a:avLst/>
          </a:prstGeom>
          <a:noFill/>
        </p:spPr>
        <p:txBody>
          <a:bodyPr wrap="square">
            <a:spAutoFit/>
          </a:bodyPr>
          <a:lstStyle/>
          <a:p>
            <a:pPr algn="ctr"/>
            <a:r>
              <a:rPr sz="1100" b="0">
                <a:solidFill>
                  <a:srgbClr val="7F8C8D"/>
                </a:solidFill>
                <a:latin typeface="Meiryo"/>
              </a:rPr>
              <a:t>ボールから手を外して受け
ただちに押し返す</a:t>
            </a:r>
          </a:p>
        </p:txBody>
      </p:sp>
      <p:sp>
        <p:nvSpPr>
          <p:cNvPr id="49" name="Rectangle 48"/>
          <p:cNvSpPr/>
          <p:nvPr/>
        </p:nvSpPr>
        <p:spPr>
          <a:xfrm>
            <a:off x="7690104" y="3931920"/>
            <a:ext cx="2834640" cy="260604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690104" y="3931920"/>
            <a:ext cx="2834640" cy="384048"/>
          </a:xfrm>
          <a:prstGeom prst="rect">
            <a:avLst/>
          </a:prstGeom>
          <a:solidFill>
            <a:srgbClr val="F39C1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763256" y="3995928"/>
            <a:ext cx="731520" cy="292608"/>
          </a:xfrm>
          <a:prstGeom prst="rect">
            <a:avLst/>
          </a:prstGeom>
          <a:noFill/>
        </p:spPr>
        <p:txBody>
          <a:bodyPr wrap="square">
            <a:spAutoFit/>
          </a:bodyPr>
          <a:lstStyle/>
          <a:p>
            <a:pPr algn="l"/>
            <a:r>
              <a:rPr sz="1000" b="1">
                <a:solidFill>
                  <a:srgbClr val="FFFFFF"/>
                </a:solidFill>
                <a:latin typeface="Meiryo"/>
              </a:rPr>
              <a:t>18.48</a:t>
            </a:r>
          </a:p>
        </p:txBody>
      </p:sp>
      <p:sp>
        <p:nvSpPr>
          <p:cNvPr id="52" name="TextBox 51"/>
          <p:cNvSpPr txBox="1"/>
          <p:nvPr/>
        </p:nvSpPr>
        <p:spPr>
          <a:xfrm>
            <a:off x="9701784" y="3995928"/>
            <a:ext cx="777240" cy="292608"/>
          </a:xfrm>
          <a:prstGeom prst="rect">
            <a:avLst/>
          </a:prstGeom>
          <a:noFill/>
        </p:spPr>
        <p:txBody>
          <a:bodyPr wrap="square">
            <a:spAutoFit/>
          </a:bodyPr>
          <a:lstStyle/>
          <a:p>
            <a:pPr algn="r"/>
            <a:r>
              <a:rPr sz="1000" b="1">
                <a:solidFill>
                  <a:srgbClr val="FFFFFF"/>
                </a:solidFill>
                <a:latin typeface="Meiryo"/>
              </a:rPr>
              <a:t>中</a:t>
            </a:r>
          </a:p>
        </p:txBody>
      </p:sp>
      <p:sp>
        <p:nvSpPr>
          <p:cNvPr id="53" name="TextBox 52"/>
          <p:cNvSpPr txBox="1"/>
          <p:nvPr/>
        </p:nvSpPr>
        <p:spPr>
          <a:xfrm>
            <a:off x="7781544" y="4407408"/>
            <a:ext cx="2651760" cy="685800"/>
          </a:xfrm>
          <a:prstGeom prst="rect">
            <a:avLst/>
          </a:prstGeom>
          <a:noFill/>
        </p:spPr>
        <p:txBody>
          <a:bodyPr wrap="square">
            <a:spAutoFit/>
          </a:bodyPr>
          <a:lstStyle/>
          <a:p>
            <a:pPr algn="ctr"/>
            <a:r>
              <a:rPr sz="1200" b="1">
                <a:solidFill>
                  <a:srgbClr val="1A3A5C"/>
                </a:solidFill>
                <a:latin typeface="Meiryo"/>
              </a:rPr>
              <a:t>45°
シットアップ</a:t>
            </a:r>
          </a:p>
        </p:txBody>
      </p:sp>
      <p:sp>
        <p:nvSpPr>
          <p:cNvPr id="54" name="TextBox 53"/>
          <p:cNvSpPr txBox="1"/>
          <p:nvPr/>
        </p:nvSpPr>
        <p:spPr>
          <a:xfrm>
            <a:off x="7781544" y="5120640"/>
            <a:ext cx="2651760" cy="365760"/>
          </a:xfrm>
          <a:prstGeom prst="rect">
            <a:avLst/>
          </a:prstGeom>
          <a:noFill/>
        </p:spPr>
        <p:txBody>
          <a:bodyPr wrap="square">
            <a:spAutoFit/>
          </a:bodyPr>
          <a:lstStyle/>
          <a:p>
            <a:pPr algn="ctr"/>
            <a:r>
              <a:rPr sz="1000" b="0">
                <a:solidFill>
                  <a:srgbClr val="2E86C1"/>
                </a:solidFill>
                <a:latin typeface="Meiryo"/>
              </a:rPr>
              <a:t>MB 0.9〜3.6kg</a:t>
            </a:r>
          </a:p>
        </p:txBody>
      </p:sp>
      <p:sp>
        <p:nvSpPr>
          <p:cNvPr id="55" name="TextBox 54"/>
          <p:cNvSpPr txBox="1"/>
          <p:nvPr/>
        </p:nvSpPr>
        <p:spPr>
          <a:xfrm>
            <a:off x="7781544" y="5532120"/>
            <a:ext cx="2651760" cy="914400"/>
          </a:xfrm>
          <a:prstGeom prst="rect">
            <a:avLst/>
          </a:prstGeom>
          <a:noFill/>
        </p:spPr>
        <p:txBody>
          <a:bodyPr wrap="square">
            <a:spAutoFit/>
          </a:bodyPr>
          <a:lstStyle/>
          <a:p>
            <a:pPr algn="ctr"/>
            <a:r>
              <a:rPr sz="1100" b="0">
                <a:solidFill>
                  <a:srgbClr val="7F8C8D"/>
                </a:solidFill>
                <a:latin typeface="Meiryo"/>
              </a:rPr>
              <a:t>体幹の伸展を抑え
主に腹筋で投げ返す</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88720"/>
          </a:xfrm>
          <a:prstGeom prst="rect">
            <a:avLst/>
          </a:prstGeom>
          <a:solidFill>
            <a:srgbClr val="1A3A5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720"/>
            <a:ext cx="12188952" cy="54864"/>
          </a:xfrm>
          <a:prstGeom prst="rect">
            <a:avLst/>
          </a:prstGeom>
          <a:solidFill>
            <a:srgbClr val="2E86C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09728"/>
            <a:ext cx="11430000" cy="777240"/>
          </a:xfrm>
          <a:prstGeom prst="rect">
            <a:avLst/>
          </a:prstGeom>
          <a:noFill/>
        </p:spPr>
        <p:txBody>
          <a:bodyPr wrap="square">
            <a:spAutoFit/>
          </a:bodyPr>
          <a:lstStyle/>
          <a:p>
            <a:pPr algn="l"/>
            <a:r>
              <a:rPr sz="2800" b="1">
                <a:solidFill>
                  <a:srgbClr val="FFFFFF"/>
                </a:solidFill>
                <a:latin typeface="Meiryo"/>
              </a:rPr>
              <a:t>安全配慮 ─ トレーニング前の評価</a:t>
            </a:r>
          </a:p>
        </p:txBody>
      </p:sp>
      <p:sp>
        <p:nvSpPr>
          <p:cNvPr id="6" name="TextBox 5"/>
          <p:cNvSpPr txBox="1"/>
          <p:nvPr/>
        </p:nvSpPr>
        <p:spPr>
          <a:xfrm>
            <a:off x="365760" y="804672"/>
            <a:ext cx="10972800" cy="365760"/>
          </a:xfrm>
          <a:prstGeom prst="rect">
            <a:avLst/>
          </a:prstGeom>
          <a:noFill/>
        </p:spPr>
        <p:txBody>
          <a:bodyPr wrap="square">
            <a:spAutoFit/>
          </a:bodyPr>
          <a:lstStyle/>
          <a:p>
            <a:pPr algn="l"/>
            <a:r>
              <a:rPr sz="1400" b="0">
                <a:solidFill>
                  <a:srgbClr val="AED6F1"/>
                </a:solidFill>
                <a:latin typeface="Meiryo"/>
              </a:rPr>
              <a:t>Safety — Pre-Training Assessment</a:t>
            </a:r>
          </a:p>
        </p:txBody>
      </p:sp>
      <p:sp>
        <p:nvSpPr>
          <p:cNvPr id="7" name="Rectangle 6"/>
          <p:cNvSpPr/>
          <p:nvPr/>
        </p:nvSpPr>
        <p:spPr>
          <a:xfrm>
            <a:off x="274320" y="1371600"/>
            <a:ext cx="5760720" cy="52120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371600"/>
            <a:ext cx="5760720" cy="411480"/>
          </a:xfrm>
          <a:prstGeom prst="rect">
            <a:avLst/>
          </a:prstGeom>
          <a:solidFill>
            <a:srgbClr val="E74C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417320"/>
            <a:ext cx="5486400" cy="347472"/>
          </a:xfrm>
          <a:prstGeom prst="rect">
            <a:avLst/>
          </a:prstGeom>
          <a:noFill/>
        </p:spPr>
        <p:txBody>
          <a:bodyPr wrap="square">
            <a:spAutoFit/>
          </a:bodyPr>
          <a:lstStyle/>
          <a:p>
            <a:pPr algn="l"/>
            <a:r>
              <a:rPr sz="1300" b="1">
                <a:solidFill>
                  <a:srgbClr val="FFFFFF"/>
                </a:solidFill>
                <a:latin typeface="Meiryo"/>
              </a:rPr>
              <a:t>選手評価基準</a:t>
            </a:r>
          </a:p>
        </p:txBody>
      </p:sp>
      <p:sp>
        <p:nvSpPr>
          <p:cNvPr id="10" name="Rectangle 9"/>
          <p:cNvSpPr/>
          <p:nvPr/>
        </p:nvSpPr>
        <p:spPr>
          <a:xfrm>
            <a:off x="411480" y="1920240"/>
            <a:ext cx="1554480" cy="685800"/>
          </a:xfrm>
          <a:prstGeom prst="rect">
            <a:avLst/>
          </a:prstGeom>
          <a:solidFill>
            <a:srgbClr val="2E86C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029968"/>
            <a:ext cx="1463040" cy="502920"/>
          </a:xfrm>
          <a:prstGeom prst="rect">
            <a:avLst/>
          </a:prstGeom>
          <a:noFill/>
        </p:spPr>
        <p:txBody>
          <a:bodyPr wrap="square">
            <a:spAutoFit/>
          </a:bodyPr>
          <a:lstStyle/>
          <a:p>
            <a:pPr algn="ctr"/>
            <a:r>
              <a:rPr sz="1100" b="1">
                <a:solidFill>
                  <a:srgbClr val="FFFFFF"/>
                </a:solidFill>
                <a:latin typeface="Meiryo"/>
              </a:rPr>
              <a:t>テクニック</a:t>
            </a:r>
          </a:p>
        </p:txBody>
      </p:sp>
      <p:sp>
        <p:nvSpPr>
          <p:cNvPr id="12" name="Rectangle 11"/>
          <p:cNvSpPr/>
          <p:nvPr/>
        </p:nvSpPr>
        <p:spPr>
          <a:xfrm>
            <a:off x="2011680" y="1920240"/>
            <a:ext cx="3840480" cy="685800"/>
          </a:xfrm>
          <a:prstGeom prst="rect">
            <a:avLst/>
          </a:prstGeom>
          <a:solidFill>
            <a:srgbClr val="D6EA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03120" y="1956816"/>
            <a:ext cx="3703320" cy="640080"/>
          </a:xfrm>
          <a:prstGeom prst="rect">
            <a:avLst/>
          </a:prstGeom>
          <a:noFill/>
        </p:spPr>
        <p:txBody>
          <a:bodyPr wrap="square">
            <a:spAutoFit/>
          </a:bodyPr>
          <a:lstStyle/>
          <a:p>
            <a:pPr algn="l"/>
            <a:r>
              <a:rPr sz="1100" b="0">
                <a:solidFill>
                  <a:srgbClr val="1A3A5C"/>
                </a:solidFill>
                <a:latin typeface="Meiryo"/>
              </a:rPr>
              <a:t>着地：肩・膝がつま先の上
膝が内に入らない（動的外反に注意）</a:t>
            </a:r>
          </a:p>
        </p:txBody>
      </p:sp>
      <p:sp>
        <p:nvSpPr>
          <p:cNvPr id="14" name="Rectangle 13"/>
          <p:cNvSpPr/>
          <p:nvPr/>
        </p:nvSpPr>
        <p:spPr>
          <a:xfrm>
            <a:off x="411480" y="2834640"/>
            <a:ext cx="1554480" cy="685800"/>
          </a:xfrm>
          <a:prstGeom prst="rect">
            <a:avLst/>
          </a:prstGeom>
          <a:solidFill>
            <a:srgbClr val="2E86C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2944368"/>
            <a:ext cx="1463040" cy="502920"/>
          </a:xfrm>
          <a:prstGeom prst="rect">
            <a:avLst/>
          </a:prstGeom>
          <a:noFill/>
        </p:spPr>
        <p:txBody>
          <a:bodyPr wrap="square">
            <a:spAutoFit/>
          </a:bodyPr>
          <a:lstStyle/>
          <a:p>
            <a:pPr algn="ctr"/>
            <a:r>
              <a:rPr sz="1100" b="1">
                <a:solidFill>
                  <a:srgbClr val="FFFFFF"/>
                </a:solidFill>
                <a:latin typeface="Meiryo"/>
              </a:rPr>
              <a:t>筋力</a:t>
            </a:r>
          </a:p>
        </p:txBody>
      </p:sp>
      <p:sp>
        <p:nvSpPr>
          <p:cNvPr id="16" name="Rectangle 15"/>
          <p:cNvSpPr/>
          <p:nvPr/>
        </p:nvSpPr>
        <p:spPr>
          <a:xfrm>
            <a:off x="2011680" y="2834640"/>
            <a:ext cx="3840480" cy="685800"/>
          </a:xfrm>
          <a:prstGeom prst="rect">
            <a:avLst/>
          </a:prstGeom>
          <a:solidFill>
            <a:srgbClr val="D6EA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03120" y="2871216"/>
            <a:ext cx="3703320" cy="640080"/>
          </a:xfrm>
          <a:prstGeom prst="rect">
            <a:avLst/>
          </a:prstGeom>
          <a:noFill/>
        </p:spPr>
        <p:txBody>
          <a:bodyPr wrap="square">
            <a:spAutoFit/>
          </a:bodyPr>
          <a:lstStyle/>
          <a:p>
            <a:pPr algn="l"/>
            <a:r>
              <a:rPr sz="1100" b="0">
                <a:solidFill>
                  <a:srgbClr val="1A3A5C"/>
                </a:solidFill>
                <a:latin typeface="Meiryo"/>
              </a:rPr>
              <a:t>スクワット1RM ≧ 体重×1.5（下半身）
※より重視すべきはテクニック</a:t>
            </a:r>
          </a:p>
        </p:txBody>
      </p:sp>
      <p:sp>
        <p:nvSpPr>
          <p:cNvPr id="18" name="Rectangle 17"/>
          <p:cNvSpPr/>
          <p:nvPr/>
        </p:nvSpPr>
        <p:spPr>
          <a:xfrm>
            <a:off x="411480" y="3749039"/>
            <a:ext cx="1554480" cy="685800"/>
          </a:xfrm>
          <a:prstGeom prst="rect">
            <a:avLst/>
          </a:prstGeom>
          <a:solidFill>
            <a:srgbClr val="2E86C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858768"/>
            <a:ext cx="1463040" cy="502920"/>
          </a:xfrm>
          <a:prstGeom prst="rect">
            <a:avLst/>
          </a:prstGeom>
          <a:noFill/>
        </p:spPr>
        <p:txBody>
          <a:bodyPr wrap="square">
            <a:spAutoFit/>
          </a:bodyPr>
          <a:lstStyle/>
          <a:p>
            <a:pPr algn="ctr"/>
            <a:r>
              <a:rPr sz="1100" b="1">
                <a:solidFill>
                  <a:srgbClr val="FFFFFF"/>
                </a:solidFill>
                <a:latin typeface="Meiryo"/>
              </a:rPr>
              <a:t>バランス</a:t>
            </a:r>
          </a:p>
        </p:txBody>
      </p:sp>
      <p:sp>
        <p:nvSpPr>
          <p:cNvPr id="20" name="Rectangle 19"/>
          <p:cNvSpPr/>
          <p:nvPr/>
        </p:nvSpPr>
        <p:spPr>
          <a:xfrm>
            <a:off x="2011680" y="3749039"/>
            <a:ext cx="3840480" cy="685800"/>
          </a:xfrm>
          <a:prstGeom prst="rect">
            <a:avLst/>
          </a:prstGeom>
          <a:solidFill>
            <a:srgbClr val="D6EA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103120" y="3785615"/>
            <a:ext cx="3703320" cy="640080"/>
          </a:xfrm>
          <a:prstGeom prst="rect">
            <a:avLst/>
          </a:prstGeom>
          <a:noFill/>
        </p:spPr>
        <p:txBody>
          <a:bodyPr wrap="square">
            <a:spAutoFit/>
          </a:bodyPr>
          <a:lstStyle/>
          <a:p>
            <a:pPr algn="l"/>
            <a:r>
              <a:rPr sz="1100" b="0">
                <a:solidFill>
                  <a:srgbClr val="1A3A5C"/>
                </a:solidFill>
                <a:latin typeface="Meiryo"/>
              </a:rPr>
              <a:t>初めて：片脚立ち30秒
上級前：片脚ハーフスクワット30秒</a:t>
            </a:r>
          </a:p>
        </p:txBody>
      </p:sp>
      <p:sp>
        <p:nvSpPr>
          <p:cNvPr id="22" name="Rectangle 21"/>
          <p:cNvSpPr/>
          <p:nvPr/>
        </p:nvSpPr>
        <p:spPr>
          <a:xfrm>
            <a:off x="411480" y="4663440"/>
            <a:ext cx="1554480" cy="685800"/>
          </a:xfrm>
          <a:prstGeom prst="rect">
            <a:avLst/>
          </a:prstGeom>
          <a:solidFill>
            <a:srgbClr val="2E86C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4773168"/>
            <a:ext cx="1463040" cy="502920"/>
          </a:xfrm>
          <a:prstGeom prst="rect">
            <a:avLst/>
          </a:prstGeom>
          <a:noFill/>
        </p:spPr>
        <p:txBody>
          <a:bodyPr wrap="square">
            <a:spAutoFit/>
          </a:bodyPr>
          <a:lstStyle/>
          <a:p>
            <a:pPr algn="ctr"/>
            <a:r>
              <a:rPr sz="1100" b="1">
                <a:solidFill>
                  <a:srgbClr val="FFFFFF"/>
                </a:solidFill>
                <a:latin typeface="Meiryo"/>
              </a:rPr>
              <a:t>体重</a:t>
            </a:r>
          </a:p>
        </p:txBody>
      </p:sp>
      <p:sp>
        <p:nvSpPr>
          <p:cNvPr id="24" name="Rectangle 23"/>
          <p:cNvSpPr/>
          <p:nvPr/>
        </p:nvSpPr>
        <p:spPr>
          <a:xfrm>
            <a:off x="2011680" y="4663440"/>
            <a:ext cx="3840480" cy="685800"/>
          </a:xfrm>
          <a:prstGeom prst="rect">
            <a:avLst/>
          </a:prstGeom>
          <a:solidFill>
            <a:srgbClr val="D6EA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103120" y="4700016"/>
            <a:ext cx="3703320" cy="640080"/>
          </a:xfrm>
          <a:prstGeom prst="rect">
            <a:avLst/>
          </a:prstGeom>
          <a:noFill/>
        </p:spPr>
        <p:txBody>
          <a:bodyPr wrap="square">
            <a:spAutoFit/>
          </a:bodyPr>
          <a:lstStyle/>
          <a:p>
            <a:pPr algn="l"/>
            <a:r>
              <a:rPr sz="1100" b="0">
                <a:solidFill>
                  <a:srgbClr val="1A3A5C"/>
                </a:solidFill>
                <a:latin typeface="Meiryo"/>
              </a:rPr>
              <a:t>100kg以上：高量・高強度と
46cm超のデプスジャンプは避ける</a:t>
            </a:r>
          </a:p>
        </p:txBody>
      </p:sp>
      <p:sp>
        <p:nvSpPr>
          <p:cNvPr id="26" name="Rectangle 25"/>
          <p:cNvSpPr/>
          <p:nvPr/>
        </p:nvSpPr>
        <p:spPr>
          <a:xfrm>
            <a:off x="411480" y="5577840"/>
            <a:ext cx="1554480" cy="685800"/>
          </a:xfrm>
          <a:prstGeom prst="rect">
            <a:avLst/>
          </a:prstGeom>
          <a:solidFill>
            <a:srgbClr val="2E86C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5687568"/>
            <a:ext cx="1463040" cy="502920"/>
          </a:xfrm>
          <a:prstGeom prst="rect">
            <a:avLst/>
          </a:prstGeom>
          <a:noFill/>
        </p:spPr>
        <p:txBody>
          <a:bodyPr wrap="square">
            <a:spAutoFit/>
          </a:bodyPr>
          <a:lstStyle/>
          <a:p>
            <a:pPr algn="ctr"/>
            <a:r>
              <a:rPr sz="1100" b="1">
                <a:solidFill>
                  <a:srgbClr val="FFFFFF"/>
                </a:solidFill>
                <a:latin typeface="Meiryo"/>
              </a:rPr>
              <a:t>既往歴</a:t>
            </a:r>
          </a:p>
        </p:txBody>
      </p:sp>
      <p:sp>
        <p:nvSpPr>
          <p:cNvPr id="28" name="Rectangle 27"/>
          <p:cNvSpPr/>
          <p:nvPr/>
        </p:nvSpPr>
        <p:spPr>
          <a:xfrm>
            <a:off x="2011680" y="5577840"/>
            <a:ext cx="3840480" cy="685800"/>
          </a:xfrm>
          <a:prstGeom prst="rect">
            <a:avLst/>
          </a:prstGeom>
          <a:solidFill>
            <a:srgbClr val="D6EA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103120" y="5614416"/>
            <a:ext cx="3703320" cy="640080"/>
          </a:xfrm>
          <a:prstGeom prst="rect">
            <a:avLst/>
          </a:prstGeom>
          <a:noFill/>
        </p:spPr>
        <p:txBody>
          <a:bodyPr wrap="square">
            <a:spAutoFit/>
          </a:bodyPr>
          <a:lstStyle/>
          <a:p>
            <a:pPr algn="l"/>
            <a:r>
              <a:rPr sz="1100" b="0">
                <a:solidFill>
                  <a:srgbClr val="1A3A5C"/>
                </a:solidFill>
                <a:latin typeface="Meiryo"/>
              </a:rPr>
              <a:t>脊柱・上下肢のケガ、関節の不安定性
などがあれば慎重に</a:t>
            </a:r>
          </a:p>
        </p:txBody>
      </p:sp>
      <p:sp>
        <p:nvSpPr>
          <p:cNvPr id="30" name="Rectangle 29"/>
          <p:cNvSpPr/>
          <p:nvPr/>
        </p:nvSpPr>
        <p:spPr>
          <a:xfrm>
            <a:off x="6217920" y="1371600"/>
            <a:ext cx="5696712" cy="52120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17920" y="1371600"/>
            <a:ext cx="5696712" cy="411480"/>
          </a:xfrm>
          <a:prstGeom prst="rect">
            <a:avLst/>
          </a:prstGeom>
          <a:solidFill>
            <a:srgbClr val="1F5C8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55080" y="1417320"/>
            <a:ext cx="5394960" cy="347472"/>
          </a:xfrm>
          <a:prstGeom prst="rect">
            <a:avLst/>
          </a:prstGeom>
          <a:noFill/>
        </p:spPr>
        <p:txBody>
          <a:bodyPr wrap="square">
            <a:spAutoFit/>
          </a:bodyPr>
          <a:lstStyle/>
          <a:p>
            <a:pPr algn="l"/>
            <a:r>
              <a:rPr sz="1300" b="1">
                <a:solidFill>
                  <a:srgbClr val="FFFFFF"/>
                </a:solidFill>
                <a:latin typeface="Meiryo"/>
              </a:rPr>
              <a:t>施設・用具の安全基準</a:t>
            </a:r>
          </a:p>
        </p:txBody>
      </p:sp>
      <p:sp>
        <p:nvSpPr>
          <p:cNvPr id="33" name="Rectangle 32"/>
          <p:cNvSpPr/>
          <p:nvPr/>
        </p:nvSpPr>
        <p:spPr>
          <a:xfrm>
            <a:off x="6355080" y="1920240"/>
            <a:ext cx="1371600" cy="685800"/>
          </a:xfrm>
          <a:prstGeom prst="rect">
            <a:avLst/>
          </a:prstGeom>
          <a:solidFill>
            <a:srgbClr val="27AE6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0" y="2029968"/>
            <a:ext cx="1280160" cy="502920"/>
          </a:xfrm>
          <a:prstGeom prst="rect">
            <a:avLst/>
          </a:prstGeom>
          <a:noFill/>
        </p:spPr>
        <p:txBody>
          <a:bodyPr wrap="square">
            <a:spAutoFit/>
          </a:bodyPr>
          <a:lstStyle/>
          <a:p>
            <a:pPr algn="ctr"/>
            <a:r>
              <a:rPr sz="1100" b="1">
                <a:solidFill>
                  <a:srgbClr val="FFFFFF"/>
                </a:solidFill>
                <a:latin typeface="Meiryo"/>
              </a:rPr>
              <a:t>着地面</a:t>
            </a:r>
          </a:p>
        </p:txBody>
      </p:sp>
      <p:sp>
        <p:nvSpPr>
          <p:cNvPr id="35" name="Rectangle 34"/>
          <p:cNvSpPr/>
          <p:nvPr/>
        </p:nvSpPr>
        <p:spPr>
          <a:xfrm>
            <a:off x="7772400" y="1920240"/>
            <a:ext cx="3931920" cy="685800"/>
          </a:xfrm>
          <a:prstGeom prst="rect">
            <a:avLst/>
          </a:prstGeom>
          <a:solidFill>
            <a:srgbClr val="D6EA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63840" y="1984248"/>
            <a:ext cx="3749039" cy="594360"/>
          </a:xfrm>
          <a:prstGeom prst="rect">
            <a:avLst/>
          </a:prstGeom>
          <a:noFill/>
        </p:spPr>
        <p:txBody>
          <a:bodyPr wrap="square">
            <a:spAutoFit/>
          </a:bodyPr>
          <a:lstStyle/>
          <a:p>
            <a:pPr algn="l"/>
            <a:r>
              <a:rPr sz="1100" b="0">
                <a:solidFill>
                  <a:srgbClr val="1A3A5C"/>
                </a:solidFill>
                <a:latin typeface="Meiryo"/>
              </a:rPr>
              <a:t>芝生・懸架式木製フロア・ゴムマット
（コンクリート・タイル・固い床は不可）</a:t>
            </a:r>
          </a:p>
        </p:txBody>
      </p:sp>
      <p:sp>
        <p:nvSpPr>
          <p:cNvPr id="37" name="Rectangle 36"/>
          <p:cNvSpPr/>
          <p:nvPr/>
        </p:nvSpPr>
        <p:spPr>
          <a:xfrm>
            <a:off x="6355080" y="2834640"/>
            <a:ext cx="1371600" cy="685800"/>
          </a:xfrm>
          <a:prstGeom prst="rect">
            <a:avLst/>
          </a:prstGeom>
          <a:solidFill>
            <a:srgbClr val="27AE6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0800" y="2944368"/>
            <a:ext cx="1280160" cy="502920"/>
          </a:xfrm>
          <a:prstGeom prst="rect">
            <a:avLst/>
          </a:prstGeom>
          <a:noFill/>
        </p:spPr>
        <p:txBody>
          <a:bodyPr wrap="square">
            <a:spAutoFit/>
          </a:bodyPr>
          <a:lstStyle/>
          <a:p>
            <a:pPr algn="ctr"/>
            <a:r>
              <a:rPr sz="1100" b="1">
                <a:solidFill>
                  <a:srgbClr val="FFFFFF"/>
                </a:solidFill>
                <a:latin typeface="Meiryo"/>
              </a:rPr>
              <a:t>スペース</a:t>
            </a:r>
          </a:p>
        </p:txBody>
      </p:sp>
      <p:sp>
        <p:nvSpPr>
          <p:cNvPr id="39" name="Rectangle 38"/>
          <p:cNvSpPr/>
          <p:nvPr/>
        </p:nvSpPr>
        <p:spPr>
          <a:xfrm>
            <a:off x="7772400" y="2834640"/>
            <a:ext cx="3931920" cy="685800"/>
          </a:xfrm>
          <a:prstGeom prst="rect">
            <a:avLst/>
          </a:prstGeom>
          <a:solidFill>
            <a:srgbClr val="D6EA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863840" y="2898648"/>
            <a:ext cx="3749039" cy="594360"/>
          </a:xfrm>
          <a:prstGeom prst="rect">
            <a:avLst/>
          </a:prstGeom>
          <a:noFill/>
        </p:spPr>
        <p:txBody>
          <a:bodyPr wrap="square">
            <a:spAutoFit/>
          </a:bodyPr>
          <a:lstStyle/>
          <a:p>
            <a:pPr algn="l"/>
            <a:r>
              <a:rPr sz="1100" b="0">
                <a:solidFill>
                  <a:srgbClr val="1A3A5C"/>
                </a:solidFill>
                <a:latin typeface="Meiryo"/>
              </a:rPr>
              <a:t>天井高3〜4m／バウンド系は30m以上</a:t>
            </a:r>
          </a:p>
        </p:txBody>
      </p:sp>
      <p:sp>
        <p:nvSpPr>
          <p:cNvPr id="41" name="Rectangle 40"/>
          <p:cNvSpPr/>
          <p:nvPr/>
        </p:nvSpPr>
        <p:spPr>
          <a:xfrm>
            <a:off x="6355080" y="3749039"/>
            <a:ext cx="1371600" cy="685800"/>
          </a:xfrm>
          <a:prstGeom prst="rect">
            <a:avLst/>
          </a:prstGeom>
          <a:solidFill>
            <a:srgbClr val="27AE6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0" y="3858768"/>
            <a:ext cx="1280160" cy="502920"/>
          </a:xfrm>
          <a:prstGeom prst="rect">
            <a:avLst/>
          </a:prstGeom>
          <a:noFill/>
        </p:spPr>
        <p:txBody>
          <a:bodyPr wrap="square">
            <a:spAutoFit/>
          </a:bodyPr>
          <a:lstStyle/>
          <a:p>
            <a:pPr algn="ctr"/>
            <a:r>
              <a:rPr sz="1100" b="1">
                <a:solidFill>
                  <a:srgbClr val="FFFFFF"/>
                </a:solidFill>
                <a:latin typeface="Meiryo"/>
              </a:rPr>
              <a:t>デプス高さ</a:t>
            </a:r>
          </a:p>
        </p:txBody>
      </p:sp>
      <p:sp>
        <p:nvSpPr>
          <p:cNvPr id="43" name="Rectangle 42"/>
          <p:cNvSpPr/>
          <p:nvPr/>
        </p:nvSpPr>
        <p:spPr>
          <a:xfrm>
            <a:off x="7772400" y="3749039"/>
            <a:ext cx="3931920" cy="685800"/>
          </a:xfrm>
          <a:prstGeom prst="rect">
            <a:avLst/>
          </a:prstGeom>
          <a:solidFill>
            <a:srgbClr val="D6EA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863840" y="3813048"/>
            <a:ext cx="3749039" cy="594360"/>
          </a:xfrm>
          <a:prstGeom prst="rect">
            <a:avLst/>
          </a:prstGeom>
          <a:noFill/>
        </p:spPr>
        <p:txBody>
          <a:bodyPr wrap="square">
            <a:spAutoFit/>
          </a:bodyPr>
          <a:lstStyle/>
          <a:p>
            <a:pPr algn="l"/>
            <a:r>
              <a:rPr sz="1100" b="0">
                <a:solidFill>
                  <a:srgbClr val="1A3A5C"/>
                </a:solidFill>
                <a:latin typeface="Meiryo"/>
              </a:rPr>
              <a:t>41〜107cm（一般的に76〜81cm）
100kg以上は46cm以下</a:t>
            </a:r>
          </a:p>
        </p:txBody>
      </p:sp>
      <p:sp>
        <p:nvSpPr>
          <p:cNvPr id="45" name="Rectangle 44"/>
          <p:cNvSpPr/>
          <p:nvPr/>
        </p:nvSpPr>
        <p:spPr>
          <a:xfrm>
            <a:off x="6355080" y="4663440"/>
            <a:ext cx="1371600" cy="685800"/>
          </a:xfrm>
          <a:prstGeom prst="rect">
            <a:avLst/>
          </a:prstGeom>
          <a:solidFill>
            <a:srgbClr val="27AE6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00800" y="4773168"/>
            <a:ext cx="1280160" cy="502920"/>
          </a:xfrm>
          <a:prstGeom prst="rect">
            <a:avLst/>
          </a:prstGeom>
          <a:noFill/>
        </p:spPr>
        <p:txBody>
          <a:bodyPr wrap="square">
            <a:spAutoFit/>
          </a:bodyPr>
          <a:lstStyle/>
          <a:p>
            <a:pPr algn="ctr"/>
            <a:r>
              <a:rPr sz="1100" b="1">
                <a:solidFill>
                  <a:srgbClr val="FFFFFF"/>
                </a:solidFill>
                <a:latin typeface="Meiryo"/>
              </a:rPr>
              <a:t>シューズ</a:t>
            </a:r>
          </a:p>
        </p:txBody>
      </p:sp>
      <p:sp>
        <p:nvSpPr>
          <p:cNvPr id="47" name="Rectangle 46"/>
          <p:cNvSpPr/>
          <p:nvPr/>
        </p:nvSpPr>
        <p:spPr>
          <a:xfrm>
            <a:off x="7772400" y="4663440"/>
            <a:ext cx="3931920" cy="685800"/>
          </a:xfrm>
          <a:prstGeom prst="rect">
            <a:avLst/>
          </a:prstGeom>
          <a:solidFill>
            <a:srgbClr val="D6EA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863840" y="4727448"/>
            <a:ext cx="3749039" cy="594360"/>
          </a:xfrm>
          <a:prstGeom prst="rect">
            <a:avLst/>
          </a:prstGeom>
          <a:noFill/>
        </p:spPr>
        <p:txBody>
          <a:bodyPr wrap="square">
            <a:spAutoFit/>
          </a:bodyPr>
          <a:lstStyle/>
          <a:p>
            <a:pPr algn="l"/>
            <a:r>
              <a:rPr sz="1100" b="0">
                <a:solidFill>
                  <a:srgbClr val="1A3A5C"/>
                </a:solidFill>
                <a:latin typeface="Meiryo"/>
              </a:rPr>
              <a:t>足首・アーチのサポートと横の安定性
（ランニングシューズは不向き）</a:t>
            </a:r>
          </a:p>
        </p:txBody>
      </p:sp>
      <p:sp>
        <p:nvSpPr>
          <p:cNvPr id="49" name="Rectangle 48"/>
          <p:cNvSpPr/>
          <p:nvPr/>
        </p:nvSpPr>
        <p:spPr>
          <a:xfrm>
            <a:off x="6355080" y="5577840"/>
            <a:ext cx="1371600" cy="685800"/>
          </a:xfrm>
          <a:prstGeom prst="rect">
            <a:avLst/>
          </a:prstGeom>
          <a:solidFill>
            <a:srgbClr val="27AE6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00800" y="5687568"/>
            <a:ext cx="1280160" cy="502920"/>
          </a:xfrm>
          <a:prstGeom prst="rect">
            <a:avLst/>
          </a:prstGeom>
          <a:noFill/>
        </p:spPr>
        <p:txBody>
          <a:bodyPr wrap="square">
            <a:spAutoFit/>
          </a:bodyPr>
          <a:lstStyle/>
          <a:p>
            <a:pPr algn="ctr"/>
            <a:r>
              <a:rPr sz="1100" b="1">
                <a:solidFill>
                  <a:srgbClr val="FFFFFF"/>
                </a:solidFill>
                <a:latin typeface="Meiryo"/>
              </a:rPr>
              <a:t>監視</a:t>
            </a:r>
          </a:p>
        </p:txBody>
      </p:sp>
      <p:sp>
        <p:nvSpPr>
          <p:cNvPr id="51" name="Rectangle 50"/>
          <p:cNvSpPr/>
          <p:nvPr/>
        </p:nvSpPr>
        <p:spPr>
          <a:xfrm>
            <a:off x="7772400" y="5577840"/>
            <a:ext cx="3931920" cy="685800"/>
          </a:xfrm>
          <a:prstGeom prst="rect">
            <a:avLst/>
          </a:prstGeom>
          <a:solidFill>
            <a:srgbClr val="D6EA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863840" y="5641848"/>
            <a:ext cx="3749039" cy="594360"/>
          </a:xfrm>
          <a:prstGeom prst="rect">
            <a:avLst/>
          </a:prstGeom>
          <a:noFill/>
        </p:spPr>
        <p:txBody>
          <a:bodyPr wrap="square">
            <a:spAutoFit/>
          </a:bodyPr>
          <a:lstStyle/>
          <a:p>
            <a:pPr algn="l"/>
            <a:r>
              <a:rPr sz="1100" b="0">
                <a:solidFill>
                  <a:srgbClr val="1A3A5C"/>
                </a:solidFill>
                <a:latin typeface="Meiryo"/>
              </a:rPr>
              <a:t>常に正しいテクニックか監視する</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88720"/>
          </a:xfrm>
          <a:prstGeom prst="rect">
            <a:avLst/>
          </a:prstGeom>
          <a:solidFill>
            <a:srgbClr val="1A3A5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720"/>
            <a:ext cx="12188952" cy="54864"/>
          </a:xfrm>
          <a:prstGeom prst="rect">
            <a:avLst/>
          </a:prstGeom>
          <a:solidFill>
            <a:srgbClr val="2E86C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09728"/>
            <a:ext cx="11430000" cy="777240"/>
          </a:xfrm>
          <a:prstGeom prst="rect">
            <a:avLst/>
          </a:prstGeom>
          <a:noFill/>
        </p:spPr>
        <p:txBody>
          <a:bodyPr wrap="square">
            <a:spAutoFit/>
          </a:bodyPr>
          <a:lstStyle/>
          <a:p>
            <a:pPr algn="l"/>
            <a:r>
              <a:rPr sz="2800" b="1">
                <a:solidFill>
                  <a:srgbClr val="FFFFFF"/>
                </a:solidFill>
                <a:latin typeface="Meiryo"/>
              </a:rPr>
              <a:t>対象者別の配慮</a:t>
            </a:r>
          </a:p>
        </p:txBody>
      </p:sp>
      <p:sp>
        <p:nvSpPr>
          <p:cNvPr id="6" name="TextBox 5"/>
          <p:cNvSpPr txBox="1"/>
          <p:nvPr/>
        </p:nvSpPr>
        <p:spPr>
          <a:xfrm>
            <a:off x="365760" y="804672"/>
            <a:ext cx="10972800" cy="365760"/>
          </a:xfrm>
          <a:prstGeom prst="rect">
            <a:avLst/>
          </a:prstGeom>
          <a:noFill/>
        </p:spPr>
        <p:txBody>
          <a:bodyPr wrap="square">
            <a:spAutoFit/>
          </a:bodyPr>
          <a:lstStyle/>
          <a:p>
            <a:pPr algn="l"/>
            <a:r>
              <a:rPr sz="1400" b="0">
                <a:solidFill>
                  <a:srgbClr val="AED6F1"/>
                </a:solidFill>
                <a:latin typeface="Meiryo"/>
              </a:rPr>
              <a:t>Special Considerations by Population</a:t>
            </a:r>
          </a:p>
        </p:txBody>
      </p:sp>
      <p:sp>
        <p:nvSpPr>
          <p:cNvPr id="7" name="Rectangle 6"/>
          <p:cNvSpPr/>
          <p:nvPr/>
        </p:nvSpPr>
        <p:spPr>
          <a:xfrm>
            <a:off x="274320" y="1371600"/>
            <a:ext cx="3749039" cy="52120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371600"/>
            <a:ext cx="3749039" cy="548640"/>
          </a:xfrm>
          <a:prstGeom prst="rect">
            <a:avLst/>
          </a:prstGeom>
          <a:solidFill>
            <a:srgbClr val="27AE6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417320"/>
            <a:ext cx="3566160" cy="457200"/>
          </a:xfrm>
          <a:prstGeom prst="rect">
            <a:avLst/>
          </a:prstGeom>
          <a:noFill/>
        </p:spPr>
        <p:txBody>
          <a:bodyPr wrap="square">
            <a:spAutoFit/>
          </a:bodyPr>
          <a:lstStyle/>
          <a:p>
            <a:pPr algn="ctr"/>
            <a:r>
              <a:rPr sz="1700" b="1">
                <a:solidFill>
                  <a:srgbClr val="FFFFFF"/>
                </a:solidFill>
                <a:latin typeface="Meiryo"/>
              </a:rPr>
              <a:t>思春期前・青年期</a:t>
            </a:r>
          </a:p>
        </p:txBody>
      </p:sp>
      <p:sp>
        <p:nvSpPr>
          <p:cNvPr id="10" name="Rectangle 9"/>
          <p:cNvSpPr/>
          <p:nvPr/>
        </p:nvSpPr>
        <p:spPr>
          <a:xfrm>
            <a:off x="365760" y="2057400"/>
            <a:ext cx="3566160" cy="1188720"/>
          </a:xfrm>
          <a:prstGeom prst="rect">
            <a:avLst/>
          </a:prstGeom>
          <a:solidFill>
            <a:srgbClr val="EBF5F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103120"/>
            <a:ext cx="3383280" cy="1097280"/>
          </a:xfrm>
          <a:prstGeom prst="rect">
            <a:avLst/>
          </a:prstGeom>
          <a:noFill/>
        </p:spPr>
        <p:txBody>
          <a:bodyPr wrap="square">
            <a:spAutoFit/>
          </a:bodyPr>
          <a:lstStyle/>
          <a:p>
            <a:pPr algn="ctr"/>
            <a:r>
              <a:rPr sz="1300" b="0">
                <a:solidFill>
                  <a:srgbClr val="1F5C8B"/>
                </a:solidFill>
                <a:latin typeface="Meiryo"/>
              </a:rPr>
              <a:t>監視下なら実施できる
デプスジャンプと高強度の
下半身ドリルは禁忌</a:t>
            </a:r>
          </a:p>
        </p:txBody>
      </p:sp>
      <p:sp>
        <p:nvSpPr>
          <p:cNvPr id="12" name="TextBox 11"/>
          <p:cNvSpPr txBox="1"/>
          <p:nvPr/>
        </p:nvSpPr>
        <p:spPr>
          <a:xfrm>
            <a:off x="457200" y="3383280"/>
            <a:ext cx="3474720" cy="3017520"/>
          </a:xfrm>
          <a:prstGeom prst="rect">
            <a:avLst/>
          </a:prstGeom>
          <a:noFill/>
        </p:spPr>
        <p:txBody>
          <a:bodyPr wrap="square">
            <a:spAutoFit/>
          </a:bodyPr>
          <a:lstStyle/>
          <a:p>
            <a:pPr algn="l"/>
            <a:r>
              <a:rPr sz="1200" b="0">
                <a:solidFill>
                  <a:srgbClr val="1A3A5C"/>
                </a:solidFill>
                <a:latin typeface="Meiryo"/>
              </a:rPr>
              <a:t>● 骨端線が閉じていない時期は特に注意
● 単純なドリル→複雑なドリルへ
● 動作の質（アライメント）を重視
● 外反（膝が内に入る）に注意
● ワークアウト間は2〜3日以上</a:t>
            </a:r>
          </a:p>
        </p:txBody>
      </p:sp>
      <p:sp>
        <p:nvSpPr>
          <p:cNvPr id="13" name="Rectangle 12"/>
          <p:cNvSpPr/>
          <p:nvPr/>
        </p:nvSpPr>
        <p:spPr>
          <a:xfrm>
            <a:off x="4297680" y="1371600"/>
            <a:ext cx="3749039" cy="52120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1371600"/>
            <a:ext cx="3749039" cy="548640"/>
          </a:xfrm>
          <a:prstGeom prst="rect">
            <a:avLst/>
          </a:prstGeom>
          <a:solidFill>
            <a:srgbClr val="2E86C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89120" y="1417320"/>
            <a:ext cx="3566160" cy="457200"/>
          </a:xfrm>
          <a:prstGeom prst="rect">
            <a:avLst/>
          </a:prstGeom>
          <a:noFill/>
        </p:spPr>
        <p:txBody>
          <a:bodyPr wrap="square">
            <a:spAutoFit/>
          </a:bodyPr>
          <a:lstStyle/>
          <a:p>
            <a:pPr algn="ctr"/>
            <a:r>
              <a:rPr sz="1700" b="1">
                <a:solidFill>
                  <a:srgbClr val="FFFFFF"/>
                </a:solidFill>
                <a:latin typeface="Meiryo"/>
              </a:rPr>
              <a:t>成人</a:t>
            </a:r>
          </a:p>
        </p:txBody>
      </p:sp>
      <p:sp>
        <p:nvSpPr>
          <p:cNvPr id="16" name="Rectangle 15"/>
          <p:cNvSpPr/>
          <p:nvPr/>
        </p:nvSpPr>
        <p:spPr>
          <a:xfrm>
            <a:off x="4389120" y="2057400"/>
            <a:ext cx="3566160" cy="1188720"/>
          </a:xfrm>
          <a:prstGeom prst="rect">
            <a:avLst/>
          </a:prstGeom>
          <a:solidFill>
            <a:srgbClr val="EBF5F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0560" y="2103120"/>
            <a:ext cx="3383280" cy="1097280"/>
          </a:xfrm>
          <a:prstGeom prst="rect">
            <a:avLst/>
          </a:prstGeom>
          <a:noFill/>
        </p:spPr>
        <p:txBody>
          <a:bodyPr wrap="square">
            <a:spAutoFit/>
          </a:bodyPr>
          <a:lstStyle/>
          <a:p>
            <a:pPr algn="ctr"/>
            <a:r>
              <a:rPr sz="1300" b="0">
                <a:solidFill>
                  <a:srgbClr val="1F5C8B"/>
                </a:solidFill>
                <a:latin typeface="Meiryo"/>
              </a:rPr>
              <a:t>ニーズ分析にもとづき
段階的に進める</a:t>
            </a:r>
          </a:p>
        </p:txBody>
      </p:sp>
      <p:sp>
        <p:nvSpPr>
          <p:cNvPr id="18" name="TextBox 17"/>
          <p:cNvSpPr txBox="1"/>
          <p:nvPr/>
        </p:nvSpPr>
        <p:spPr>
          <a:xfrm>
            <a:off x="4480560" y="3383280"/>
            <a:ext cx="3474720" cy="3017520"/>
          </a:xfrm>
          <a:prstGeom prst="rect">
            <a:avLst/>
          </a:prstGeom>
          <a:noFill/>
        </p:spPr>
        <p:txBody>
          <a:bodyPr wrap="square">
            <a:spAutoFit/>
          </a:bodyPr>
          <a:lstStyle/>
          <a:p>
            <a:pPr algn="l"/>
            <a:r>
              <a:rPr sz="1200" b="0">
                <a:solidFill>
                  <a:srgbClr val="1A3A5C"/>
                </a:solidFill>
                <a:latin typeface="Meiryo"/>
              </a:rPr>
              <a:t>● 漸進的過負荷の原則
● 強度を上げたら量を減らす
● セッション間48〜72時間</a:t>
            </a:r>
          </a:p>
        </p:txBody>
      </p:sp>
      <p:sp>
        <p:nvSpPr>
          <p:cNvPr id="19" name="Rectangle 18"/>
          <p:cNvSpPr/>
          <p:nvPr/>
        </p:nvSpPr>
        <p:spPr>
          <a:xfrm>
            <a:off x="8321040" y="1371600"/>
            <a:ext cx="3749039" cy="52120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21040" y="1371600"/>
            <a:ext cx="3749039" cy="548640"/>
          </a:xfrm>
          <a:prstGeom prst="rect">
            <a:avLst/>
          </a:prstGeom>
          <a:solidFill>
            <a:srgbClr val="F39C1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80" y="1417320"/>
            <a:ext cx="3566160" cy="457200"/>
          </a:xfrm>
          <a:prstGeom prst="rect">
            <a:avLst/>
          </a:prstGeom>
          <a:noFill/>
        </p:spPr>
        <p:txBody>
          <a:bodyPr wrap="square">
            <a:spAutoFit/>
          </a:bodyPr>
          <a:lstStyle/>
          <a:p>
            <a:pPr algn="ctr"/>
            <a:r>
              <a:rPr sz="1700" b="1">
                <a:solidFill>
                  <a:srgbClr val="FFFFFF"/>
                </a:solidFill>
                <a:latin typeface="Meiryo"/>
              </a:rPr>
              <a:t>マスターズ</a:t>
            </a:r>
          </a:p>
        </p:txBody>
      </p:sp>
      <p:sp>
        <p:nvSpPr>
          <p:cNvPr id="22" name="Rectangle 21"/>
          <p:cNvSpPr/>
          <p:nvPr/>
        </p:nvSpPr>
        <p:spPr>
          <a:xfrm>
            <a:off x="8412480" y="2057400"/>
            <a:ext cx="3566160" cy="1188720"/>
          </a:xfrm>
          <a:prstGeom prst="rect">
            <a:avLst/>
          </a:prstGeom>
          <a:solidFill>
            <a:srgbClr val="EBF5F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3920" y="2103120"/>
            <a:ext cx="3383280" cy="1097280"/>
          </a:xfrm>
          <a:prstGeom prst="rect">
            <a:avLst/>
          </a:prstGeom>
          <a:noFill/>
        </p:spPr>
        <p:txBody>
          <a:bodyPr wrap="square">
            <a:spAutoFit/>
          </a:bodyPr>
          <a:lstStyle/>
          <a:p>
            <a:pPr algn="ctr"/>
            <a:r>
              <a:rPr sz="1300" b="0">
                <a:solidFill>
                  <a:srgbClr val="1F5C8B"/>
                </a:solidFill>
                <a:latin typeface="Meiryo"/>
              </a:rPr>
              <a:t>低〜中強度・最大5種目
接地回数を減らす</a:t>
            </a:r>
          </a:p>
        </p:txBody>
      </p:sp>
      <p:sp>
        <p:nvSpPr>
          <p:cNvPr id="24" name="TextBox 23"/>
          <p:cNvSpPr txBox="1"/>
          <p:nvPr/>
        </p:nvSpPr>
        <p:spPr>
          <a:xfrm>
            <a:off x="8503920" y="3383280"/>
            <a:ext cx="3474720" cy="3017520"/>
          </a:xfrm>
          <a:prstGeom prst="rect">
            <a:avLst/>
          </a:prstGeom>
          <a:noFill/>
        </p:spPr>
        <p:txBody>
          <a:bodyPr wrap="square">
            <a:spAutoFit/>
          </a:bodyPr>
          <a:lstStyle/>
          <a:p>
            <a:pPr algn="l"/>
            <a:r>
              <a:rPr sz="1200" b="0">
                <a:solidFill>
                  <a:srgbClr val="1A3A5C"/>
                </a:solidFill>
                <a:latin typeface="Meiryo"/>
              </a:rPr>
              <a:t>● ワークアウト間は3〜4日
● 整形外科的な既往を確認
● 半月板切除・関節変性が著しい
　場合はデプス・片脚系は禁忌
● 慢性的な痛みがあれば修正</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88720"/>
          </a:xfrm>
          <a:prstGeom prst="rect">
            <a:avLst/>
          </a:prstGeom>
          <a:solidFill>
            <a:srgbClr val="1A3A5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720"/>
            <a:ext cx="12188952" cy="54864"/>
          </a:xfrm>
          <a:prstGeom prst="rect">
            <a:avLst/>
          </a:prstGeom>
          <a:solidFill>
            <a:srgbClr val="2E86C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09728"/>
            <a:ext cx="11430000" cy="777240"/>
          </a:xfrm>
          <a:prstGeom prst="rect">
            <a:avLst/>
          </a:prstGeom>
          <a:noFill/>
        </p:spPr>
        <p:txBody>
          <a:bodyPr wrap="square">
            <a:spAutoFit/>
          </a:bodyPr>
          <a:lstStyle/>
          <a:p>
            <a:pPr algn="l"/>
            <a:r>
              <a:rPr sz="2800" b="1">
                <a:solidFill>
                  <a:srgbClr val="FFFFFF"/>
                </a:solidFill>
                <a:latin typeface="Meiryo"/>
              </a:rPr>
              <a:t>レジスタンストレーニングとの組み合わせ</a:t>
            </a:r>
          </a:p>
        </p:txBody>
      </p:sp>
      <p:sp>
        <p:nvSpPr>
          <p:cNvPr id="6" name="TextBox 5"/>
          <p:cNvSpPr txBox="1"/>
          <p:nvPr/>
        </p:nvSpPr>
        <p:spPr>
          <a:xfrm>
            <a:off x="365760" y="804672"/>
            <a:ext cx="10972800" cy="365760"/>
          </a:xfrm>
          <a:prstGeom prst="rect">
            <a:avLst/>
          </a:prstGeom>
          <a:noFill/>
        </p:spPr>
        <p:txBody>
          <a:bodyPr wrap="square">
            <a:spAutoFit/>
          </a:bodyPr>
          <a:lstStyle/>
          <a:p>
            <a:pPr algn="l"/>
            <a:r>
              <a:rPr sz="1400" b="0">
                <a:solidFill>
                  <a:srgbClr val="AED6F1"/>
                </a:solidFill>
                <a:latin typeface="Meiryo"/>
              </a:rPr>
              <a:t>Combined Training Schedule</a:t>
            </a:r>
          </a:p>
        </p:txBody>
      </p:sp>
      <p:sp>
        <p:nvSpPr>
          <p:cNvPr id="7" name="Rectangle 6"/>
          <p:cNvSpPr/>
          <p:nvPr/>
        </p:nvSpPr>
        <p:spPr>
          <a:xfrm>
            <a:off x="274320" y="1371600"/>
            <a:ext cx="11640312" cy="52120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371600"/>
            <a:ext cx="11640312" cy="411480"/>
          </a:xfrm>
          <a:prstGeom prst="rect">
            <a:avLst/>
          </a:prstGeom>
          <a:solidFill>
            <a:srgbClr val="1F5C8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417320"/>
            <a:ext cx="11338560" cy="347472"/>
          </a:xfrm>
          <a:prstGeom prst="rect">
            <a:avLst/>
          </a:prstGeom>
          <a:noFill/>
        </p:spPr>
        <p:txBody>
          <a:bodyPr wrap="square">
            <a:spAutoFit/>
          </a:bodyPr>
          <a:lstStyle/>
          <a:p>
            <a:pPr algn="l"/>
            <a:r>
              <a:rPr sz="1400" b="1">
                <a:solidFill>
                  <a:srgbClr val="FFFFFF"/>
                </a:solidFill>
                <a:latin typeface="Meiryo"/>
              </a:rPr>
              <a:t>週スケジュール例（同じ日は「高強度×低強度」「上半身×下半身」）</a:t>
            </a:r>
          </a:p>
        </p:txBody>
      </p:sp>
      <p:sp>
        <p:nvSpPr>
          <p:cNvPr id="10" name="Rectangle 9"/>
          <p:cNvSpPr/>
          <p:nvPr/>
        </p:nvSpPr>
        <p:spPr>
          <a:xfrm>
            <a:off x="548640" y="1874519"/>
            <a:ext cx="2651760" cy="502920"/>
          </a:xfrm>
          <a:prstGeom prst="rect">
            <a:avLst/>
          </a:prstGeom>
          <a:solidFill>
            <a:srgbClr val="1A3A5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1920240"/>
            <a:ext cx="2560320" cy="411480"/>
          </a:xfrm>
          <a:prstGeom prst="rect">
            <a:avLst/>
          </a:prstGeom>
          <a:noFill/>
        </p:spPr>
        <p:txBody>
          <a:bodyPr wrap="square">
            <a:spAutoFit/>
          </a:bodyPr>
          <a:lstStyle/>
          <a:p>
            <a:pPr algn="ctr"/>
            <a:r>
              <a:rPr sz="1400" b="1">
                <a:solidFill>
                  <a:srgbClr val="FFFFFF"/>
                </a:solidFill>
                <a:latin typeface="Meiryo"/>
              </a:rPr>
              <a:t>月曜日</a:t>
            </a:r>
          </a:p>
        </p:txBody>
      </p:sp>
      <p:sp>
        <p:nvSpPr>
          <p:cNvPr id="12" name="Rectangle 11"/>
          <p:cNvSpPr/>
          <p:nvPr/>
        </p:nvSpPr>
        <p:spPr>
          <a:xfrm>
            <a:off x="548640" y="2514600"/>
            <a:ext cx="2651760" cy="320040"/>
          </a:xfrm>
          <a:prstGeom prst="rect">
            <a:avLst/>
          </a:prstGeom>
          <a:solidFill>
            <a:srgbClr val="2E86C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542032"/>
            <a:ext cx="2560320" cy="274320"/>
          </a:xfrm>
          <a:prstGeom prst="rect">
            <a:avLst/>
          </a:prstGeom>
          <a:noFill/>
        </p:spPr>
        <p:txBody>
          <a:bodyPr wrap="square">
            <a:spAutoFit/>
          </a:bodyPr>
          <a:lstStyle/>
          <a:p>
            <a:pPr algn="ctr"/>
            <a:r>
              <a:rPr sz="1000" b="1">
                <a:solidFill>
                  <a:srgbClr val="FFFFFF"/>
                </a:solidFill>
                <a:latin typeface="Meiryo"/>
              </a:rPr>
              <a:t>レジスタンス</a:t>
            </a:r>
          </a:p>
        </p:txBody>
      </p:sp>
      <p:sp>
        <p:nvSpPr>
          <p:cNvPr id="14" name="Rectangle 13"/>
          <p:cNvSpPr/>
          <p:nvPr/>
        </p:nvSpPr>
        <p:spPr>
          <a:xfrm>
            <a:off x="548640" y="2880360"/>
            <a:ext cx="2651760" cy="731520"/>
          </a:xfrm>
          <a:prstGeom prst="rect">
            <a:avLst/>
          </a:prstGeom>
          <a:solidFill>
            <a:srgbClr val="E74C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2926080"/>
            <a:ext cx="2560320" cy="594360"/>
          </a:xfrm>
          <a:prstGeom prst="rect">
            <a:avLst/>
          </a:prstGeom>
          <a:noFill/>
        </p:spPr>
        <p:txBody>
          <a:bodyPr wrap="square">
            <a:spAutoFit/>
          </a:bodyPr>
          <a:lstStyle/>
          <a:p>
            <a:pPr algn="ctr"/>
            <a:r>
              <a:rPr sz="1300" b="1">
                <a:solidFill>
                  <a:srgbClr val="FFFFFF"/>
                </a:solidFill>
                <a:latin typeface="Meiryo"/>
              </a:rPr>
              <a:t>高強度・上半身</a:t>
            </a:r>
          </a:p>
        </p:txBody>
      </p:sp>
      <p:sp>
        <p:nvSpPr>
          <p:cNvPr id="16" name="Rectangle 15"/>
          <p:cNvSpPr/>
          <p:nvPr/>
        </p:nvSpPr>
        <p:spPr>
          <a:xfrm>
            <a:off x="548640" y="3749039"/>
            <a:ext cx="2651760" cy="320040"/>
          </a:xfrm>
          <a:prstGeom prst="rect">
            <a:avLst/>
          </a:prstGeom>
          <a:solidFill>
            <a:srgbClr val="1F5C8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3776472"/>
            <a:ext cx="2560320" cy="274320"/>
          </a:xfrm>
          <a:prstGeom prst="rect">
            <a:avLst/>
          </a:prstGeom>
          <a:noFill/>
        </p:spPr>
        <p:txBody>
          <a:bodyPr wrap="square">
            <a:spAutoFit/>
          </a:bodyPr>
          <a:lstStyle/>
          <a:p>
            <a:pPr algn="ctr"/>
            <a:r>
              <a:rPr sz="1000" b="1">
                <a:solidFill>
                  <a:srgbClr val="FFFFFF"/>
                </a:solidFill>
                <a:latin typeface="Meiryo"/>
              </a:rPr>
              <a:t>プライオメトリクス</a:t>
            </a:r>
          </a:p>
        </p:txBody>
      </p:sp>
      <p:sp>
        <p:nvSpPr>
          <p:cNvPr id="18" name="Rectangle 17"/>
          <p:cNvSpPr/>
          <p:nvPr/>
        </p:nvSpPr>
        <p:spPr>
          <a:xfrm>
            <a:off x="548640" y="4114800"/>
            <a:ext cx="2651760" cy="731520"/>
          </a:xfrm>
          <a:prstGeom prst="rect">
            <a:avLst/>
          </a:prstGeom>
          <a:solidFill>
            <a:srgbClr val="27AE6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4160520"/>
            <a:ext cx="2560320" cy="594360"/>
          </a:xfrm>
          <a:prstGeom prst="rect">
            <a:avLst/>
          </a:prstGeom>
          <a:noFill/>
        </p:spPr>
        <p:txBody>
          <a:bodyPr wrap="square">
            <a:spAutoFit/>
          </a:bodyPr>
          <a:lstStyle/>
          <a:p>
            <a:pPr algn="ctr"/>
            <a:r>
              <a:rPr sz="1300" b="1">
                <a:solidFill>
                  <a:srgbClr val="FFFFFF"/>
                </a:solidFill>
                <a:latin typeface="Meiryo"/>
              </a:rPr>
              <a:t>低強度・下半身</a:t>
            </a:r>
          </a:p>
        </p:txBody>
      </p:sp>
      <p:sp>
        <p:nvSpPr>
          <p:cNvPr id="20" name="Rectangle 19"/>
          <p:cNvSpPr/>
          <p:nvPr/>
        </p:nvSpPr>
        <p:spPr>
          <a:xfrm>
            <a:off x="3383280" y="1874519"/>
            <a:ext cx="2651760" cy="502920"/>
          </a:xfrm>
          <a:prstGeom prst="rect">
            <a:avLst/>
          </a:prstGeom>
          <a:solidFill>
            <a:srgbClr val="1A3A5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29000" y="1920240"/>
            <a:ext cx="2560320" cy="411480"/>
          </a:xfrm>
          <a:prstGeom prst="rect">
            <a:avLst/>
          </a:prstGeom>
          <a:noFill/>
        </p:spPr>
        <p:txBody>
          <a:bodyPr wrap="square">
            <a:spAutoFit/>
          </a:bodyPr>
          <a:lstStyle/>
          <a:p>
            <a:pPr algn="ctr"/>
            <a:r>
              <a:rPr sz="1400" b="1">
                <a:solidFill>
                  <a:srgbClr val="FFFFFF"/>
                </a:solidFill>
                <a:latin typeface="Meiryo"/>
              </a:rPr>
              <a:t>火曜日</a:t>
            </a:r>
          </a:p>
        </p:txBody>
      </p:sp>
      <p:sp>
        <p:nvSpPr>
          <p:cNvPr id="22" name="Rectangle 21"/>
          <p:cNvSpPr/>
          <p:nvPr/>
        </p:nvSpPr>
        <p:spPr>
          <a:xfrm>
            <a:off x="3383280" y="2514600"/>
            <a:ext cx="2651760" cy="320040"/>
          </a:xfrm>
          <a:prstGeom prst="rect">
            <a:avLst/>
          </a:prstGeom>
          <a:solidFill>
            <a:srgbClr val="2E86C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29000" y="2542032"/>
            <a:ext cx="2560320" cy="274320"/>
          </a:xfrm>
          <a:prstGeom prst="rect">
            <a:avLst/>
          </a:prstGeom>
          <a:noFill/>
        </p:spPr>
        <p:txBody>
          <a:bodyPr wrap="square">
            <a:spAutoFit/>
          </a:bodyPr>
          <a:lstStyle/>
          <a:p>
            <a:pPr algn="ctr"/>
            <a:r>
              <a:rPr sz="1000" b="1">
                <a:solidFill>
                  <a:srgbClr val="FFFFFF"/>
                </a:solidFill>
                <a:latin typeface="Meiryo"/>
              </a:rPr>
              <a:t>レジスタンス</a:t>
            </a:r>
          </a:p>
        </p:txBody>
      </p:sp>
      <p:sp>
        <p:nvSpPr>
          <p:cNvPr id="24" name="Rectangle 23"/>
          <p:cNvSpPr/>
          <p:nvPr/>
        </p:nvSpPr>
        <p:spPr>
          <a:xfrm>
            <a:off x="3383280" y="2880360"/>
            <a:ext cx="2651760" cy="731520"/>
          </a:xfrm>
          <a:prstGeom prst="rect">
            <a:avLst/>
          </a:prstGeom>
          <a:solidFill>
            <a:srgbClr val="27AE6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29000" y="2926080"/>
            <a:ext cx="2560320" cy="594360"/>
          </a:xfrm>
          <a:prstGeom prst="rect">
            <a:avLst/>
          </a:prstGeom>
          <a:noFill/>
        </p:spPr>
        <p:txBody>
          <a:bodyPr wrap="square">
            <a:spAutoFit/>
          </a:bodyPr>
          <a:lstStyle/>
          <a:p>
            <a:pPr algn="ctr"/>
            <a:r>
              <a:rPr sz="1300" b="1">
                <a:solidFill>
                  <a:srgbClr val="FFFFFF"/>
                </a:solidFill>
                <a:latin typeface="Meiryo"/>
              </a:rPr>
              <a:t>低強度・下半身</a:t>
            </a:r>
          </a:p>
        </p:txBody>
      </p:sp>
      <p:sp>
        <p:nvSpPr>
          <p:cNvPr id="26" name="Rectangle 25"/>
          <p:cNvSpPr/>
          <p:nvPr/>
        </p:nvSpPr>
        <p:spPr>
          <a:xfrm>
            <a:off x="3383280" y="3749039"/>
            <a:ext cx="2651760" cy="320040"/>
          </a:xfrm>
          <a:prstGeom prst="rect">
            <a:avLst/>
          </a:prstGeom>
          <a:solidFill>
            <a:srgbClr val="1F5C8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429000" y="3776472"/>
            <a:ext cx="2560320" cy="274320"/>
          </a:xfrm>
          <a:prstGeom prst="rect">
            <a:avLst/>
          </a:prstGeom>
          <a:noFill/>
        </p:spPr>
        <p:txBody>
          <a:bodyPr wrap="square">
            <a:spAutoFit/>
          </a:bodyPr>
          <a:lstStyle/>
          <a:p>
            <a:pPr algn="ctr"/>
            <a:r>
              <a:rPr sz="1000" b="1">
                <a:solidFill>
                  <a:srgbClr val="FFFFFF"/>
                </a:solidFill>
                <a:latin typeface="Meiryo"/>
              </a:rPr>
              <a:t>プライオメトリクス</a:t>
            </a:r>
          </a:p>
        </p:txBody>
      </p:sp>
      <p:sp>
        <p:nvSpPr>
          <p:cNvPr id="28" name="Rectangle 27"/>
          <p:cNvSpPr/>
          <p:nvPr/>
        </p:nvSpPr>
        <p:spPr>
          <a:xfrm>
            <a:off x="3383280" y="4114800"/>
            <a:ext cx="2651760" cy="731520"/>
          </a:xfrm>
          <a:prstGeom prst="rect">
            <a:avLst/>
          </a:prstGeom>
          <a:solidFill>
            <a:srgbClr val="E74C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29000" y="4160520"/>
            <a:ext cx="2560320" cy="594360"/>
          </a:xfrm>
          <a:prstGeom prst="rect">
            <a:avLst/>
          </a:prstGeom>
          <a:noFill/>
        </p:spPr>
        <p:txBody>
          <a:bodyPr wrap="square">
            <a:spAutoFit/>
          </a:bodyPr>
          <a:lstStyle/>
          <a:p>
            <a:pPr algn="ctr"/>
            <a:r>
              <a:rPr sz="1300" b="1">
                <a:solidFill>
                  <a:srgbClr val="FFFFFF"/>
                </a:solidFill>
                <a:latin typeface="Meiryo"/>
              </a:rPr>
              <a:t>高強度・上半身</a:t>
            </a:r>
          </a:p>
        </p:txBody>
      </p:sp>
      <p:sp>
        <p:nvSpPr>
          <p:cNvPr id="30" name="Rectangle 29"/>
          <p:cNvSpPr/>
          <p:nvPr/>
        </p:nvSpPr>
        <p:spPr>
          <a:xfrm>
            <a:off x="6217920" y="1874519"/>
            <a:ext cx="2651760" cy="502920"/>
          </a:xfrm>
          <a:prstGeom prst="rect">
            <a:avLst/>
          </a:prstGeom>
          <a:solidFill>
            <a:srgbClr val="1A3A5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63640" y="1920240"/>
            <a:ext cx="2560320" cy="411480"/>
          </a:xfrm>
          <a:prstGeom prst="rect">
            <a:avLst/>
          </a:prstGeom>
          <a:noFill/>
        </p:spPr>
        <p:txBody>
          <a:bodyPr wrap="square">
            <a:spAutoFit/>
          </a:bodyPr>
          <a:lstStyle/>
          <a:p>
            <a:pPr algn="ctr"/>
            <a:r>
              <a:rPr sz="1400" b="1">
                <a:solidFill>
                  <a:srgbClr val="FFFFFF"/>
                </a:solidFill>
                <a:latin typeface="Meiryo"/>
              </a:rPr>
              <a:t>水曜日</a:t>
            </a:r>
          </a:p>
        </p:txBody>
      </p:sp>
      <p:sp>
        <p:nvSpPr>
          <p:cNvPr id="32" name="Rectangle 31"/>
          <p:cNvSpPr/>
          <p:nvPr/>
        </p:nvSpPr>
        <p:spPr>
          <a:xfrm>
            <a:off x="6217920" y="2514600"/>
            <a:ext cx="2651760" cy="320040"/>
          </a:xfrm>
          <a:prstGeom prst="rect">
            <a:avLst/>
          </a:prstGeom>
          <a:solidFill>
            <a:srgbClr val="2E86C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63640" y="2542032"/>
            <a:ext cx="2560320" cy="274320"/>
          </a:xfrm>
          <a:prstGeom prst="rect">
            <a:avLst/>
          </a:prstGeom>
          <a:noFill/>
        </p:spPr>
        <p:txBody>
          <a:bodyPr wrap="square">
            <a:spAutoFit/>
          </a:bodyPr>
          <a:lstStyle/>
          <a:p>
            <a:pPr algn="ctr"/>
            <a:r>
              <a:rPr sz="1000" b="1">
                <a:solidFill>
                  <a:srgbClr val="FFFFFF"/>
                </a:solidFill>
                <a:latin typeface="Meiryo"/>
              </a:rPr>
              <a:t>レジスタンス</a:t>
            </a:r>
          </a:p>
        </p:txBody>
      </p:sp>
      <p:sp>
        <p:nvSpPr>
          <p:cNvPr id="34" name="Rectangle 33"/>
          <p:cNvSpPr/>
          <p:nvPr/>
        </p:nvSpPr>
        <p:spPr>
          <a:xfrm>
            <a:off x="6217920" y="2880360"/>
            <a:ext cx="2651760" cy="731520"/>
          </a:xfrm>
          <a:prstGeom prst="rect">
            <a:avLst/>
          </a:prstGeom>
          <a:solidFill>
            <a:srgbClr val="27AE6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63640" y="2926080"/>
            <a:ext cx="2560320" cy="594360"/>
          </a:xfrm>
          <a:prstGeom prst="rect">
            <a:avLst/>
          </a:prstGeom>
          <a:noFill/>
        </p:spPr>
        <p:txBody>
          <a:bodyPr wrap="square">
            <a:spAutoFit/>
          </a:bodyPr>
          <a:lstStyle/>
          <a:p>
            <a:pPr algn="ctr"/>
            <a:r>
              <a:rPr sz="1300" b="1">
                <a:solidFill>
                  <a:srgbClr val="FFFFFF"/>
                </a:solidFill>
                <a:latin typeface="Meiryo"/>
              </a:rPr>
              <a:t>低強度・上半身</a:t>
            </a:r>
          </a:p>
        </p:txBody>
      </p:sp>
      <p:sp>
        <p:nvSpPr>
          <p:cNvPr id="36" name="Rectangle 35"/>
          <p:cNvSpPr/>
          <p:nvPr/>
        </p:nvSpPr>
        <p:spPr>
          <a:xfrm>
            <a:off x="6217920" y="3749039"/>
            <a:ext cx="2651760" cy="320040"/>
          </a:xfrm>
          <a:prstGeom prst="rect">
            <a:avLst/>
          </a:prstGeom>
          <a:solidFill>
            <a:srgbClr val="1F5C8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63640" y="3776472"/>
            <a:ext cx="2560320" cy="274320"/>
          </a:xfrm>
          <a:prstGeom prst="rect">
            <a:avLst/>
          </a:prstGeom>
          <a:noFill/>
        </p:spPr>
        <p:txBody>
          <a:bodyPr wrap="square">
            <a:spAutoFit/>
          </a:bodyPr>
          <a:lstStyle/>
          <a:p>
            <a:pPr algn="ctr"/>
            <a:r>
              <a:rPr sz="1000" b="1">
                <a:solidFill>
                  <a:srgbClr val="FFFFFF"/>
                </a:solidFill>
                <a:latin typeface="Meiryo"/>
              </a:rPr>
              <a:t>プライオメトリクス</a:t>
            </a:r>
          </a:p>
        </p:txBody>
      </p:sp>
      <p:sp>
        <p:nvSpPr>
          <p:cNvPr id="38" name="Rectangle 37"/>
          <p:cNvSpPr/>
          <p:nvPr/>
        </p:nvSpPr>
        <p:spPr>
          <a:xfrm>
            <a:off x="6217920" y="4114800"/>
            <a:ext cx="2651760" cy="731520"/>
          </a:xfrm>
          <a:prstGeom prst="rect">
            <a:avLst/>
          </a:prstGeom>
          <a:solidFill>
            <a:srgbClr val="E74C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63640" y="4160520"/>
            <a:ext cx="2560320" cy="594360"/>
          </a:xfrm>
          <a:prstGeom prst="rect">
            <a:avLst/>
          </a:prstGeom>
          <a:noFill/>
        </p:spPr>
        <p:txBody>
          <a:bodyPr wrap="square">
            <a:spAutoFit/>
          </a:bodyPr>
          <a:lstStyle/>
          <a:p>
            <a:pPr algn="ctr"/>
            <a:r>
              <a:rPr sz="1300" b="1">
                <a:solidFill>
                  <a:srgbClr val="FFFFFF"/>
                </a:solidFill>
                <a:latin typeface="Meiryo"/>
              </a:rPr>
              <a:t>高強度・下半身</a:t>
            </a:r>
          </a:p>
        </p:txBody>
      </p:sp>
      <p:sp>
        <p:nvSpPr>
          <p:cNvPr id="40" name="Rectangle 39"/>
          <p:cNvSpPr/>
          <p:nvPr/>
        </p:nvSpPr>
        <p:spPr>
          <a:xfrm>
            <a:off x="9052560" y="1874519"/>
            <a:ext cx="2651760" cy="502920"/>
          </a:xfrm>
          <a:prstGeom prst="rect">
            <a:avLst/>
          </a:prstGeom>
          <a:solidFill>
            <a:srgbClr val="1A3A5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098280" y="1920240"/>
            <a:ext cx="2560320" cy="411480"/>
          </a:xfrm>
          <a:prstGeom prst="rect">
            <a:avLst/>
          </a:prstGeom>
          <a:noFill/>
        </p:spPr>
        <p:txBody>
          <a:bodyPr wrap="square">
            <a:spAutoFit/>
          </a:bodyPr>
          <a:lstStyle/>
          <a:p>
            <a:pPr algn="ctr"/>
            <a:r>
              <a:rPr sz="1400" b="1">
                <a:solidFill>
                  <a:srgbClr val="FFFFFF"/>
                </a:solidFill>
                <a:latin typeface="Meiryo"/>
              </a:rPr>
              <a:t>金曜日</a:t>
            </a:r>
          </a:p>
        </p:txBody>
      </p:sp>
      <p:sp>
        <p:nvSpPr>
          <p:cNvPr id="42" name="Rectangle 41"/>
          <p:cNvSpPr/>
          <p:nvPr/>
        </p:nvSpPr>
        <p:spPr>
          <a:xfrm>
            <a:off x="9052560" y="2514600"/>
            <a:ext cx="2651760" cy="320040"/>
          </a:xfrm>
          <a:prstGeom prst="rect">
            <a:avLst/>
          </a:prstGeom>
          <a:solidFill>
            <a:srgbClr val="2E86C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098280" y="2542032"/>
            <a:ext cx="2560320" cy="274320"/>
          </a:xfrm>
          <a:prstGeom prst="rect">
            <a:avLst/>
          </a:prstGeom>
          <a:noFill/>
        </p:spPr>
        <p:txBody>
          <a:bodyPr wrap="square">
            <a:spAutoFit/>
          </a:bodyPr>
          <a:lstStyle/>
          <a:p>
            <a:pPr algn="ctr"/>
            <a:r>
              <a:rPr sz="1000" b="1">
                <a:solidFill>
                  <a:srgbClr val="FFFFFF"/>
                </a:solidFill>
                <a:latin typeface="Meiryo"/>
              </a:rPr>
              <a:t>レジスタンス</a:t>
            </a:r>
          </a:p>
        </p:txBody>
      </p:sp>
      <p:sp>
        <p:nvSpPr>
          <p:cNvPr id="44" name="Rectangle 43"/>
          <p:cNvSpPr/>
          <p:nvPr/>
        </p:nvSpPr>
        <p:spPr>
          <a:xfrm>
            <a:off x="9052560" y="2880360"/>
            <a:ext cx="2651760" cy="731520"/>
          </a:xfrm>
          <a:prstGeom prst="rect">
            <a:avLst/>
          </a:prstGeom>
          <a:solidFill>
            <a:srgbClr val="E74C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098280" y="2926080"/>
            <a:ext cx="2560320" cy="594360"/>
          </a:xfrm>
          <a:prstGeom prst="rect">
            <a:avLst/>
          </a:prstGeom>
          <a:noFill/>
        </p:spPr>
        <p:txBody>
          <a:bodyPr wrap="square">
            <a:spAutoFit/>
          </a:bodyPr>
          <a:lstStyle/>
          <a:p>
            <a:pPr algn="ctr"/>
            <a:r>
              <a:rPr sz="1300" b="1">
                <a:solidFill>
                  <a:srgbClr val="FFFFFF"/>
                </a:solidFill>
                <a:latin typeface="Meiryo"/>
              </a:rPr>
              <a:t>高強度・下半身</a:t>
            </a:r>
          </a:p>
        </p:txBody>
      </p:sp>
      <p:sp>
        <p:nvSpPr>
          <p:cNvPr id="46" name="Rectangle 45"/>
          <p:cNvSpPr/>
          <p:nvPr/>
        </p:nvSpPr>
        <p:spPr>
          <a:xfrm>
            <a:off x="9052560" y="3749039"/>
            <a:ext cx="2651760" cy="320040"/>
          </a:xfrm>
          <a:prstGeom prst="rect">
            <a:avLst/>
          </a:prstGeom>
          <a:solidFill>
            <a:srgbClr val="1F5C8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098280" y="3776472"/>
            <a:ext cx="2560320" cy="274320"/>
          </a:xfrm>
          <a:prstGeom prst="rect">
            <a:avLst/>
          </a:prstGeom>
          <a:noFill/>
        </p:spPr>
        <p:txBody>
          <a:bodyPr wrap="square">
            <a:spAutoFit/>
          </a:bodyPr>
          <a:lstStyle/>
          <a:p>
            <a:pPr algn="ctr"/>
            <a:r>
              <a:rPr sz="1000" b="1">
                <a:solidFill>
                  <a:srgbClr val="FFFFFF"/>
                </a:solidFill>
                <a:latin typeface="Meiryo"/>
              </a:rPr>
              <a:t>プライオメトリクス</a:t>
            </a:r>
          </a:p>
        </p:txBody>
      </p:sp>
      <p:sp>
        <p:nvSpPr>
          <p:cNvPr id="48" name="Rectangle 47"/>
          <p:cNvSpPr/>
          <p:nvPr/>
        </p:nvSpPr>
        <p:spPr>
          <a:xfrm>
            <a:off x="9052560" y="4114800"/>
            <a:ext cx="2651760" cy="731520"/>
          </a:xfrm>
          <a:prstGeom prst="rect">
            <a:avLst/>
          </a:prstGeom>
          <a:solidFill>
            <a:srgbClr val="27AE6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098280" y="4160520"/>
            <a:ext cx="2560320" cy="594360"/>
          </a:xfrm>
          <a:prstGeom prst="rect">
            <a:avLst/>
          </a:prstGeom>
          <a:noFill/>
        </p:spPr>
        <p:txBody>
          <a:bodyPr wrap="square">
            <a:spAutoFit/>
          </a:bodyPr>
          <a:lstStyle/>
          <a:p>
            <a:pPr algn="ctr"/>
            <a:r>
              <a:rPr sz="1300" b="1">
                <a:solidFill>
                  <a:srgbClr val="FFFFFF"/>
                </a:solidFill>
                <a:latin typeface="Meiryo"/>
              </a:rPr>
              <a:t>低強度・上半身</a:t>
            </a:r>
          </a:p>
        </p:txBody>
      </p:sp>
      <p:sp>
        <p:nvSpPr>
          <p:cNvPr id="50" name="Rectangle 49"/>
          <p:cNvSpPr/>
          <p:nvPr/>
        </p:nvSpPr>
        <p:spPr>
          <a:xfrm>
            <a:off x="274320" y="5029200"/>
            <a:ext cx="11640312" cy="1463040"/>
          </a:xfrm>
          <a:prstGeom prst="rect">
            <a:avLst/>
          </a:prstGeom>
          <a:solidFill>
            <a:srgbClr val="EBF5F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57200" y="5120640"/>
            <a:ext cx="11247120" cy="1280160"/>
          </a:xfrm>
          <a:prstGeom prst="rect">
            <a:avLst/>
          </a:prstGeom>
          <a:noFill/>
        </p:spPr>
        <p:txBody>
          <a:bodyPr wrap="square">
            <a:spAutoFit/>
          </a:bodyPr>
          <a:lstStyle/>
          <a:p>
            <a:pPr algn="l"/>
            <a:r>
              <a:rPr sz="1300" b="0">
                <a:solidFill>
                  <a:srgbClr val="1A3A5C"/>
                </a:solidFill>
                <a:latin typeface="Meiryo"/>
              </a:rPr>
              <a:t>● 下半身のレジスタンス × 上半身のプライオ、上半身のレジスタンス × 下半身のプライオで組み合わせる
● 高重量のレジスタンスとプライオを同じ日に行うのは通常すすめられない（例外：コンプレックストレーニング）
● プライオメトリクスは有酸素性持久力トレーニングの前に行う</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88720"/>
          </a:xfrm>
          <a:prstGeom prst="rect">
            <a:avLst/>
          </a:prstGeom>
          <a:solidFill>
            <a:srgbClr val="1A3A5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720"/>
            <a:ext cx="12188952" cy="54864"/>
          </a:xfrm>
          <a:prstGeom prst="rect">
            <a:avLst/>
          </a:prstGeom>
          <a:solidFill>
            <a:srgbClr val="2E86C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09728"/>
            <a:ext cx="11430000" cy="777240"/>
          </a:xfrm>
          <a:prstGeom prst="rect">
            <a:avLst/>
          </a:prstGeom>
          <a:noFill/>
        </p:spPr>
        <p:txBody>
          <a:bodyPr wrap="square">
            <a:spAutoFit/>
          </a:bodyPr>
          <a:lstStyle/>
          <a:p>
            <a:pPr algn="l"/>
            <a:r>
              <a:rPr sz="2800" b="1">
                <a:solidFill>
                  <a:srgbClr val="FFFFFF"/>
                </a:solidFill>
                <a:latin typeface="Meiryo"/>
              </a:rPr>
              <a:t>まとめ</a:t>
            </a:r>
          </a:p>
        </p:txBody>
      </p:sp>
      <p:sp>
        <p:nvSpPr>
          <p:cNvPr id="6" name="TextBox 5"/>
          <p:cNvSpPr txBox="1"/>
          <p:nvPr/>
        </p:nvSpPr>
        <p:spPr>
          <a:xfrm>
            <a:off x="365760" y="804672"/>
            <a:ext cx="10972800" cy="365760"/>
          </a:xfrm>
          <a:prstGeom prst="rect">
            <a:avLst/>
          </a:prstGeom>
          <a:noFill/>
        </p:spPr>
        <p:txBody>
          <a:bodyPr wrap="square">
            <a:spAutoFit/>
          </a:bodyPr>
          <a:lstStyle/>
          <a:p>
            <a:pPr algn="l"/>
            <a:r>
              <a:rPr sz="1400" b="0">
                <a:solidFill>
                  <a:srgbClr val="AED6F1"/>
                </a:solidFill>
                <a:latin typeface="Meiryo"/>
              </a:rPr>
              <a:t>Summary — 7 Key Points</a:t>
            </a:r>
          </a:p>
        </p:txBody>
      </p:sp>
      <p:sp>
        <p:nvSpPr>
          <p:cNvPr id="7" name="Rectangle 6"/>
          <p:cNvSpPr/>
          <p:nvPr/>
        </p:nvSpPr>
        <p:spPr>
          <a:xfrm>
            <a:off x="274320" y="1371600"/>
            <a:ext cx="11640312" cy="640080"/>
          </a:xfrm>
          <a:prstGeom prst="rect">
            <a:avLst/>
          </a:prstGeom>
          <a:solidFill>
            <a:srgbClr val="1F5C8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444752"/>
            <a:ext cx="11247120" cy="502920"/>
          </a:xfrm>
          <a:prstGeom prst="rect">
            <a:avLst/>
          </a:prstGeom>
          <a:noFill/>
        </p:spPr>
        <p:txBody>
          <a:bodyPr wrap="square">
            <a:spAutoFit/>
          </a:bodyPr>
          <a:lstStyle/>
          <a:p>
            <a:pPr algn="l"/>
            <a:r>
              <a:rPr sz="1400" b="1">
                <a:solidFill>
                  <a:srgbClr val="FFFFFF"/>
                </a:solidFill>
                <a:latin typeface="Meiryo"/>
              </a:rPr>
              <a:t>プライオメトリックトレーニングの目的：主働筋に過負荷をかけ、素早く力を発揮する能力を高める</a:t>
            </a:r>
          </a:p>
        </p:txBody>
      </p:sp>
      <p:sp>
        <p:nvSpPr>
          <p:cNvPr id="9" name="Rectangle 8"/>
          <p:cNvSpPr/>
          <p:nvPr/>
        </p:nvSpPr>
        <p:spPr>
          <a:xfrm>
            <a:off x="274320" y="2194560"/>
            <a:ext cx="502920" cy="685800"/>
          </a:xfrm>
          <a:prstGeom prst="rect">
            <a:avLst/>
          </a:prstGeom>
          <a:solidFill>
            <a:srgbClr val="2E86C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2286000"/>
            <a:ext cx="411480" cy="502920"/>
          </a:xfrm>
          <a:prstGeom prst="rect">
            <a:avLst/>
          </a:prstGeom>
          <a:noFill/>
        </p:spPr>
        <p:txBody>
          <a:bodyPr wrap="square">
            <a:spAutoFit/>
          </a:bodyPr>
          <a:lstStyle/>
          <a:p>
            <a:pPr algn="ctr"/>
            <a:r>
              <a:rPr sz="1800" b="1">
                <a:solidFill>
                  <a:srgbClr val="FFFFFF"/>
                </a:solidFill>
                <a:latin typeface="Meiryo"/>
              </a:rPr>
              <a:t>1</a:t>
            </a:r>
          </a:p>
        </p:txBody>
      </p:sp>
      <p:sp>
        <p:nvSpPr>
          <p:cNvPr id="11" name="Rectangle 10"/>
          <p:cNvSpPr/>
          <p:nvPr/>
        </p:nvSpPr>
        <p:spPr>
          <a:xfrm>
            <a:off x="822959" y="2194560"/>
            <a:ext cx="5212080" cy="6858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2231136"/>
            <a:ext cx="5029200" cy="347472"/>
          </a:xfrm>
          <a:prstGeom prst="rect">
            <a:avLst/>
          </a:prstGeom>
          <a:noFill/>
        </p:spPr>
        <p:txBody>
          <a:bodyPr wrap="square">
            <a:spAutoFit/>
          </a:bodyPr>
          <a:lstStyle/>
          <a:p>
            <a:pPr algn="l"/>
            <a:r>
              <a:rPr sz="1300" b="1">
                <a:solidFill>
                  <a:srgbClr val="1A3A5C"/>
                </a:solidFill>
                <a:latin typeface="Meiryo"/>
              </a:rPr>
              <a:t>正しいテクニックが最優先</a:t>
            </a:r>
          </a:p>
        </p:txBody>
      </p:sp>
      <p:sp>
        <p:nvSpPr>
          <p:cNvPr id="13" name="TextBox 12"/>
          <p:cNvSpPr txBox="1"/>
          <p:nvPr/>
        </p:nvSpPr>
        <p:spPr>
          <a:xfrm>
            <a:off x="932688" y="2560320"/>
            <a:ext cx="5029200" cy="292608"/>
          </a:xfrm>
          <a:prstGeom prst="rect">
            <a:avLst/>
          </a:prstGeom>
          <a:noFill/>
        </p:spPr>
        <p:txBody>
          <a:bodyPr wrap="square">
            <a:spAutoFit/>
          </a:bodyPr>
          <a:lstStyle/>
          <a:p>
            <a:pPr algn="l"/>
            <a:r>
              <a:rPr sz="1100" b="0">
                <a:solidFill>
                  <a:srgbClr val="7F8C8D"/>
                </a:solidFill>
                <a:latin typeface="Meiryo"/>
              </a:rPr>
              <a:t>とくに着地。肩・膝がつま先の上、膝が内に入らない</a:t>
            </a:r>
          </a:p>
        </p:txBody>
      </p:sp>
      <p:sp>
        <p:nvSpPr>
          <p:cNvPr id="14" name="Rectangle 13"/>
          <p:cNvSpPr/>
          <p:nvPr/>
        </p:nvSpPr>
        <p:spPr>
          <a:xfrm>
            <a:off x="6263640" y="2194560"/>
            <a:ext cx="502920" cy="685800"/>
          </a:xfrm>
          <a:prstGeom prst="rect">
            <a:avLst/>
          </a:prstGeom>
          <a:solidFill>
            <a:srgbClr val="5DADE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59" y="2286000"/>
            <a:ext cx="411480" cy="502920"/>
          </a:xfrm>
          <a:prstGeom prst="rect">
            <a:avLst/>
          </a:prstGeom>
          <a:noFill/>
        </p:spPr>
        <p:txBody>
          <a:bodyPr wrap="square">
            <a:spAutoFit/>
          </a:bodyPr>
          <a:lstStyle/>
          <a:p>
            <a:pPr algn="ctr"/>
            <a:r>
              <a:rPr sz="1800" b="1">
                <a:solidFill>
                  <a:srgbClr val="FFFFFF"/>
                </a:solidFill>
                <a:latin typeface="Meiryo"/>
              </a:rPr>
              <a:t>2</a:t>
            </a:r>
          </a:p>
        </p:txBody>
      </p:sp>
      <p:sp>
        <p:nvSpPr>
          <p:cNvPr id="16" name="Rectangle 15"/>
          <p:cNvSpPr/>
          <p:nvPr/>
        </p:nvSpPr>
        <p:spPr>
          <a:xfrm>
            <a:off x="6812279" y="2194560"/>
            <a:ext cx="5212080" cy="6858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22007" y="2231136"/>
            <a:ext cx="5029200" cy="347472"/>
          </a:xfrm>
          <a:prstGeom prst="rect">
            <a:avLst/>
          </a:prstGeom>
          <a:noFill/>
        </p:spPr>
        <p:txBody>
          <a:bodyPr wrap="square">
            <a:spAutoFit/>
          </a:bodyPr>
          <a:lstStyle/>
          <a:p>
            <a:pPr algn="l"/>
            <a:r>
              <a:rPr sz="1300" b="1">
                <a:solidFill>
                  <a:srgbClr val="1A3A5C"/>
                </a:solidFill>
                <a:latin typeface="Meiryo"/>
              </a:rPr>
              <a:t>ニーズ分析から始める</a:t>
            </a:r>
          </a:p>
        </p:txBody>
      </p:sp>
      <p:sp>
        <p:nvSpPr>
          <p:cNvPr id="18" name="TextBox 17"/>
          <p:cNvSpPr txBox="1"/>
          <p:nvPr/>
        </p:nvSpPr>
        <p:spPr>
          <a:xfrm>
            <a:off x="6922007" y="2560320"/>
            <a:ext cx="5029200" cy="292608"/>
          </a:xfrm>
          <a:prstGeom prst="rect">
            <a:avLst/>
          </a:prstGeom>
          <a:noFill/>
        </p:spPr>
        <p:txBody>
          <a:bodyPr wrap="square">
            <a:spAutoFit/>
          </a:bodyPr>
          <a:lstStyle/>
          <a:p>
            <a:pPr algn="l"/>
            <a:r>
              <a:rPr sz="1100" b="0">
                <a:solidFill>
                  <a:srgbClr val="7F8C8D"/>
                </a:solidFill>
                <a:latin typeface="Meiryo"/>
              </a:rPr>
              <a:t>競技・ポジション・トレーニング状態を評価</a:t>
            </a:r>
          </a:p>
        </p:txBody>
      </p:sp>
      <p:sp>
        <p:nvSpPr>
          <p:cNvPr id="19" name="Rectangle 18"/>
          <p:cNvSpPr/>
          <p:nvPr/>
        </p:nvSpPr>
        <p:spPr>
          <a:xfrm>
            <a:off x="274320" y="3291839"/>
            <a:ext cx="502920" cy="685800"/>
          </a:xfrm>
          <a:prstGeom prst="rect">
            <a:avLst/>
          </a:prstGeom>
          <a:solidFill>
            <a:srgbClr val="27AE6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0040" y="3383279"/>
            <a:ext cx="411480" cy="502920"/>
          </a:xfrm>
          <a:prstGeom prst="rect">
            <a:avLst/>
          </a:prstGeom>
          <a:noFill/>
        </p:spPr>
        <p:txBody>
          <a:bodyPr wrap="square">
            <a:spAutoFit/>
          </a:bodyPr>
          <a:lstStyle/>
          <a:p>
            <a:pPr algn="ctr"/>
            <a:r>
              <a:rPr sz="1800" b="1">
                <a:solidFill>
                  <a:srgbClr val="FFFFFF"/>
                </a:solidFill>
                <a:latin typeface="Meiryo"/>
              </a:rPr>
              <a:t>3</a:t>
            </a:r>
          </a:p>
        </p:txBody>
      </p:sp>
      <p:sp>
        <p:nvSpPr>
          <p:cNvPr id="21" name="Rectangle 20"/>
          <p:cNvSpPr/>
          <p:nvPr/>
        </p:nvSpPr>
        <p:spPr>
          <a:xfrm>
            <a:off x="822959" y="3291839"/>
            <a:ext cx="5212080" cy="6858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8" y="3328415"/>
            <a:ext cx="5029200" cy="347472"/>
          </a:xfrm>
          <a:prstGeom prst="rect">
            <a:avLst/>
          </a:prstGeom>
          <a:noFill/>
        </p:spPr>
        <p:txBody>
          <a:bodyPr wrap="square">
            <a:spAutoFit/>
          </a:bodyPr>
          <a:lstStyle/>
          <a:p>
            <a:pPr algn="l"/>
            <a:r>
              <a:rPr sz="1300" b="1">
                <a:solidFill>
                  <a:srgbClr val="1A3A5C"/>
                </a:solidFill>
                <a:latin typeface="Meiryo"/>
              </a:rPr>
              <a:t>漸進的に負荷を上げる</a:t>
            </a:r>
          </a:p>
        </p:txBody>
      </p:sp>
      <p:sp>
        <p:nvSpPr>
          <p:cNvPr id="23" name="TextBox 22"/>
          <p:cNvSpPr txBox="1"/>
          <p:nvPr/>
        </p:nvSpPr>
        <p:spPr>
          <a:xfrm>
            <a:off x="932688" y="3657599"/>
            <a:ext cx="5029200" cy="292608"/>
          </a:xfrm>
          <a:prstGeom prst="rect">
            <a:avLst/>
          </a:prstGeom>
          <a:noFill/>
        </p:spPr>
        <p:txBody>
          <a:bodyPr wrap="square">
            <a:spAutoFit/>
          </a:bodyPr>
          <a:lstStyle/>
          <a:p>
            <a:pPr algn="l"/>
            <a:r>
              <a:rPr sz="1100" b="0">
                <a:solidFill>
                  <a:srgbClr val="7F8C8D"/>
                </a:solidFill>
                <a:latin typeface="Meiryo"/>
              </a:rPr>
              <a:t>強度を上げたら量（接地回数）を減らす</a:t>
            </a:r>
          </a:p>
        </p:txBody>
      </p:sp>
      <p:sp>
        <p:nvSpPr>
          <p:cNvPr id="24" name="Rectangle 23"/>
          <p:cNvSpPr/>
          <p:nvPr/>
        </p:nvSpPr>
        <p:spPr>
          <a:xfrm>
            <a:off x="6263640" y="3291839"/>
            <a:ext cx="502920" cy="685800"/>
          </a:xfrm>
          <a:prstGeom prst="rect">
            <a:avLst/>
          </a:prstGeom>
          <a:solidFill>
            <a:srgbClr val="F39C1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9359" y="3383279"/>
            <a:ext cx="411480" cy="502920"/>
          </a:xfrm>
          <a:prstGeom prst="rect">
            <a:avLst/>
          </a:prstGeom>
          <a:noFill/>
        </p:spPr>
        <p:txBody>
          <a:bodyPr wrap="square">
            <a:spAutoFit/>
          </a:bodyPr>
          <a:lstStyle/>
          <a:p>
            <a:pPr algn="ctr"/>
            <a:r>
              <a:rPr sz="1800" b="1">
                <a:solidFill>
                  <a:srgbClr val="FFFFFF"/>
                </a:solidFill>
                <a:latin typeface="Meiryo"/>
              </a:rPr>
              <a:t>4</a:t>
            </a:r>
          </a:p>
        </p:txBody>
      </p:sp>
      <p:sp>
        <p:nvSpPr>
          <p:cNvPr id="26" name="Rectangle 25"/>
          <p:cNvSpPr/>
          <p:nvPr/>
        </p:nvSpPr>
        <p:spPr>
          <a:xfrm>
            <a:off x="6812279" y="3291839"/>
            <a:ext cx="5212080" cy="6858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22007" y="3328415"/>
            <a:ext cx="5029200" cy="347472"/>
          </a:xfrm>
          <a:prstGeom prst="rect">
            <a:avLst/>
          </a:prstGeom>
          <a:noFill/>
        </p:spPr>
        <p:txBody>
          <a:bodyPr wrap="square">
            <a:spAutoFit/>
          </a:bodyPr>
          <a:lstStyle/>
          <a:p>
            <a:pPr algn="l"/>
            <a:r>
              <a:rPr sz="1300" b="1">
                <a:solidFill>
                  <a:srgbClr val="1A3A5C"/>
                </a:solidFill>
                <a:latin typeface="Meiryo"/>
              </a:rPr>
              <a:t>十分な回復をとる</a:t>
            </a:r>
          </a:p>
        </p:txBody>
      </p:sp>
      <p:sp>
        <p:nvSpPr>
          <p:cNvPr id="28" name="TextBox 27"/>
          <p:cNvSpPr txBox="1"/>
          <p:nvPr/>
        </p:nvSpPr>
        <p:spPr>
          <a:xfrm>
            <a:off x="6922007" y="3657599"/>
            <a:ext cx="5029200" cy="292608"/>
          </a:xfrm>
          <a:prstGeom prst="rect">
            <a:avLst/>
          </a:prstGeom>
          <a:noFill/>
        </p:spPr>
        <p:txBody>
          <a:bodyPr wrap="square">
            <a:spAutoFit/>
          </a:bodyPr>
          <a:lstStyle/>
          <a:p>
            <a:pPr algn="l"/>
            <a:r>
              <a:rPr sz="1100" b="0">
                <a:solidFill>
                  <a:srgbClr val="7F8C8D"/>
                </a:solidFill>
                <a:latin typeface="Meiryo"/>
              </a:rPr>
              <a:t>セッション間48〜72時間、運動‐休息比1:5〜1:10</a:t>
            </a:r>
          </a:p>
        </p:txBody>
      </p:sp>
      <p:sp>
        <p:nvSpPr>
          <p:cNvPr id="29" name="Rectangle 28"/>
          <p:cNvSpPr/>
          <p:nvPr/>
        </p:nvSpPr>
        <p:spPr>
          <a:xfrm>
            <a:off x="274320" y="4389120"/>
            <a:ext cx="502920" cy="685800"/>
          </a:xfrm>
          <a:prstGeom prst="rect">
            <a:avLst/>
          </a:prstGeom>
          <a:solidFill>
            <a:srgbClr val="F39C1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20040" y="4480559"/>
            <a:ext cx="411480" cy="502920"/>
          </a:xfrm>
          <a:prstGeom prst="rect">
            <a:avLst/>
          </a:prstGeom>
          <a:noFill/>
        </p:spPr>
        <p:txBody>
          <a:bodyPr wrap="square">
            <a:spAutoFit/>
          </a:bodyPr>
          <a:lstStyle/>
          <a:p>
            <a:pPr algn="ctr"/>
            <a:r>
              <a:rPr sz="1800" b="1">
                <a:solidFill>
                  <a:srgbClr val="FFFFFF"/>
                </a:solidFill>
                <a:latin typeface="Meiryo"/>
              </a:rPr>
              <a:t>5</a:t>
            </a:r>
          </a:p>
        </p:txBody>
      </p:sp>
      <p:sp>
        <p:nvSpPr>
          <p:cNvPr id="31" name="Rectangle 30"/>
          <p:cNvSpPr/>
          <p:nvPr/>
        </p:nvSpPr>
        <p:spPr>
          <a:xfrm>
            <a:off x="822959" y="4389120"/>
            <a:ext cx="5212080" cy="6858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2688" y="4425696"/>
            <a:ext cx="5029200" cy="347472"/>
          </a:xfrm>
          <a:prstGeom prst="rect">
            <a:avLst/>
          </a:prstGeom>
          <a:noFill/>
        </p:spPr>
        <p:txBody>
          <a:bodyPr wrap="square">
            <a:spAutoFit/>
          </a:bodyPr>
          <a:lstStyle/>
          <a:p>
            <a:pPr algn="l"/>
            <a:r>
              <a:rPr sz="1300" b="1">
                <a:solidFill>
                  <a:srgbClr val="1A3A5C"/>
                </a:solidFill>
                <a:latin typeface="Meiryo"/>
              </a:rPr>
              <a:t>ウォームアップを必ず行う</a:t>
            </a:r>
          </a:p>
        </p:txBody>
      </p:sp>
      <p:sp>
        <p:nvSpPr>
          <p:cNvPr id="33" name="TextBox 32"/>
          <p:cNvSpPr txBox="1"/>
          <p:nvPr/>
        </p:nvSpPr>
        <p:spPr>
          <a:xfrm>
            <a:off x="932688" y="4754880"/>
            <a:ext cx="5029200" cy="292608"/>
          </a:xfrm>
          <a:prstGeom prst="rect">
            <a:avLst/>
          </a:prstGeom>
          <a:noFill/>
        </p:spPr>
        <p:txBody>
          <a:bodyPr wrap="square">
            <a:spAutoFit/>
          </a:bodyPr>
          <a:lstStyle/>
          <a:p>
            <a:pPr algn="l"/>
            <a:r>
              <a:rPr sz="1100" b="0">
                <a:solidFill>
                  <a:srgbClr val="7F8C8D"/>
                </a:solidFill>
                <a:latin typeface="Meiryo"/>
              </a:rPr>
              <a:t>マーチング・ジョギング・スキップ・フットワーク・ランジ</a:t>
            </a:r>
          </a:p>
        </p:txBody>
      </p:sp>
      <p:sp>
        <p:nvSpPr>
          <p:cNvPr id="34" name="Rectangle 33"/>
          <p:cNvSpPr/>
          <p:nvPr/>
        </p:nvSpPr>
        <p:spPr>
          <a:xfrm>
            <a:off x="6263640" y="4389120"/>
            <a:ext cx="502920" cy="685800"/>
          </a:xfrm>
          <a:prstGeom prst="rect">
            <a:avLst/>
          </a:prstGeom>
          <a:solidFill>
            <a:srgbClr val="E67E2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09359" y="4480559"/>
            <a:ext cx="411480" cy="502920"/>
          </a:xfrm>
          <a:prstGeom prst="rect">
            <a:avLst/>
          </a:prstGeom>
          <a:noFill/>
        </p:spPr>
        <p:txBody>
          <a:bodyPr wrap="square">
            <a:spAutoFit/>
          </a:bodyPr>
          <a:lstStyle/>
          <a:p>
            <a:pPr algn="ctr"/>
            <a:r>
              <a:rPr sz="1800" b="1">
                <a:solidFill>
                  <a:srgbClr val="FFFFFF"/>
                </a:solidFill>
                <a:latin typeface="Meiryo"/>
              </a:rPr>
              <a:t>6</a:t>
            </a:r>
          </a:p>
        </p:txBody>
      </p:sp>
      <p:sp>
        <p:nvSpPr>
          <p:cNvPr id="36" name="Rectangle 35"/>
          <p:cNvSpPr/>
          <p:nvPr/>
        </p:nvSpPr>
        <p:spPr>
          <a:xfrm>
            <a:off x="6812279" y="4389120"/>
            <a:ext cx="5212080" cy="6858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922007" y="4425696"/>
            <a:ext cx="5029200" cy="347472"/>
          </a:xfrm>
          <a:prstGeom prst="rect">
            <a:avLst/>
          </a:prstGeom>
          <a:noFill/>
        </p:spPr>
        <p:txBody>
          <a:bodyPr wrap="square">
            <a:spAutoFit/>
          </a:bodyPr>
          <a:lstStyle/>
          <a:p>
            <a:pPr algn="l"/>
            <a:r>
              <a:rPr sz="1300" b="1">
                <a:solidFill>
                  <a:srgbClr val="1A3A5C"/>
                </a:solidFill>
                <a:latin typeface="Meiryo"/>
              </a:rPr>
              <a:t>施設・用具の安全確認</a:t>
            </a:r>
          </a:p>
        </p:txBody>
      </p:sp>
      <p:sp>
        <p:nvSpPr>
          <p:cNvPr id="38" name="TextBox 37"/>
          <p:cNvSpPr txBox="1"/>
          <p:nvPr/>
        </p:nvSpPr>
        <p:spPr>
          <a:xfrm>
            <a:off x="6922007" y="4754880"/>
            <a:ext cx="5029200" cy="292608"/>
          </a:xfrm>
          <a:prstGeom prst="rect">
            <a:avLst/>
          </a:prstGeom>
          <a:noFill/>
        </p:spPr>
        <p:txBody>
          <a:bodyPr wrap="square">
            <a:spAutoFit/>
          </a:bodyPr>
          <a:lstStyle/>
          <a:p>
            <a:pPr algn="l"/>
            <a:r>
              <a:rPr sz="1100" b="0">
                <a:solidFill>
                  <a:srgbClr val="7F8C8D"/>
                </a:solidFill>
                <a:latin typeface="Meiryo"/>
              </a:rPr>
              <a:t>着地面・天井高・ボックス・シューズ・監視</a:t>
            </a:r>
          </a:p>
        </p:txBody>
      </p:sp>
      <p:sp>
        <p:nvSpPr>
          <p:cNvPr id="39" name="Rectangle 38"/>
          <p:cNvSpPr/>
          <p:nvPr/>
        </p:nvSpPr>
        <p:spPr>
          <a:xfrm>
            <a:off x="3200400" y="5806440"/>
            <a:ext cx="502920" cy="685800"/>
          </a:xfrm>
          <a:prstGeom prst="rect">
            <a:avLst/>
          </a:prstGeom>
          <a:solidFill>
            <a:srgbClr val="E74C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46120" y="5897879"/>
            <a:ext cx="411480" cy="502920"/>
          </a:xfrm>
          <a:prstGeom prst="rect">
            <a:avLst/>
          </a:prstGeom>
          <a:noFill/>
        </p:spPr>
        <p:txBody>
          <a:bodyPr wrap="square">
            <a:spAutoFit/>
          </a:bodyPr>
          <a:lstStyle/>
          <a:p>
            <a:pPr algn="ctr"/>
            <a:r>
              <a:rPr sz="1800" b="1">
                <a:solidFill>
                  <a:srgbClr val="FFFFFF"/>
                </a:solidFill>
                <a:latin typeface="Meiryo"/>
              </a:rPr>
              <a:t>7</a:t>
            </a:r>
          </a:p>
        </p:txBody>
      </p:sp>
      <p:sp>
        <p:nvSpPr>
          <p:cNvPr id="41" name="Rectangle 40"/>
          <p:cNvSpPr/>
          <p:nvPr/>
        </p:nvSpPr>
        <p:spPr>
          <a:xfrm>
            <a:off x="3749039" y="5806440"/>
            <a:ext cx="5212080" cy="6858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858768" y="5843016"/>
            <a:ext cx="5029200" cy="347472"/>
          </a:xfrm>
          <a:prstGeom prst="rect">
            <a:avLst/>
          </a:prstGeom>
          <a:noFill/>
        </p:spPr>
        <p:txBody>
          <a:bodyPr wrap="square">
            <a:spAutoFit/>
          </a:bodyPr>
          <a:lstStyle/>
          <a:p>
            <a:pPr algn="l"/>
            <a:r>
              <a:rPr sz="1300" b="1">
                <a:solidFill>
                  <a:srgbClr val="1A3A5C"/>
                </a:solidFill>
                <a:latin typeface="Meiryo"/>
              </a:rPr>
              <a:t>対象者に合わせる</a:t>
            </a:r>
          </a:p>
        </p:txBody>
      </p:sp>
      <p:sp>
        <p:nvSpPr>
          <p:cNvPr id="43" name="TextBox 42"/>
          <p:cNvSpPr txBox="1"/>
          <p:nvPr/>
        </p:nvSpPr>
        <p:spPr>
          <a:xfrm>
            <a:off x="3858768" y="6172200"/>
            <a:ext cx="5029200" cy="292608"/>
          </a:xfrm>
          <a:prstGeom prst="rect">
            <a:avLst/>
          </a:prstGeom>
          <a:noFill/>
        </p:spPr>
        <p:txBody>
          <a:bodyPr wrap="square">
            <a:spAutoFit/>
          </a:bodyPr>
          <a:lstStyle/>
          <a:p>
            <a:pPr algn="l"/>
            <a:r>
              <a:rPr sz="1100" b="0">
                <a:solidFill>
                  <a:srgbClr val="7F8C8D"/>
                </a:solidFill>
                <a:latin typeface="Meiryo"/>
              </a:rPr>
              <a:t>子ども・成人・マスターズで強度・量・回復を調整</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88720"/>
          </a:xfrm>
          <a:prstGeom prst="rect">
            <a:avLst/>
          </a:prstGeom>
          <a:solidFill>
            <a:srgbClr val="1A3A5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720"/>
            <a:ext cx="12188952" cy="54864"/>
          </a:xfrm>
          <a:prstGeom prst="rect">
            <a:avLst/>
          </a:prstGeom>
          <a:solidFill>
            <a:srgbClr val="2E86C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09728"/>
            <a:ext cx="11430000" cy="777240"/>
          </a:xfrm>
          <a:prstGeom prst="rect">
            <a:avLst/>
          </a:prstGeom>
          <a:noFill/>
        </p:spPr>
        <p:txBody>
          <a:bodyPr wrap="square">
            <a:spAutoFit/>
          </a:bodyPr>
          <a:lstStyle/>
          <a:p>
            <a:pPr algn="l"/>
            <a:r>
              <a:rPr sz="2800" b="1">
                <a:solidFill>
                  <a:srgbClr val="FFFFFF"/>
                </a:solidFill>
                <a:latin typeface="Meiryo"/>
              </a:rPr>
              <a:t>確認クイズ（5問）</a:t>
            </a:r>
          </a:p>
        </p:txBody>
      </p:sp>
      <p:sp>
        <p:nvSpPr>
          <p:cNvPr id="6" name="TextBox 5"/>
          <p:cNvSpPr txBox="1"/>
          <p:nvPr/>
        </p:nvSpPr>
        <p:spPr>
          <a:xfrm>
            <a:off x="365760" y="804672"/>
            <a:ext cx="10972800" cy="365760"/>
          </a:xfrm>
          <a:prstGeom prst="rect">
            <a:avLst/>
          </a:prstGeom>
          <a:noFill/>
        </p:spPr>
        <p:txBody>
          <a:bodyPr wrap="square">
            <a:spAutoFit/>
          </a:bodyPr>
          <a:lstStyle/>
          <a:p>
            <a:pPr algn="l"/>
            <a:r>
              <a:rPr sz="1400" b="0">
                <a:solidFill>
                  <a:srgbClr val="AED6F1"/>
                </a:solidFill>
                <a:latin typeface="Meiryo"/>
              </a:rPr>
              <a:t>Check Quiz</a:t>
            </a:r>
          </a:p>
        </p:txBody>
      </p:sp>
      <p:sp>
        <p:nvSpPr>
          <p:cNvPr id="7" name="Rectangle 6"/>
          <p:cNvSpPr/>
          <p:nvPr/>
        </p:nvSpPr>
        <p:spPr>
          <a:xfrm>
            <a:off x="274320" y="1417320"/>
            <a:ext cx="5669280" cy="18288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417320"/>
            <a:ext cx="5669280" cy="384048"/>
          </a:xfrm>
          <a:prstGeom prst="rect">
            <a:avLst/>
          </a:prstGeom>
          <a:solidFill>
            <a:srgbClr val="1F5C8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472184"/>
            <a:ext cx="5486400" cy="292608"/>
          </a:xfrm>
          <a:prstGeom prst="rect">
            <a:avLst/>
          </a:prstGeom>
          <a:noFill/>
        </p:spPr>
        <p:txBody>
          <a:bodyPr wrap="square">
            <a:spAutoFit/>
          </a:bodyPr>
          <a:lstStyle/>
          <a:p>
            <a:pPr algn="l"/>
            <a:r>
              <a:rPr sz="1200" b="1">
                <a:solidFill>
                  <a:srgbClr val="FFFFFF"/>
                </a:solidFill>
                <a:latin typeface="Meiryo"/>
              </a:rPr>
              <a:t>Q1  SSCで最も重要とされる局面は？</a:t>
            </a:r>
          </a:p>
        </p:txBody>
      </p:sp>
      <p:sp>
        <p:nvSpPr>
          <p:cNvPr id="10" name="Rectangle 9"/>
          <p:cNvSpPr/>
          <p:nvPr/>
        </p:nvSpPr>
        <p:spPr>
          <a:xfrm>
            <a:off x="365760" y="1920240"/>
            <a:ext cx="5486400" cy="1143000"/>
          </a:xfrm>
          <a:prstGeom prst="rect">
            <a:avLst/>
          </a:prstGeom>
          <a:solidFill>
            <a:srgbClr val="D6EA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011680"/>
            <a:ext cx="5303520" cy="1005840"/>
          </a:xfrm>
          <a:prstGeom prst="rect">
            <a:avLst/>
          </a:prstGeom>
          <a:noFill/>
        </p:spPr>
        <p:txBody>
          <a:bodyPr wrap="square">
            <a:spAutoFit/>
          </a:bodyPr>
          <a:lstStyle/>
          <a:p>
            <a:pPr algn="l"/>
            <a:r>
              <a:rPr sz="1300" b="0">
                <a:solidFill>
                  <a:srgbClr val="1F5C8B"/>
                </a:solidFill>
                <a:latin typeface="Meiryo"/>
              </a:rPr>
              <a:t>答え：償却局面（できるだけ短くする）</a:t>
            </a:r>
          </a:p>
        </p:txBody>
      </p:sp>
      <p:sp>
        <p:nvSpPr>
          <p:cNvPr id="12" name="Rectangle 11"/>
          <p:cNvSpPr/>
          <p:nvPr/>
        </p:nvSpPr>
        <p:spPr>
          <a:xfrm>
            <a:off x="6263640" y="1417320"/>
            <a:ext cx="5669280" cy="18288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417320"/>
            <a:ext cx="5669280" cy="384048"/>
          </a:xfrm>
          <a:prstGeom prst="rect">
            <a:avLst/>
          </a:prstGeom>
          <a:solidFill>
            <a:srgbClr val="1F5C8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79" y="1472184"/>
            <a:ext cx="5486400" cy="292608"/>
          </a:xfrm>
          <a:prstGeom prst="rect">
            <a:avLst/>
          </a:prstGeom>
          <a:noFill/>
        </p:spPr>
        <p:txBody>
          <a:bodyPr wrap="square">
            <a:spAutoFit/>
          </a:bodyPr>
          <a:lstStyle/>
          <a:p>
            <a:pPr algn="l"/>
            <a:r>
              <a:rPr sz="1200" b="1">
                <a:solidFill>
                  <a:srgbClr val="FFFFFF"/>
                </a:solidFill>
                <a:latin typeface="Meiryo"/>
              </a:rPr>
              <a:t>Q2  伸張反射を引き起こす受容器は？</a:t>
            </a:r>
          </a:p>
        </p:txBody>
      </p:sp>
      <p:sp>
        <p:nvSpPr>
          <p:cNvPr id="15" name="Rectangle 14"/>
          <p:cNvSpPr/>
          <p:nvPr/>
        </p:nvSpPr>
        <p:spPr>
          <a:xfrm>
            <a:off x="6355079" y="1920240"/>
            <a:ext cx="5486400" cy="1143000"/>
          </a:xfrm>
          <a:prstGeom prst="rect">
            <a:avLst/>
          </a:prstGeom>
          <a:solidFill>
            <a:srgbClr val="D6EA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2011680"/>
            <a:ext cx="5303520" cy="1005840"/>
          </a:xfrm>
          <a:prstGeom prst="rect">
            <a:avLst/>
          </a:prstGeom>
          <a:noFill/>
        </p:spPr>
        <p:txBody>
          <a:bodyPr wrap="square">
            <a:spAutoFit/>
          </a:bodyPr>
          <a:lstStyle/>
          <a:p>
            <a:pPr algn="l"/>
            <a:r>
              <a:rPr sz="1300" b="0">
                <a:solidFill>
                  <a:srgbClr val="1F5C8B"/>
                </a:solidFill>
                <a:latin typeface="Meiryo"/>
              </a:rPr>
              <a:t>答え：筋紡錘（ゴルジ腱器官ではない）</a:t>
            </a:r>
          </a:p>
        </p:txBody>
      </p:sp>
      <p:sp>
        <p:nvSpPr>
          <p:cNvPr id="17" name="Rectangle 16"/>
          <p:cNvSpPr/>
          <p:nvPr/>
        </p:nvSpPr>
        <p:spPr>
          <a:xfrm>
            <a:off x="274320" y="3520439"/>
            <a:ext cx="5669280" cy="18288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3520439"/>
            <a:ext cx="5669280" cy="384048"/>
          </a:xfrm>
          <a:prstGeom prst="rect">
            <a:avLst/>
          </a:prstGeom>
          <a:solidFill>
            <a:srgbClr val="1F5C8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3575303"/>
            <a:ext cx="5486400" cy="292608"/>
          </a:xfrm>
          <a:prstGeom prst="rect">
            <a:avLst/>
          </a:prstGeom>
          <a:noFill/>
        </p:spPr>
        <p:txBody>
          <a:bodyPr wrap="square">
            <a:spAutoFit/>
          </a:bodyPr>
          <a:lstStyle/>
          <a:p>
            <a:pPr algn="l"/>
            <a:r>
              <a:rPr sz="1200" b="1">
                <a:solidFill>
                  <a:srgbClr val="FFFFFF"/>
                </a:solidFill>
                <a:latin typeface="Meiryo"/>
              </a:rPr>
              <a:t>Q3  初心者の開始時の量（接地回数）は？</a:t>
            </a:r>
          </a:p>
        </p:txBody>
      </p:sp>
      <p:sp>
        <p:nvSpPr>
          <p:cNvPr id="20" name="Rectangle 19"/>
          <p:cNvSpPr/>
          <p:nvPr/>
        </p:nvSpPr>
        <p:spPr>
          <a:xfrm>
            <a:off x="365760" y="4023359"/>
            <a:ext cx="5486400" cy="1143000"/>
          </a:xfrm>
          <a:prstGeom prst="rect">
            <a:avLst/>
          </a:prstGeom>
          <a:solidFill>
            <a:srgbClr val="D6EA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4114800"/>
            <a:ext cx="5303520" cy="1005840"/>
          </a:xfrm>
          <a:prstGeom prst="rect">
            <a:avLst/>
          </a:prstGeom>
          <a:noFill/>
        </p:spPr>
        <p:txBody>
          <a:bodyPr wrap="square">
            <a:spAutoFit/>
          </a:bodyPr>
          <a:lstStyle/>
          <a:p>
            <a:pPr algn="l"/>
            <a:r>
              <a:rPr sz="1300" b="0">
                <a:solidFill>
                  <a:srgbClr val="1F5C8B"/>
                </a:solidFill>
                <a:latin typeface="Meiryo"/>
              </a:rPr>
              <a:t>答え：1セッション 80〜100</a:t>
            </a:r>
          </a:p>
        </p:txBody>
      </p:sp>
      <p:sp>
        <p:nvSpPr>
          <p:cNvPr id="22" name="Rectangle 21"/>
          <p:cNvSpPr/>
          <p:nvPr/>
        </p:nvSpPr>
        <p:spPr>
          <a:xfrm>
            <a:off x="6263640" y="3520439"/>
            <a:ext cx="5669280" cy="18288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63640" y="3520439"/>
            <a:ext cx="5669280" cy="384048"/>
          </a:xfrm>
          <a:prstGeom prst="rect">
            <a:avLst/>
          </a:prstGeom>
          <a:solidFill>
            <a:srgbClr val="1F5C8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5079" y="3575303"/>
            <a:ext cx="5486400" cy="292608"/>
          </a:xfrm>
          <a:prstGeom prst="rect">
            <a:avLst/>
          </a:prstGeom>
          <a:noFill/>
        </p:spPr>
        <p:txBody>
          <a:bodyPr wrap="square">
            <a:spAutoFit/>
          </a:bodyPr>
          <a:lstStyle/>
          <a:p>
            <a:pPr algn="l"/>
            <a:r>
              <a:rPr sz="1200" b="1">
                <a:solidFill>
                  <a:srgbClr val="FFFFFF"/>
                </a:solidFill>
                <a:latin typeface="Meiryo"/>
              </a:rPr>
              <a:t>Q4  デプスジャンプの高さの一般的な基準は？</a:t>
            </a:r>
          </a:p>
        </p:txBody>
      </p:sp>
      <p:sp>
        <p:nvSpPr>
          <p:cNvPr id="25" name="Rectangle 24"/>
          <p:cNvSpPr/>
          <p:nvPr/>
        </p:nvSpPr>
        <p:spPr>
          <a:xfrm>
            <a:off x="6355079" y="4023359"/>
            <a:ext cx="5486400" cy="1143000"/>
          </a:xfrm>
          <a:prstGeom prst="rect">
            <a:avLst/>
          </a:prstGeom>
          <a:solidFill>
            <a:srgbClr val="D6EA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46520" y="4114800"/>
            <a:ext cx="5303520" cy="1005840"/>
          </a:xfrm>
          <a:prstGeom prst="rect">
            <a:avLst/>
          </a:prstGeom>
          <a:noFill/>
        </p:spPr>
        <p:txBody>
          <a:bodyPr wrap="square">
            <a:spAutoFit/>
          </a:bodyPr>
          <a:lstStyle/>
          <a:p>
            <a:pPr algn="l"/>
            <a:r>
              <a:rPr sz="1300" b="0">
                <a:solidFill>
                  <a:srgbClr val="1F5C8B"/>
                </a:solidFill>
                <a:latin typeface="Meiryo"/>
              </a:rPr>
              <a:t>答え：76〜81cm（推奨41〜107cm）</a:t>
            </a:r>
          </a:p>
        </p:txBody>
      </p:sp>
      <p:sp>
        <p:nvSpPr>
          <p:cNvPr id="27" name="Rectangle 26"/>
          <p:cNvSpPr/>
          <p:nvPr/>
        </p:nvSpPr>
        <p:spPr>
          <a:xfrm>
            <a:off x="3200400" y="5486400"/>
            <a:ext cx="5669280" cy="18288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200400" y="5486400"/>
            <a:ext cx="5669280" cy="384048"/>
          </a:xfrm>
          <a:prstGeom prst="rect">
            <a:avLst/>
          </a:prstGeom>
          <a:solidFill>
            <a:srgbClr val="1F5C8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91840" y="5541264"/>
            <a:ext cx="5486400" cy="292608"/>
          </a:xfrm>
          <a:prstGeom prst="rect">
            <a:avLst/>
          </a:prstGeom>
          <a:noFill/>
        </p:spPr>
        <p:txBody>
          <a:bodyPr wrap="square">
            <a:spAutoFit/>
          </a:bodyPr>
          <a:lstStyle/>
          <a:p>
            <a:pPr algn="l"/>
            <a:r>
              <a:rPr sz="1200" b="1">
                <a:solidFill>
                  <a:srgbClr val="FFFFFF"/>
                </a:solidFill>
                <a:latin typeface="Meiryo"/>
              </a:rPr>
              <a:t>Q5  運動‐休息比として適切なのは？</a:t>
            </a:r>
          </a:p>
        </p:txBody>
      </p:sp>
      <p:sp>
        <p:nvSpPr>
          <p:cNvPr id="30" name="Rectangle 29"/>
          <p:cNvSpPr/>
          <p:nvPr/>
        </p:nvSpPr>
        <p:spPr>
          <a:xfrm>
            <a:off x="3291840" y="5989320"/>
            <a:ext cx="5486400" cy="1143000"/>
          </a:xfrm>
          <a:prstGeom prst="rect">
            <a:avLst/>
          </a:prstGeom>
          <a:solidFill>
            <a:srgbClr val="D6EA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383280" y="6080760"/>
            <a:ext cx="5303520" cy="1005840"/>
          </a:xfrm>
          <a:prstGeom prst="rect">
            <a:avLst/>
          </a:prstGeom>
          <a:noFill/>
        </p:spPr>
        <p:txBody>
          <a:bodyPr wrap="square">
            <a:spAutoFit/>
          </a:bodyPr>
          <a:lstStyle/>
          <a:p>
            <a:pPr algn="l"/>
            <a:r>
              <a:rPr sz="1300" b="0">
                <a:solidFill>
                  <a:srgbClr val="1F5C8B"/>
                </a:solidFill>
                <a:latin typeface="Meiryo"/>
              </a:rPr>
              <a:t>答え：1:5〜1:10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