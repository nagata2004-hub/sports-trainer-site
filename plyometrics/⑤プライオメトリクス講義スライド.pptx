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0"/>
            <a:ext cx="12188952" cy="73152"/>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10360152" cy="822960"/>
          </a:xfrm>
          <a:prstGeom prst="rect">
            <a:avLst/>
          </a:prstGeom>
          <a:noFill/>
        </p:spPr>
        <p:txBody>
          <a:bodyPr wrap="square">
            <a:spAutoFit/>
          </a:bodyPr>
          <a:lstStyle/>
          <a:p>
            <a:pPr algn="ctr"/>
            <a:r>
              <a:rPr sz="2200" b="0">
                <a:solidFill>
                  <a:srgbClr val="AED6F1"/>
                </a:solidFill>
                <a:latin typeface="Meiryo"/>
              </a:rPr>
              <a:t>S&amp;C領域</a:t>
            </a:r>
          </a:p>
        </p:txBody>
      </p:sp>
      <p:sp>
        <p:nvSpPr>
          <p:cNvPr id="5" name="TextBox 4"/>
          <p:cNvSpPr txBox="1"/>
          <p:nvPr/>
        </p:nvSpPr>
        <p:spPr>
          <a:xfrm>
            <a:off x="457200" y="1920240"/>
            <a:ext cx="11274552" cy="1280160"/>
          </a:xfrm>
          <a:prstGeom prst="rect">
            <a:avLst/>
          </a:prstGeom>
          <a:noFill/>
        </p:spPr>
        <p:txBody>
          <a:bodyPr wrap="square">
            <a:spAutoFit/>
          </a:bodyPr>
          <a:lstStyle/>
          <a:p>
            <a:pPr algn="ctr"/>
            <a:r>
              <a:rPr sz="5200" b="1">
                <a:solidFill>
                  <a:srgbClr val="FFFFFF"/>
                </a:solidFill>
                <a:latin typeface="Meiryo"/>
              </a:rPr>
              <a:t>プライオメトリクス</a:t>
            </a:r>
          </a:p>
        </p:txBody>
      </p:sp>
      <p:sp>
        <p:nvSpPr>
          <p:cNvPr id="6" name="TextBox 5"/>
          <p:cNvSpPr txBox="1"/>
          <p:nvPr/>
        </p:nvSpPr>
        <p:spPr>
          <a:xfrm>
            <a:off x="457200" y="3017520"/>
            <a:ext cx="11274552" cy="640080"/>
          </a:xfrm>
          <a:prstGeom prst="rect">
            <a:avLst/>
          </a:prstGeom>
          <a:noFill/>
        </p:spPr>
        <p:txBody>
          <a:bodyPr wrap="square">
            <a:spAutoFit/>
          </a:bodyPr>
          <a:lstStyle/>
          <a:p>
            <a:pPr algn="ctr"/>
            <a:r>
              <a:rPr sz="2000" b="0">
                <a:solidFill>
                  <a:srgbClr val="AED6F1"/>
                </a:solidFill>
                <a:latin typeface="Meiryo"/>
              </a:rPr>
              <a:t>トレーニングのためのプログラムデザインとテクニック</a:t>
            </a:r>
          </a:p>
        </p:txBody>
      </p:sp>
      <p:sp>
        <p:nvSpPr>
          <p:cNvPr id="7" name="Rectangle 6"/>
          <p:cNvSpPr/>
          <p:nvPr/>
        </p:nvSpPr>
        <p:spPr>
          <a:xfrm>
            <a:off x="2286000" y="3840480"/>
            <a:ext cx="7616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931920"/>
            <a:ext cx="11274552" cy="457200"/>
          </a:xfrm>
          <a:prstGeom prst="rect">
            <a:avLst/>
          </a:prstGeom>
          <a:noFill/>
        </p:spPr>
        <p:txBody>
          <a:bodyPr wrap="square">
            <a:spAutoFit/>
          </a:bodyPr>
          <a:lstStyle/>
          <a:p>
            <a:pPr algn="ctr"/>
            <a:r>
              <a:rPr sz="1500" b="0">
                <a:solidFill>
                  <a:srgbClr val="7FB3D3"/>
                </a:solidFill>
                <a:latin typeface="Meiryo"/>
              </a:rPr>
              <a:t>Program Design and Technique for Plyometric Training</a:t>
            </a:r>
          </a:p>
        </p:txBody>
      </p:sp>
      <p:sp>
        <p:nvSpPr>
          <p:cNvPr id="9" name="TextBox 8"/>
          <p:cNvSpPr txBox="1"/>
          <p:nvPr/>
        </p:nvSpPr>
        <p:spPr>
          <a:xfrm>
            <a:off x="457200" y="5029200"/>
            <a:ext cx="11274552" cy="457200"/>
          </a:xfrm>
          <a:prstGeom prst="rect">
            <a:avLst/>
          </a:prstGeom>
          <a:noFill/>
        </p:spPr>
        <p:txBody>
          <a:bodyPr wrap="square">
            <a:spAutoFit/>
          </a:bodyPr>
          <a:lstStyle/>
          <a:p>
            <a:pPr algn="ctr"/>
            <a:r>
              <a:rPr sz="1400" b="0">
                <a:solidFill>
                  <a:srgbClr val="85C1E9"/>
                </a:solidFill>
                <a:latin typeface="Meiryo"/>
              </a:rPr>
              <a:t>スポーツトレーナー同好会　自習用スライド</a:t>
            </a:r>
          </a:p>
        </p:txBody>
      </p:sp>
      <p:sp>
        <p:nvSpPr>
          <p:cNvPr id="10" name="TextBox 9"/>
          <p:cNvSpPr txBox="1"/>
          <p:nvPr/>
        </p:nvSpPr>
        <p:spPr>
          <a:xfrm>
            <a:off x="457200" y="5669280"/>
            <a:ext cx="11274552" cy="457200"/>
          </a:xfrm>
          <a:prstGeom prst="rect">
            <a:avLst/>
          </a:prstGeom>
          <a:noFill/>
        </p:spPr>
        <p:txBody>
          <a:bodyPr wrap="square">
            <a:spAutoFit/>
          </a:bodyPr>
          <a:lstStyle/>
          <a:p>
            <a:pPr algn="ctr"/>
            <a:r>
              <a:rPr sz="1200" b="0">
                <a:solidFill>
                  <a:srgbClr val="7F8C8D"/>
                </a:solidFill>
                <a:latin typeface="Meiryo"/>
              </a:rPr>
              <a:t>David H. Potach, PT  /  Donald A. Chu, PhD, 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本講義の学習目標</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Learning Objectives</a:t>
            </a:r>
          </a:p>
        </p:txBody>
      </p:sp>
      <p:sp>
        <p:nvSpPr>
          <p:cNvPr id="7" name="Rectangle 6"/>
          <p:cNvSpPr/>
          <p:nvPr/>
        </p:nvSpPr>
        <p:spPr>
          <a:xfrm>
            <a:off x="274320" y="1371600"/>
            <a:ext cx="1164031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5029200"/>
          </a:xfrm>
          <a:prstGeom prst="rect">
            <a:avLst/>
          </a:prstGeom>
          <a:noFill/>
        </p:spPr>
        <p:txBody>
          <a:bodyPr wrap="square">
            <a:spAutoFit/>
          </a:bodyPr>
          <a:lstStyle/>
          <a:p>
            <a:pPr>
              <a:spcBef>
                <a:spcPts val="1200"/>
              </a:spcBef>
            </a:pPr>
            <a:r>
              <a:rPr sz="1700">
                <a:solidFill>
                  <a:srgbClr val="1A3A5C"/>
                </a:solidFill>
                <a:latin typeface="Meiryo"/>
              </a:rPr>
              <a:t>  1.  プライオメトリクスの生理学を説明することができる</a:t>
            </a:r>
          </a:p>
          <a:p>
            <a:pPr>
              <a:spcBef>
                <a:spcPts val="1200"/>
              </a:spcBef>
            </a:pPr>
            <a:r>
              <a:rPr sz="1700">
                <a:solidFill>
                  <a:srgbClr val="1A3A5C"/>
                </a:solidFill>
                <a:latin typeface="Meiryo"/>
              </a:rPr>
              <a:t>  2.  ストレッチ・ショートニングサイクル（SSC）の各局面を区別することができる</a:t>
            </a:r>
          </a:p>
          <a:p>
            <a:pPr>
              <a:spcBef>
                <a:spcPts val="1200"/>
              </a:spcBef>
            </a:pPr>
            <a:r>
              <a:rPr sz="1700">
                <a:solidFill>
                  <a:srgbClr val="1A3A5C"/>
                </a:solidFill>
                <a:latin typeface="Meiryo"/>
              </a:rPr>
              <a:t>  3.  プライオメトリクストレーニングプログラムの構成要素を識別することができる</a:t>
            </a:r>
          </a:p>
          <a:p>
            <a:pPr>
              <a:spcBef>
                <a:spcPts val="1200"/>
              </a:spcBef>
            </a:pPr>
            <a:r>
              <a:rPr sz="1700">
                <a:solidFill>
                  <a:srgbClr val="1A3A5C"/>
                </a:solidFill>
                <a:latin typeface="Meiryo"/>
              </a:rPr>
              <a:t>  4.  安全で適切なプライオメトリックトレーニングプログラムをデザインすることができる</a:t>
            </a:r>
          </a:p>
          <a:p>
            <a:pPr>
              <a:spcBef>
                <a:spcPts val="1200"/>
              </a:spcBef>
            </a:pPr>
            <a:r>
              <a:rPr sz="1700">
                <a:solidFill>
                  <a:srgbClr val="1A3A5C"/>
                </a:solidFill>
                <a:latin typeface="Meiryo"/>
              </a:rPr>
              <a:t>  5.  下半身・上半身のプライオメトリックエクササイズを正しく実施する方法を支援できる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プライオメトリクスとは？</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Definition &amp; Concept</a:t>
            </a:r>
          </a:p>
        </p:txBody>
      </p:sp>
      <p:sp>
        <p:nvSpPr>
          <p:cNvPr id="7" name="Rectangle 6"/>
          <p:cNvSpPr/>
          <p:nvPr/>
        </p:nvSpPr>
        <p:spPr>
          <a:xfrm>
            <a:off x="274320" y="1371600"/>
            <a:ext cx="11640312" cy="137160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17320"/>
            <a:ext cx="1828800" cy="365760"/>
          </a:xfrm>
          <a:prstGeom prst="rect">
            <a:avLst/>
          </a:prstGeom>
          <a:noFill/>
        </p:spPr>
        <p:txBody>
          <a:bodyPr wrap="square">
            <a:spAutoFit/>
          </a:bodyPr>
          <a:lstStyle/>
          <a:p>
            <a:pPr algn="l"/>
            <a:r>
              <a:rPr sz="1300" b="1">
                <a:solidFill>
                  <a:srgbClr val="AED6F1"/>
                </a:solidFill>
                <a:latin typeface="Meiryo"/>
              </a:rPr>
              <a:t>定義</a:t>
            </a:r>
          </a:p>
        </p:txBody>
      </p:sp>
      <p:sp>
        <p:nvSpPr>
          <p:cNvPr id="9" name="TextBox 8"/>
          <p:cNvSpPr txBox="1"/>
          <p:nvPr/>
        </p:nvSpPr>
        <p:spPr>
          <a:xfrm>
            <a:off x="457200" y="1737360"/>
            <a:ext cx="11247120" cy="822960"/>
          </a:xfrm>
          <a:prstGeom prst="rect">
            <a:avLst/>
          </a:prstGeom>
          <a:noFill/>
        </p:spPr>
        <p:txBody>
          <a:bodyPr wrap="square">
            <a:spAutoFit/>
          </a:bodyPr>
          <a:lstStyle/>
          <a:p>
            <a:pPr algn="l"/>
            <a:r>
              <a:rPr sz="1900" b="1">
                <a:solidFill>
                  <a:srgbClr val="FFFFFF"/>
                </a:solidFill>
                <a:latin typeface="Meiryo"/>
              </a:rPr>
              <a:t>筋肉が素早く伸ばされた直後に収縮することで最大の力を発揮するトレーニング方法</a:t>
            </a:r>
          </a:p>
        </p:txBody>
      </p:sp>
      <p:sp>
        <p:nvSpPr>
          <p:cNvPr id="10" name="Rectangle 9"/>
          <p:cNvSpPr/>
          <p:nvPr/>
        </p:nvSpPr>
        <p:spPr>
          <a:xfrm>
            <a:off x="274320" y="2880360"/>
            <a:ext cx="5577840" cy="192024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926080"/>
            <a:ext cx="5029200" cy="365760"/>
          </a:xfrm>
          <a:prstGeom prst="rect">
            <a:avLst/>
          </a:prstGeom>
          <a:noFill/>
        </p:spPr>
        <p:txBody>
          <a:bodyPr wrap="square">
            <a:spAutoFit/>
          </a:bodyPr>
          <a:lstStyle/>
          <a:p>
            <a:pPr algn="l"/>
            <a:r>
              <a:rPr sz="1300" b="1">
                <a:solidFill>
                  <a:srgbClr val="1F5C8B"/>
                </a:solidFill>
                <a:latin typeface="Meiryo"/>
              </a:rPr>
              <a:t>語源</a:t>
            </a:r>
          </a:p>
        </p:txBody>
      </p:sp>
      <p:sp>
        <p:nvSpPr>
          <p:cNvPr id="12" name="TextBox 11"/>
          <p:cNvSpPr txBox="1"/>
          <p:nvPr/>
        </p:nvSpPr>
        <p:spPr>
          <a:xfrm>
            <a:off x="457200" y="3291840"/>
            <a:ext cx="5212080" cy="1371600"/>
          </a:xfrm>
          <a:prstGeom prst="rect">
            <a:avLst/>
          </a:prstGeom>
          <a:noFill/>
        </p:spPr>
        <p:txBody>
          <a:bodyPr wrap="square">
            <a:spAutoFit/>
          </a:bodyPr>
          <a:lstStyle/>
          <a:p>
            <a:pPr algn="l"/>
            <a:r>
              <a:rPr sz="1500" b="0">
                <a:solidFill>
                  <a:srgbClr val="1A3A5C"/>
                </a:solidFill>
                <a:latin typeface="Meiryo"/>
              </a:rPr>
              <a:t>プリオ（plio）
= より多く
メトリック（metric）
= 測る</a:t>
            </a:r>
          </a:p>
        </p:txBody>
      </p:sp>
      <p:sp>
        <p:nvSpPr>
          <p:cNvPr id="13" name="Rectangle 12"/>
          <p:cNvSpPr/>
          <p:nvPr/>
        </p:nvSpPr>
        <p:spPr>
          <a:xfrm>
            <a:off x="6126480" y="2880360"/>
            <a:ext cx="5788152" cy="192024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926080"/>
            <a:ext cx="5303520" cy="365760"/>
          </a:xfrm>
          <a:prstGeom prst="rect">
            <a:avLst/>
          </a:prstGeom>
          <a:noFill/>
        </p:spPr>
        <p:txBody>
          <a:bodyPr wrap="square">
            <a:spAutoFit/>
          </a:bodyPr>
          <a:lstStyle/>
          <a:p>
            <a:pPr algn="l"/>
            <a:r>
              <a:rPr sz="1300" b="1">
                <a:solidFill>
                  <a:srgbClr val="1F5C8B"/>
                </a:solidFill>
                <a:latin typeface="Meiryo"/>
              </a:rPr>
              <a:t>目的</a:t>
            </a:r>
          </a:p>
        </p:txBody>
      </p:sp>
      <p:sp>
        <p:nvSpPr>
          <p:cNvPr id="15" name="TextBox 14"/>
          <p:cNvSpPr txBox="1"/>
          <p:nvPr/>
        </p:nvSpPr>
        <p:spPr>
          <a:xfrm>
            <a:off x="6309360" y="3291840"/>
            <a:ext cx="5394960" cy="1371600"/>
          </a:xfrm>
          <a:prstGeom prst="rect">
            <a:avLst/>
          </a:prstGeom>
          <a:noFill/>
        </p:spPr>
        <p:txBody>
          <a:bodyPr wrap="square">
            <a:spAutoFit/>
          </a:bodyPr>
          <a:lstStyle/>
          <a:p>
            <a:pPr algn="l"/>
            <a:r>
              <a:rPr sz="1500" b="0">
                <a:solidFill>
                  <a:srgbClr val="1A3A5C"/>
                </a:solidFill>
                <a:latin typeface="Meiryo"/>
              </a:rPr>
              <a:t>SSC（ストレッチ・ショートニングサイクル）を活用して、
筋の反応速度とパワー発揮能力を向上させる</a:t>
            </a:r>
          </a:p>
        </p:txBody>
      </p:sp>
      <p:sp>
        <p:nvSpPr>
          <p:cNvPr id="16" name="Rectangle 15"/>
          <p:cNvSpPr/>
          <p:nvPr/>
        </p:nvSpPr>
        <p:spPr>
          <a:xfrm>
            <a:off x="274320" y="4937760"/>
            <a:ext cx="11640312" cy="82296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029200"/>
            <a:ext cx="11247120" cy="640080"/>
          </a:xfrm>
          <a:prstGeom prst="rect">
            <a:avLst/>
          </a:prstGeom>
          <a:noFill/>
        </p:spPr>
        <p:txBody>
          <a:bodyPr wrap="square">
            <a:spAutoFit/>
          </a:bodyPr>
          <a:lstStyle/>
          <a:p>
            <a:pPr algn="l"/>
            <a:r>
              <a:rPr sz="1400" b="0">
                <a:solidFill>
                  <a:srgbClr val="1F5C8B"/>
                </a:solidFill>
                <a:latin typeface="Meiryo"/>
              </a:rPr>
              <a:t>主な効果：  瞬発力向上　/　スポーツパフォーマンス向上　/　怪我予防　/　神経系の強化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ストレッチ・ショートニングサイクル（SSC）</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Stretch-Shortening Cycle</a:t>
            </a:r>
          </a:p>
        </p:txBody>
      </p:sp>
      <p:sp>
        <p:nvSpPr>
          <p:cNvPr id="7" name="Rectangle 6"/>
          <p:cNvSpPr/>
          <p:nvPr/>
        </p:nvSpPr>
        <p:spPr>
          <a:xfrm>
            <a:off x="457200" y="1463040"/>
            <a:ext cx="3291840" cy="42062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45920"/>
            <a:ext cx="3108960" cy="822960"/>
          </a:xfrm>
          <a:prstGeom prst="rect">
            <a:avLst/>
          </a:prstGeom>
          <a:noFill/>
        </p:spPr>
        <p:txBody>
          <a:bodyPr wrap="square">
            <a:spAutoFit/>
          </a:bodyPr>
          <a:lstStyle/>
          <a:p>
            <a:pPr algn="ctr"/>
            <a:r>
              <a:rPr sz="1700" b="1">
                <a:solidFill>
                  <a:srgbClr val="FFFFFF"/>
                </a:solidFill>
                <a:latin typeface="Meiryo"/>
              </a:rPr>
              <a:t>第1段階
伸張性局面</a:t>
            </a:r>
          </a:p>
        </p:txBody>
      </p:sp>
      <p:sp>
        <p:nvSpPr>
          <p:cNvPr id="9" name="TextBox 8"/>
          <p:cNvSpPr txBox="1"/>
          <p:nvPr/>
        </p:nvSpPr>
        <p:spPr>
          <a:xfrm>
            <a:off x="548640" y="2651760"/>
            <a:ext cx="3108960" cy="1645920"/>
          </a:xfrm>
          <a:prstGeom prst="rect">
            <a:avLst/>
          </a:prstGeom>
          <a:noFill/>
        </p:spPr>
        <p:txBody>
          <a:bodyPr wrap="square">
            <a:spAutoFit/>
          </a:bodyPr>
          <a:lstStyle/>
          <a:p>
            <a:pPr algn="ctr"/>
            <a:r>
              <a:rPr sz="1500" b="0">
                <a:solidFill>
                  <a:srgbClr val="FFFFFF"/>
                </a:solidFill>
                <a:latin typeface="Meiryo"/>
              </a:rPr>
              <a:t>主動筋が引き伸ばされる
弾性エネルギーを蓄積</a:t>
            </a:r>
          </a:p>
        </p:txBody>
      </p:sp>
      <p:sp>
        <p:nvSpPr>
          <p:cNvPr id="10" name="TextBox 9"/>
          <p:cNvSpPr txBox="1"/>
          <p:nvPr/>
        </p:nvSpPr>
        <p:spPr>
          <a:xfrm>
            <a:off x="3703320" y="3108960"/>
            <a:ext cx="640080" cy="548640"/>
          </a:xfrm>
          <a:prstGeom prst="rect">
            <a:avLst/>
          </a:prstGeom>
          <a:noFill/>
        </p:spPr>
        <p:txBody>
          <a:bodyPr wrap="square">
            <a:spAutoFit/>
          </a:bodyPr>
          <a:lstStyle/>
          <a:p>
            <a:pPr algn="ctr"/>
            <a:r>
              <a:rPr sz="2800" b="1">
                <a:solidFill>
                  <a:srgbClr val="1F5C8B"/>
                </a:solidFill>
                <a:latin typeface="Meiryo"/>
              </a:rPr>
              <a:t>▶</a:t>
            </a:r>
          </a:p>
        </p:txBody>
      </p:sp>
      <p:sp>
        <p:nvSpPr>
          <p:cNvPr id="11" name="Rectangle 10"/>
          <p:cNvSpPr/>
          <p:nvPr/>
        </p:nvSpPr>
        <p:spPr>
          <a:xfrm>
            <a:off x="4297680" y="1463040"/>
            <a:ext cx="3291840" cy="420624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645920"/>
            <a:ext cx="3108960" cy="822960"/>
          </a:xfrm>
          <a:prstGeom prst="rect">
            <a:avLst/>
          </a:prstGeom>
          <a:noFill/>
        </p:spPr>
        <p:txBody>
          <a:bodyPr wrap="square">
            <a:spAutoFit/>
          </a:bodyPr>
          <a:lstStyle/>
          <a:p>
            <a:pPr algn="ctr"/>
            <a:r>
              <a:rPr sz="1700" b="1">
                <a:solidFill>
                  <a:srgbClr val="FFFFFF"/>
                </a:solidFill>
                <a:latin typeface="Meiryo"/>
              </a:rPr>
              <a:t>第2段階
一般筋放電</a:t>
            </a:r>
          </a:p>
        </p:txBody>
      </p:sp>
      <p:sp>
        <p:nvSpPr>
          <p:cNvPr id="13" name="TextBox 12"/>
          <p:cNvSpPr txBox="1"/>
          <p:nvPr/>
        </p:nvSpPr>
        <p:spPr>
          <a:xfrm>
            <a:off x="4389120" y="2651760"/>
            <a:ext cx="3108960" cy="1645920"/>
          </a:xfrm>
          <a:prstGeom prst="rect">
            <a:avLst/>
          </a:prstGeom>
          <a:noFill/>
        </p:spPr>
        <p:txBody>
          <a:bodyPr wrap="square">
            <a:spAutoFit/>
          </a:bodyPr>
          <a:lstStyle/>
          <a:p>
            <a:pPr algn="ctr"/>
            <a:r>
              <a:rPr sz="1500" b="0">
                <a:solidFill>
                  <a:srgbClr val="FFFFFF"/>
                </a:solidFill>
                <a:latin typeface="Meiryo"/>
              </a:rPr>
              <a:t>切り替えの瞬間
（極めて短時間）</a:t>
            </a:r>
          </a:p>
        </p:txBody>
      </p:sp>
      <p:sp>
        <p:nvSpPr>
          <p:cNvPr id="14" name="TextBox 13"/>
          <p:cNvSpPr txBox="1"/>
          <p:nvPr/>
        </p:nvSpPr>
        <p:spPr>
          <a:xfrm>
            <a:off x="7543800" y="3108960"/>
            <a:ext cx="640080" cy="548640"/>
          </a:xfrm>
          <a:prstGeom prst="rect">
            <a:avLst/>
          </a:prstGeom>
          <a:noFill/>
        </p:spPr>
        <p:txBody>
          <a:bodyPr wrap="square">
            <a:spAutoFit/>
          </a:bodyPr>
          <a:lstStyle/>
          <a:p>
            <a:pPr algn="ctr"/>
            <a:r>
              <a:rPr sz="2800" b="1">
                <a:solidFill>
                  <a:srgbClr val="1F5C8B"/>
                </a:solidFill>
                <a:latin typeface="Meiryo"/>
              </a:rPr>
              <a:t>▶</a:t>
            </a:r>
          </a:p>
        </p:txBody>
      </p:sp>
      <p:sp>
        <p:nvSpPr>
          <p:cNvPr id="15" name="Rectangle 14"/>
          <p:cNvSpPr/>
          <p:nvPr/>
        </p:nvSpPr>
        <p:spPr>
          <a:xfrm>
            <a:off x="8138160" y="1463040"/>
            <a:ext cx="3291840" cy="42062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645920"/>
            <a:ext cx="3108960" cy="822960"/>
          </a:xfrm>
          <a:prstGeom prst="rect">
            <a:avLst/>
          </a:prstGeom>
          <a:noFill/>
        </p:spPr>
        <p:txBody>
          <a:bodyPr wrap="square">
            <a:spAutoFit/>
          </a:bodyPr>
          <a:lstStyle/>
          <a:p>
            <a:pPr algn="ctr"/>
            <a:r>
              <a:rPr sz="1700" b="1">
                <a:solidFill>
                  <a:srgbClr val="FFFFFF"/>
                </a:solidFill>
                <a:latin typeface="Meiryo"/>
              </a:rPr>
              <a:t>第3段階
短縮性局面</a:t>
            </a:r>
          </a:p>
        </p:txBody>
      </p:sp>
      <p:sp>
        <p:nvSpPr>
          <p:cNvPr id="17" name="TextBox 16"/>
          <p:cNvSpPr txBox="1"/>
          <p:nvPr/>
        </p:nvSpPr>
        <p:spPr>
          <a:xfrm>
            <a:off x="8229600" y="2651760"/>
            <a:ext cx="3108960" cy="1645920"/>
          </a:xfrm>
          <a:prstGeom prst="rect">
            <a:avLst/>
          </a:prstGeom>
          <a:noFill/>
        </p:spPr>
        <p:txBody>
          <a:bodyPr wrap="square">
            <a:spAutoFit/>
          </a:bodyPr>
          <a:lstStyle/>
          <a:p>
            <a:pPr algn="ctr"/>
            <a:r>
              <a:rPr sz="1500" b="0">
                <a:solidFill>
                  <a:srgbClr val="FFFFFF"/>
                </a:solidFill>
                <a:latin typeface="Meiryo"/>
              </a:rPr>
              <a:t>筋肉が収縮して
エネルギーを解放！
パワー発揮</a:t>
            </a:r>
          </a:p>
        </p:txBody>
      </p:sp>
      <p:sp>
        <p:nvSpPr>
          <p:cNvPr id="18" name="Rectangle 17"/>
          <p:cNvSpPr/>
          <p:nvPr/>
        </p:nvSpPr>
        <p:spPr>
          <a:xfrm>
            <a:off x="274320" y="5852160"/>
            <a:ext cx="11640312" cy="68580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925312"/>
            <a:ext cx="11247120" cy="548640"/>
          </a:xfrm>
          <a:prstGeom prst="rect">
            <a:avLst/>
          </a:prstGeom>
          <a:noFill/>
        </p:spPr>
        <p:txBody>
          <a:bodyPr wrap="square">
            <a:spAutoFit/>
          </a:bodyPr>
          <a:lstStyle/>
          <a:p>
            <a:pPr algn="l"/>
            <a:r>
              <a:rPr sz="1400" b="1">
                <a:solidFill>
                  <a:srgbClr val="FFFFFF"/>
                </a:solidFill>
                <a:latin typeface="Meiryo"/>
              </a:rPr>
              <a:t>ポイント：第1段階→第3段階への移行時間が短いほど、蓄えた弾性エネルギーをより多く利用できる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力学的モデル ＆ 神経生理学的モデル</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Mechanical &amp; Neurophysiological Models</a:t>
            </a:r>
          </a:p>
        </p:txBody>
      </p:sp>
      <p:sp>
        <p:nvSpPr>
          <p:cNvPr id="7" name="Rectangle 6"/>
          <p:cNvSpPr/>
          <p:nvPr/>
        </p:nvSpPr>
        <p:spPr>
          <a:xfrm>
            <a:off x="274320" y="1371600"/>
            <a:ext cx="5577840"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5577840"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5303520" cy="347472"/>
          </a:xfrm>
          <a:prstGeom prst="rect">
            <a:avLst/>
          </a:prstGeom>
          <a:noFill/>
        </p:spPr>
        <p:txBody>
          <a:bodyPr wrap="square">
            <a:spAutoFit/>
          </a:bodyPr>
          <a:lstStyle/>
          <a:p>
            <a:pPr algn="l"/>
            <a:r>
              <a:rPr sz="1300" b="1">
                <a:solidFill>
                  <a:srgbClr val="FFFFFF"/>
                </a:solidFill>
                <a:latin typeface="Meiryo"/>
              </a:rPr>
              <a:t>力学的モデル（弾性要素）</a:t>
            </a:r>
          </a:p>
        </p:txBody>
      </p:sp>
      <p:sp>
        <p:nvSpPr>
          <p:cNvPr id="10" name="Rectangle 9"/>
          <p:cNvSpPr/>
          <p:nvPr/>
        </p:nvSpPr>
        <p:spPr>
          <a:xfrm>
            <a:off x="457200" y="1920240"/>
            <a:ext cx="5212080" cy="19202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011680"/>
            <a:ext cx="4846320" cy="457200"/>
          </a:xfrm>
          <a:prstGeom prst="rect">
            <a:avLst/>
          </a:prstGeom>
          <a:noFill/>
        </p:spPr>
        <p:txBody>
          <a:bodyPr wrap="square">
            <a:spAutoFit/>
          </a:bodyPr>
          <a:lstStyle/>
          <a:p>
            <a:pPr algn="l"/>
            <a:r>
              <a:rPr sz="1600" b="1">
                <a:solidFill>
                  <a:srgbClr val="FFFFFF"/>
                </a:solidFill>
                <a:latin typeface="Meiryo"/>
              </a:rPr>
              <a:t>SEC　直列弾性要素</a:t>
            </a:r>
          </a:p>
        </p:txBody>
      </p:sp>
      <p:sp>
        <p:nvSpPr>
          <p:cNvPr id="12" name="TextBox 11"/>
          <p:cNvSpPr txBox="1"/>
          <p:nvPr/>
        </p:nvSpPr>
        <p:spPr>
          <a:xfrm>
            <a:off x="594360" y="2468880"/>
            <a:ext cx="4846320" cy="1188720"/>
          </a:xfrm>
          <a:prstGeom prst="rect">
            <a:avLst/>
          </a:prstGeom>
          <a:noFill/>
        </p:spPr>
        <p:txBody>
          <a:bodyPr wrap="square">
            <a:spAutoFit/>
          </a:bodyPr>
          <a:lstStyle/>
          <a:p>
            <a:pPr algn="l"/>
            <a:r>
              <a:rPr sz="1300" b="0">
                <a:solidFill>
                  <a:srgbClr val="FFFFFF"/>
                </a:solidFill>
                <a:latin typeface="Meiryo"/>
              </a:rPr>
              <a:t>腱・腱膜に蓄えられる弾性エネルギー
★ プライオメトリクスの主役</a:t>
            </a:r>
          </a:p>
        </p:txBody>
      </p:sp>
      <p:sp>
        <p:nvSpPr>
          <p:cNvPr id="13" name="Rectangle 12"/>
          <p:cNvSpPr/>
          <p:nvPr/>
        </p:nvSpPr>
        <p:spPr>
          <a:xfrm>
            <a:off x="457200" y="4023360"/>
            <a:ext cx="5212080" cy="1920240"/>
          </a:xfrm>
          <a:prstGeom prst="rect">
            <a:avLst/>
          </a:prstGeom>
          <a:solidFill>
            <a:srgbClr val="16A0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4114800"/>
            <a:ext cx="4846320" cy="457200"/>
          </a:xfrm>
          <a:prstGeom prst="rect">
            <a:avLst/>
          </a:prstGeom>
          <a:noFill/>
        </p:spPr>
        <p:txBody>
          <a:bodyPr wrap="square">
            <a:spAutoFit/>
          </a:bodyPr>
          <a:lstStyle/>
          <a:p>
            <a:pPr algn="l"/>
            <a:r>
              <a:rPr sz="1600" b="1">
                <a:solidFill>
                  <a:srgbClr val="FFFFFF"/>
                </a:solidFill>
                <a:latin typeface="Meiryo"/>
              </a:rPr>
              <a:t>PEC　並列弾性要素</a:t>
            </a:r>
          </a:p>
        </p:txBody>
      </p:sp>
      <p:sp>
        <p:nvSpPr>
          <p:cNvPr id="15" name="TextBox 14"/>
          <p:cNvSpPr txBox="1"/>
          <p:nvPr/>
        </p:nvSpPr>
        <p:spPr>
          <a:xfrm>
            <a:off x="594360" y="4572000"/>
            <a:ext cx="4846320" cy="1188720"/>
          </a:xfrm>
          <a:prstGeom prst="rect">
            <a:avLst/>
          </a:prstGeom>
          <a:noFill/>
        </p:spPr>
        <p:txBody>
          <a:bodyPr wrap="square">
            <a:spAutoFit/>
          </a:bodyPr>
          <a:lstStyle/>
          <a:p>
            <a:pPr algn="l"/>
            <a:r>
              <a:rPr sz="1300" b="0">
                <a:solidFill>
                  <a:srgbClr val="FFFFFF"/>
                </a:solidFill>
                <a:latin typeface="Meiryo"/>
              </a:rPr>
              <a:t>筋膜などの受動的な弾性
補助的な役割</a:t>
            </a:r>
          </a:p>
        </p:txBody>
      </p:sp>
      <p:sp>
        <p:nvSpPr>
          <p:cNvPr id="16" name="Rectangle 15"/>
          <p:cNvSpPr/>
          <p:nvPr/>
        </p:nvSpPr>
        <p:spPr>
          <a:xfrm>
            <a:off x="6126480" y="1371600"/>
            <a:ext cx="578815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1371600"/>
            <a:ext cx="5788152" cy="411480"/>
          </a:xfrm>
          <a:prstGeom prst="rect">
            <a:avLst/>
          </a:prstGeom>
          <a:solidFill>
            <a:srgbClr val="8E44A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417320"/>
            <a:ext cx="5486400" cy="347472"/>
          </a:xfrm>
          <a:prstGeom prst="rect">
            <a:avLst/>
          </a:prstGeom>
          <a:noFill/>
        </p:spPr>
        <p:txBody>
          <a:bodyPr wrap="square">
            <a:spAutoFit/>
          </a:bodyPr>
          <a:lstStyle/>
          <a:p>
            <a:pPr algn="l"/>
            <a:r>
              <a:rPr sz="1300" b="1">
                <a:solidFill>
                  <a:srgbClr val="FFFFFF"/>
                </a:solidFill>
                <a:latin typeface="Meiryo"/>
              </a:rPr>
              <a:t>神経生理学的モデル（伸張反射）</a:t>
            </a:r>
          </a:p>
        </p:txBody>
      </p:sp>
      <p:sp>
        <p:nvSpPr>
          <p:cNvPr id="19" name="Rectangle 18"/>
          <p:cNvSpPr/>
          <p:nvPr/>
        </p:nvSpPr>
        <p:spPr>
          <a:xfrm>
            <a:off x="6400800" y="1874519"/>
            <a:ext cx="5212080" cy="86868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947672"/>
            <a:ext cx="5120640" cy="749808"/>
          </a:xfrm>
          <a:prstGeom prst="rect">
            <a:avLst/>
          </a:prstGeom>
          <a:noFill/>
        </p:spPr>
        <p:txBody>
          <a:bodyPr wrap="square">
            <a:spAutoFit/>
          </a:bodyPr>
          <a:lstStyle/>
          <a:p>
            <a:pPr algn="ctr"/>
            <a:r>
              <a:rPr sz="1300" b="1">
                <a:solidFill>
                  <a:srgbClr val="FFFFFF"/>
                </a:solidFill>
                <a:latin typeface="Meiryo"/>
              </a:rPr>
              <a:t>筋肉が急激に
引き伸ばされる</a:t>
            </a:r>
          </a:p>
        </p:txBody>
      </p:sp>
      <p:sp>
        <p:nvSpPr>
          <p:cNvPr id="21" name="TextBox 20"/>
          <p:cNvSpPr txBox="1"/>
          <p:nvPr/>
        </p:nvSpPr>
        <p:spPr>
          <a:xfrm>
            <a:off x="8549640" y="2697479"/>
            <a:ext cx="548640" cy="274320"/>
          </a:xfrm>
          <a:prstGeom prst="rect">
            <a:avLst/>
          </a:prstGeom>
          <a:noFill/>
        </p:spPr>
        <p:txBody>
          <a:bodyPr wrap="square">
            <a:spAutoFit/>
          </a:bodyPr>
          <a:lstStyle/>
          <a:p>
            <a:pPr algn="ctr"/>
            <a:r>
              <a:rPr sz="1400" b="1">
                <a:solidFill>
                  <a:srgbClr val="8E44AD"/>
                </a:solidFill>
                <a:latin typeface="Meiryo"/>
              </a:rPr>
              <a:t>▼</a:t>
            </a:r>
          </a:p>
        </p:txBody>
      </p:sp>
      <p:sp>
        <p:nvSpPr>
          <p:cNvPr id="22" name="Rectangle 21"/>
          <p:cNvSpPr/>
          <p:nvPr/>
        </p:nvSpPr>
        <p:spPr>
          <a:xfrm>
            <a:off x="6400800" y="2971800"/>
            <a:ext cx="5212080" cy="868680"/>
          </a:xfrm>
          <a:prstGeom prst="rect">
            <a:avLst/>
          </a:prstGeom>
          <a:solidFill>
            <a:srgbClr val="9B59B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044952"/>
            <a:ext cx="5120640" cy="749808"/>
          </a:xfrm>
          <a:prstGeom prst="rect">
            <a:avLst/>
          </a:prstGeom>
          <a:noFill/>
        </p:spPr>
        <p:txBody>
          <a:bodyPr wrap="square">
            <a:spAutoFit/>
          </a:bodyPr>
          <a:lstStyle/>
          <a:p>
            <a:pPr algn="ctr"/>
            <a:r>
              <a:rPr sz="1300" b="1">
                <a:solidFill>
                  <a:srgbClr val="FFFFFF"/>
                </a:solidFill>
                <a:latin typeface="Meiryo"/>
              </a:rPr>
              <a:t>筋紡錘が
伸張を感知</a:t>
            </a:r>
          </a:p>
        </p:txBody>
      </p:sp>
      <p:sp>
        <p:nvSpPr>
          <p:cNvPr id="24" name="TextBox 23"/>
          <p:cNvSpPr txBox="1"/>
          <p:nvPr/>
        </p:nvSpPr>
        <p:spPr>
          <a:xfrm>
            <a:off x="8549640" y="3794760"/>
            <a:ext cx="548640" cy="274320"/>
          </a:xfrm>
          <a:prstGeom prst="rect">
            <a:avLst/>
          </a:prstGeom>
          <a:noFill/>
        </p:spPr>
        <p:txBody>
          <a:bodyPr wrap="square">
            <a:spAutoFit/>
          </a:bodyPr>
          <a:lstStyle/>
          <a:p>
            <a:pPr algn="ctr"/>
            <a:r>
              <a:rPr sz="1400" b="1">
                <a:solidFill>
                  <a:srgbClr val="8E44AD"/>
                </a:solidFill>
                <a:latin typeface="Meiryo"/>
              </a:rPr>
              <a:t>▼</a:t>
            </a:r>
          </a:p>
        </p:txBody>
      </p:sp>
      <p:sp>
        <p:nvSpPr>
          <p:cNvPr id="25" name="Rectangle 24"/>
          <p:cNvSpPr/>
          <p:nvPr/>
        </p:nvSpPr>
        <p:spPr>
          <a:xfrm>
            <a:off x="6400800" y="4069079"/>
            <a:ext cx="5212080" cy="868680"/>
          </a:xfrm>
          <a:prstGeom prst="rect">
            <a:avLst/>
          </a:prstGeom>
          <a:solidFill>
            <a:srgbClr val="AF7AC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142231"/>
            <a:ext cx="5120640" cy="749808"/>
          </a:xfrm>
          <a:prstGeom prst="rect">
            <a:avLst/>
          </a:prstGeom>
          <a:noFill/>
        </p:spPr>
        <p:txBody>
          <a:bodyPr wrap="square">
            <a:spAutoFit/>
          </a:bodyPr>
          <a:lstStyle/>
          <a:p>
            <a:pPr algn="ctr"/>
            <a:r>
              <a:rPr sz="1300" b="1">
                <a:solidFill>
                  <a:srgbClr val="FFFFFF"/>
                </a:solidFill>
                <a:latin typeface="Meiryo"/>
              </a:rPr>
              <a:t>脊髄へ信号
を送る</a:t>
            </a:r>
          </a:p>
        </p:txBody>
      </p:sp>
      <p:sp>
        <p:nvSpPr>
          <p:cNvPr id="27" name="TextBox 26"/>
          <p:cNvSpPr txBox="1"/>
          <p:nvPr/>
        </p:nvSpPr>
        <p:spPr>
          <a:xfrm>
            <a:off x="8549640" y="4892040"/>
            <a:ext cx="548640" cy="274320"/>
          </a:xfrm>
          <a:prstGeom prst="rect">
            <a:avLst/>
          </a:prstGeom>
          <a:noFill/>
        </p:spPr>
        <p:txBody>
          <a:bodyPr wrap="square">
            <a:spAutoFit/>
          </a:bodyPr>
          <a:lstStyle/>
          <a:p>
            <a:pPr algn="ctr"/>
            <a:r>
              <a:rPr sz="1400" b="1">
                <a:solidFill>
                  <a:srgbClr val="8E44AD"/>
                </a:solidFill>
                <a:latin typeface="Meiryo"/>
              </a:rPr>
              <a:t>▼</a:t>
            </a:r>
          </a:p>
        </p:txBody>
      </p:sp>
      <p:sp>
        <p:nvSpPr>
          <p:cNvPr id="28" name="Rectangle 27"/>
          <p:cNvSpPr/>
          <p:nvPr/>
        </p:nvSpPr>
        <p:spPr>
          <a:xfrm>
            <a:off x="6400800" y="5166359"/>
            <a:ext cx="5212080" cy="86868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239512"/>
            <a:ext cx="5120640" cy="749808"/>
          </a:xfrm>
          <a:prstGeom prst="rect">
            <a:avLst/>
          </a:prstGeom>
          <a:noFill/>
        </p:spPr>
        <p:txBody>
          <a:bodyPr wrap="square">
            <a:spAutoFit/>
          </a:bodyPr>
          <a:lstStyle/>
          <a:p>
            <a:pPr algn="ctr"/>
            <a:r>
              <a:rPr sz="1300" b="1">
                <a:solidFill>
                  <a:srgbClr val="FFFFFF"/>
                </a:solidFill>
                <a:latin typeface="Meiryo"/>
              </a:rPr>
              <a:t>筋肉が即座に
収縮・力発揮！</a:t>
            </a:r>
          </a:p>
        </p:txBody>
      </p:sp>
      <p:sp>
        <p:nvSpPr>
          <p:cNvPr id="30" name="TextBox 29"/>
          <p:cNvSpPr txBox="1"/>
          <p:nvPr/>
        </p:nvSpPr>
        <p:spPr>
          <a:xfrm>
            <a:off x="6263640" y="6126480"/>
            <a:ext cx="5486400" cy="502920"/>
          </a:xfrm>
          <a:prstGeom prst="rect">
            <a:avLst/>
          </a:prstGeom>
          <a:noFill/>
        </p:spPr>
        <p:txBody>
          <a:bodyPr wrap="square">
            <a:spAutoFit/>
          </a:bodyPr>
          <a:lstStyle/>
          <a:p>
            <a:pPr algn="l"/>
            <a:r>
              <a:rPr sz="1200" b="1">
                <a:solidFill>
                  <a:srgbClr val="8E44AD"/>
                </a:solidFill>
                <a:latin typeface="Meiryo"/>
              </a:rPr>
              <a:t>この反射を鍛えることで
より素早く・より強い反応が得られる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プログラムデザイン：ニーズ分析と変数</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Program Design Variables</a:t>
            </a:r>
          </a:p>
        </p:txBody>
      </p:sp>
      <p:sp>
        <p:nvSpPr>
          <p:cNvPr id="7" name="Rectangle 6"/>
          <p:cNvSpPr/>
          <p:nvPr/>
        </p:nvSpPr>
        <p:spPr>
          <a:xfrm>
            <a:off x="274320" y="1371600"/>
            <a:ext cx="5394960"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5394960"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5120640" cy="347472"/>
          </a:xfrm>
          <a:prstGeom prst="rect">
            <a:avLst/>
          </a:prstGeom>
          <a:noFill/>
        </p:spPr>
        <p:txBody>
          <a:bodyPr wrap="square">
            <a:spAutoFit/>
          </a:bodyPr>
          <a:lstStyle/>
          <a:p>
            <a:pPr algn="l"/>
            <a:r>
              <a:rPr sz="1300" b="1">
                <a:solidFill>
                  <a:srgbClr val="FFFFFF"/>
                </a:solidFill>
                <a:latin typeface="Meiryo"/>
              </a:rPr>
              <a:t>ニーズ分析</a:t>
            </a:r>
          </a:p>
        </p:txBody>
      </p:sp>
      <p:sp>
        <p:nvSpPr>
          <p:cNvPr id="10" name="Rectangle 9"/>
          <p:cNvSpPr/>
          <p:nvPr/>
        </p:nvSpPr>
        <p:spPr>
          <a:xfrm>
            <a:off x="457200" y="1920240"/>
            <a:ext cx="5029200" cy="82296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011680"/>
            <a:ext cx="4754880" cy="658368"/>
          </a:xfrm>
          <a:prstGeom prst="rect">
            <a:avLst/>
          </a:prstGeom>
          <a:noFill/>
        </p:spPr>
        <p:txBody>
          <a:bodyPr wrap="square">
            <a:spAutoFit/>
          </a:bodyPr>
          <a:lstStyle/>
          <a:p>
            <a:pPr algn="l"/>
            <a:r>
              <a:rPr sz="1400" b="0">
                <a:solidFill>
                  <a:srgbClr val="1A3A5C"/>
                </a:solidFill>
                <a:latin typeface="Meiryo"/>
              </a:rPr>
              <a:t>1. 競技種目の特性（どんな動きが必要か）</a:t>
            </a:r>
          </a:p>
        </p:txBody>
      </p:sp>
      <p:sp>
        <p:nvSpPr>
          <p:cNvPr id="12" name="Rectangle 11"/>
          <p:cNvSpPr/>
          <p:nvPr/>
        </p:nvSpPr>
        <p:spPr>
          <a:xfrm>
            <a:off x="457200" y="3017520"/>
            <a:ext cx="5029200" cy="82296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108960"/>
            <a:ext cx="4754880" cy="658368"/>
          </a:xfrm>
          <a:prstGeom prst="rect">
            <a:avLst/>
          </a:prstGeom>
          <a:noFill/>
        </p:spPr>
        <p:txBody>
          <a:bodyPr wrap="square">
            <a:spAutoFit/>
          </a:bodyPr>
          <a:lstStyle/>
          <a:p>
            <a:pPr algn="l"/>
            <a:r>
              <a:rPr sz="1400" b="0">
                <a:solidFill>
                  <a:srgbClr val="1A3A5C"/>
                </a:solidFill>
                <a:latin typeface="Meiryo"/>
              </a:rPr>
              <a:t>2. ポジションの要求</a:t>
            </a:r>
          </a:p>
        </p:txBody>
      </p:sp>
      <p:sp>
        <p:nvSpPr>
          <p:cNvPr id="14" name="Rectangle 13"/>
          <p:cNvSpPr/>
          <p:nvPr/>
        </p:nvSpPr>
        <p:spPr>
          <a:xfrm>
            <a:off x="457200" y="4114800"/>
            <a:ext cx="5029200" cy="82296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206240"/>
            <a:ext cx="4754880" cy="658368"/>
          </a:xfrm>
          <a:prstGeom prst="rect">
            <a:avLst/>
          </a:prstGeom>
          <a:noFill/>
        </p:spPr>
        <p:txBody>
          <a:bodyPr wrap="square">
            <a:spAutoFit/>
          </a:bodyPr>
          <a:lstStyle/>
          <a:p>
            <a:pPr algn="l"/>
            <a:r>
              <a:rPr sz="1400" b="0">
                <a:solidFill>
                  <a:srgbClr val="1A3A5C"/>
                </a:solidFill>
                <a:latin typeface="Meiryo"/>
              </a:rPr>
              <a:t>3. 現在のフィジカルレベル</a:t>
            </a:r>
          </a:p>
        </p:txBody>
      </p:sp>
      <p:sp>
        <p:nvSpPr>
          <p:cNvPr id="16" name="Rectangle 15"/>
          <p:cNvSpPr/>
          <p:nvPr/>
        </p:nvSpPr>
        <p:spPr>
          <a:xfrm>
            <a:off x="457200" y="5212079"/>
            <a:ext cx="5029200" cy="82296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5303519"/>
            <a:ext cx="4754880" cy="658368"/>
          </a:xfrm>
          <a:prstGeom prst="rect">
            <a:avLst/>
          </a:prstGeom>
          <a:noFill/>
        </p:spPr>
        <p:txBody>
          <a:bodyPr wrap="square">
            <a:spAutoFit/>
          </a:bodyPr>
          <a:lstStyle/>
          <a:p>
            <a:pPr algn="l"/>
            <a:r>
              <a:rPr sz="1400" b="0">
                <a:solidFill>
                  <a:srgbClr val="1A3A5C"/>
                </a:solidFill>
                <a:latin typeface="Meiryo"/>
              </a:rPr>
              <a:t>4. プライオメトリクスのトレーニング歴</a:t>
            </a:r>
          </a:p>
        </p:txBody>
      </p:sp>
      <p:sp>
        <p:nvSpPr>
          <p:cNvPr id="18" name="Rectangle 17"/>
          <p:cNvSpPr/>
          <p:nvPr/>
        </p:nvSpPr>
        <p:spPr>
          <a:xfrm>
            <a:off x="5943600" y="1371600"/>
            <a:ext cx="597103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1371600"/>
            <a:ext cx="5971032" cy="41148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1417320"/>
            <a:ext cx="5669280" cy="347472"/>
          </a:xfrm>
          <a:prstGeom prst="rect">
            <a:avLst/>
          </a:prstGeom>
          <a:noFill/>
        </p:spPr>
        <p:txBody>
          <a:bodyPr wrap="square">
            <a:spAutoFit/>
          </a:bodyPr>
          <a:lstStyle/>
          <a:p>
            <a:pPr algn="l"/>
            <a:r>
              <a:rPr sz="1300" b="1">
                <a:solidFill>
                  <a:srgbClr val="FFFFFF"/>
                </a:solidFill>
                <a:latin typeface="Meiryo"/>
              </a:rPr>
              <a:t>プログラム変数</a:t>
            </a:r>
          </a:p>
        </p:txBody>
      </p:sp>
      <p:sp>
        <p:nvSpPr>
          <p:cNvPr id="21" name="Rectangle 20"/>
          <p:cNvSpPr/>
          <p:nvPr/>
        </p:nvSpPr>
        <p:spPr>
          <a:xfrm>
            <a:off x="6080760" y="1874519"/>
            <a:ext cx="1828800" cy="65836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0" y="1965960"/>
            <a:ext cx="1737360" cy="502920"/>
          </a:xfrm>
          <a:prstGeom prst="rect">
            <a:avLst/>
          </a:prstGeom>
          <a:noFill/>
        </p:spPr>
        <p:txBody>
          <a:bodyPr wrap="square">
            <a:spAutoFit/>
          </a:bodyPr>
          <a:lstStyle/>
          <a:p>
            <a:pPr algn="ctr"/>
            <a:r>
              <a:rPr sz="1200" b="1">
                <a:solidFill>
                  <a:srgbClr val="FFFFFF"/>
                </a:solidFill>
                <a:latin typeface="Meiryo"/>
              </a:rPr>
              <a:t>頻度</a:t>
            </a:r>
          </a:p>
        </p:txBody>
      </p:sp>
      <p:sp>
        <p:nvSpPr>
          <p:cNvPr id="23" name="Rectangle 22"/>
          <p:cNvSpPr/>
          <p:nvPr/>
        </p:nvSpPr>
        <p:spPr>
          <a:xfrm>
            <a:off x="7955279" y="1874519"/>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0" y="1965960"/>
            <a:ext cx="3566160" cy="502920"/>
          </a:xfrm>
          <a:prstGeom prst="rect">
            <a:avLst/>
          </a:prstGeom>
          <a:noFill/>
        </p:spPr>
        <p:txBody>
          <a:bodyPr wrap="square">
            <a:spAutoFit/>
          </a:bodyPr>
          <a:lstStyle/>
          <a:p>
            <a:pPr algn="l"/>
            <a:r>
              <a:rPr sz="1300" b="0">
                <a:solidFill>
                  <a:srgbClr val="1A3A5C"/>
                </a:solidFill>
                <a:latin typeface="Meiryo"/>
              </a:rPr>
              <a:t>週2〜3回</a:t>
            </a:r>
          </a:p>
        </p:txBody>
      </p:sp>
      <p:sp>
        <p:nvSpPr>
          <p:cNvPr id="25" name="Rectangle 24"/>
          <p:cNvSpPr/>
          <p:nvPr/>
        </p:nvSpPr>
        <p:spPr>
          <a:xfrm>
            <a:off x="6080760" y="2670048"/>
            <a:ext cx="1828800" cy="65836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0" y="2761488"/>
            <a:ext cx="1737360" cy="502920"/>
          </a:xfrm>
          <a:prstGeom prst="rect">
            <a:avLst/>
          </a:prstGeom>
          <a:noFill/>
        </p:spPr>
        <p:txBody>
          <a:bodyPr wrap="square">
            <a:spAutoFit/>
          </a:bodyPr>
          <a:lstStyle/>
          <a:p>
            <a:pPr algn="ctr"/>
            <a:r>
              <a:rPr sz="1200" b="1">
                <a:solidFill>
                  <a:srgbClr val="FFFFFF"/>
                </a:solidFill>
                <a:latin typeface="Meiryo"/>
              </a:rPr>
              <a:t>回復</a:t>
            </a:r>
          </a:p>
        </p:txBody>
      </p:sp>
      <p:sp>
        <p:nvSpPr>
          <p:cNvPr id="27" name="Rectangle 26"/>
          <p:cNvSpPr/>
          <p:nvPr/>
        </p:nvSpPr>
        <p:spPr>
          <a:xfrm>
            <a:off x="7955279" y="2670048"/>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0" y="2761488"/>
            <a:ext cx="3566160" cy="502920"/>
          </a:xfrm>
          <a:prstGeom prst="rect">
            <a:avLst/>
          </a:prstGeom>
          <a:noFill/>
        </p:spPr>
        <p:txBody>
          <a:bodyPr wrap="square">
            <a:spAutoFit/>
          </a:bodyPr>
          <a:lstStyle/>
          <a:p>
            <a:pPr algn="l"/>
            <a:r>
              <a:rPr sz="1300" b="0">
                <a:solidFill>
                  <a:srgbClr val="1A3A5C"/>
                </a:solidFill>
                <a:latin typeface="Meiryo"/>
              </a:rPr>
              <a:t>48時間以上/セッション間</a:t>
            </a:r>
          </a:p>
        </p:txBody>
      </p:sp>
      <p:sp>
        <p:nvSpPr>
          <p:cNvPr id="29" name="Rectangle 28"/>
          <p:cNvSpPr/>
          <p:nvPr/>
        </p:nvSpPr>
        <p:spPr>
          <a:xfrm>
            <a:off x="6080760" y="3465576"/>
            <a:ext cx="1828800" cy="658368"/>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3557016"/>
            <a:ext cx="1737360" cy="502920"/>
          </a:xfrm>
          <a:prstGeom prst="rect">
            <a:avLst/>
          </a:prstGeom>
          <a:noFill/>
        </p:spPr>
        <p:txBody>
          <a:bodyPr wrap="square">
            <a:spAutoFit/>
          </a:bodyPr>
          <a:lstStyle/>
          <a:p>
            <a:pPr algn="ctr"/>
            <a:r>
              <a:rPr sz="1200" b="1">
                <a:solidFill>
                  <a:srgbClr val="FFFFFF"/>
                </a:solidFill>
                <a:latin typeface="Meiryo"/>
              </a:rPr>
              <a:t>期間</a:t>
            </a:r>
          </a:p>
        </p:txBody>
      </p:sp>
      <p:sp>
        <p:nvSpPr>
          <p:cNvPr id="31" name="Rectangle 30"/>
          <p:cNvSpPr/>
          <p:nvPr/>
        </p:nvSpPr>
        <p:spPr>
          <a:xfrm>
            <a:off x="7955279" y="3465576"/>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3557016"/>
            <a:ext cx="3566160" cy="502920"/>
          </a:xfrm>
          <a:prstGeom prst="rect">
            <a:avLst/>
          </a:prstGeom>
          <a:noFill/>
        </p:spPr>
        <p:txBody>
          <a:bodyPr wrap="square">
            <a:spAutoFit/>
          </a:bodyPr>
          <a:lstStyle/>
          <a:p>
            <a:pPr algn="l"/>
            <a:r>
              <a:rPr sz="1300" b="0">
                <a:solidFill>
                  <a:srgbClr val="1A3A5C"/>
                </a:solidFill>
                <a:latin typeface="Meiryo"/>
              </a:rPr>
              <a:t>6〜10週間（一般的）</a:t>
            </a:r>
          </a:p>
        </p:txBody>
      </p:sp>
      <p:sp>
        <p:nvSpPr>
          <p:cNvPr id="33" name="Rectangle 32"/>
          <p:cNvSpPr/>
          <p:nvPr/>
        </p:nvSpPr>
        <p:spPr>
          <a:xfrm>
            <a:off x="6080760" y="4261104"/>
            <a:ext cx="1828800" cy="65836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4352544"/>
            <a:ext cx="1737360" cy="502920"/>
          </a:xfrm>
          <a:prstGeom prst="rect">
            <a:avLst/>
          </a:prstGeom>
          <a:noFill/>
        </p:spPr>
        <p:txBody>
          <a:bodyPr wrap="square">
            <a:spAutoFit/>
          </a:bodyPr>
          <a:lstStyle/>
          <a:p>
            <a:pPr algn="ctr"/>
            <a:r>
              <a:rPr sz="1200" b="1">
                <a:solidFill>
                  <a:srgbClr val="FFFFFF"/>
                </a:solidFill>
                <a:latin typeface="Meiryo"/>
              </a:rPr>
              <a:t>量（初心者）</a:t>
            </a:r>
          </a:p>
        </p:txBody>
      </p:sp>
      <p:sp>
        <p:nvSpPr>
          <p:cNvPr id="35" name="Rectangle 34"/>
          <p:cNvSpPr/>
          <p:nvPr/>
        </p:nvSpPr>
        <p:spPr>
          <a:xfrm>
            <a:off x="7955279" y="4261104"/>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4352544"/>
            <a:ext cx="3566160" cy="502920"/>
          </a:xfrm>
          <a:prstGeom prst="rect">
            <a:avLst/>
          </a:prstGeom>
          <a:noFill/>
        </p:spPr>
        <p:txBody>
          <a:bodyPr wrap="square">
            <a:spAutoFit/>
          </a:bodyPr>
          <a:lstStyle/>
          <a:p>
            <a:pPr algn="l"/>
            <a:r>
              <a:rPr sz="1300" b="0">
                <a:solidFill>
                  <a:srgbClr val="1A3A5C"/>
                </a:solidFill>
                <a:latin typeface="Meiryo"/>
              </a:rPr>
              <a:t>80〜100回/セッション</a:t>
            </a:r>
          </a:p>
        </p:txBody>
      </p:sp>
      <p:sp>
        <p:nvSpPr>
          <p:cNvPr id="37" name="Rectangle 36"/>
          <p:cNvSpPr/>
          <p:nvPr/>
        </p:nvSpPr>
        <p:spPr>
          <a:xfrm>
            <a:off x="6080760" y="5056631"/>
            <a:ext cx="1828800" cy="65836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0" y="5148071"/>
            <a:ext cx="1737360" cy="502920"/>
          </a:xfrm>
          <a:prstGeom prst="rect">
            <a:avLst/>
          </a:prstGeom>
          <a:noFill/>
        </p:spPr>
        <p:txBody>
          <a:bodyPr wrap="square">
            <a:spAutoFit/>
          </a:bodyPr>
          <a:lstStyle/>
          <a:p>
            <a:pPr algn="ctr"/>
            <a:r>
              <a:rPr sz="1200" b="1">
                <a:solidFill>
                  <a:srgbClr val="FFFFFF"/>
                </a:solidFill>
                <a:latin typeface="Meiryo"/>
              </a:rPr>
              <a:t>量（中級者）</a:t>
            </a:r>
          </a:p>
        </p:txBody>
      </p:sp>
      <p:sp>
        <p:nvSpPr>
          <p:cNvPr id="39" name="Rectangle 38"/>
          <p:cNvSpPr/>
          <p:nvPr/>
        </p:nvSpPr>
        <p:spPr>
          <a:xfrm>
            <a:off x="7955279" y="5056631"/>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0" y="5148071"/>
            <a:ext cx="3566160" cy="502920"/>
          </a:xfrm>
          <a:prstGeom prst="rect">
            <a:avLst/>
          </a:prstGeom>
          <a:noFill/>
        </p:spPr>
        <p:txBody>
          <a:bodyPr wrap="square">
            <a:spAutoFit/>
          </a:bodyPr>
          <a:lstStyle/>
          <a:p>
            <a:pPr algn="l"/>
            <a:r>
              <a:rPr sz="1300" b="0">
                <a:solidFill>
                  <a:srgbClr val="1A3A5C"/>
                </a:solidFill>
                <a:latin typeface="Meiryo"/>
              </a:rPr>
              <a:t>100〜120回/セッション</a:t>
            </a:r>
          </a:p>
        </p:txBody>
      </p:sp>
      <p:sp>
        <p:nvSpPr>
          <p:cNvPr id="41" name="Rectangle 40"/>
          <p:cNvSpPr/>
          <p:nvPr/>
        </p:nvSpPr>
        <p:spPr>
          <a:xfrm>
            <a:off x="6080760" y="5852159"/>
            <a:ext cx="1828800" cy="658368"/>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26480" y="5943599"/>
            <a:ext cx="1737360" cy="502920"/>
          </a:xfrm>
          <a:prstGeom prst="rect">
            <a:avLst/>
          </a:prstGeom>
          <a:noFill/>
        </p:spPr>
        <p:txBody>
          <a:bodyPr wrap="square">
            <a:spAutoFit/>
          </a:bodyPr>
          <a:lstStyle/>
          <a:p>
            <a:pPr algn="ctr"/>
            <a:r>
              <a:rPr sz="1200" b="1">
                <a:solidFill>
                  <a:srgbClr val="FFFFFF"/>
                </a:solidFill>
                <a:latin typeface="Meiryo"/>
              </a:rPr>
              <a:t>量（上級者）</a:t>
            </a:r>
          </a:p>
        </p:txBody>
      </p:sp>
      <p:sp>
        <p:nvSpPr>
          <p:cNvPr id="43" name="Rectangle 42"/>
          <p:cNvSpPr/>
          <p:nvPr/>
        </p:nvSpPr>
        <p:spPr>
          <a:xfrm>
            <a:off x="7955279" y="5852159"/>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0" y="5943599"/>
            <a:ext cx="3566160" cy="502920"/>
          </a:xfrm>
          <a:prstGeom prst="rect">
            <a:avLst/>
          </a:prstGeom>
          <a:noFill/>
        </p:spPr>
        <p:txBody>
          <a:bodyPr wrap="square">
            <a:spAutoFit/>
          </a:bodyPr>
          <a:lstStyle/>
          <a:p>
            <a:pPr algn="l"/>
            <a:r>
              <a:rPr sz="1300" b="0">
                <a:solidFill>
                  <a:srgbClr val="1A3A5C"/>
                </a:solidFill>
                <a:latin typeface="Meiryo"/>
              </a:rPr>
              <a:t>120〜140回/セッション</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強度レベルとドリル例</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Intensity Levels</a:t>
            </a:r>
          </a:p>
        </p:txBody>
      </p:sp>
      <p:sp>
        <p:nvSpPr>
          <p:cNvPr id="7" name="Rectangle 6"/>
          <p:cNvSpPr/>
          <p:nvPr/>
        </p:nvSpPr>
        <p:spPr>
          <a:xfrm>
            <a:off x="27432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3749039" cy="5029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17320"/>
            <a:ext cx="3566160" cy="411480"/>
          </a:xfrm>
          <a:prstGeom prst="rect">
            <a:avLst/>
          </a:prstGeom>
          <a:noFill/>
        </p:spPr>
        <p:txBody>
          <a:bodyPr wrap="square">
            <a:spAutoFit/>
          </a:bodyPr>
          <a:lstStyle/>
          <a:p>
            <a:pPr algn="ctr"/>
            <a:r>
              <a:rPr sz="1800" b="1">
                <a:solidFill>
                  <a:srgbClr val="FFFFFF"/>
                </a:solidFill>
                <a:latin typeface="Meiryo"/>
              </a:rPr>
              <a:t>低強度</a:t>
            </a:r>
          </a:p>
        </p:txBody>
      </p:sp>
      <p:sp>
        <p:nvSpPr>
          <p:cNvPr id="10" name="TextBox 9"/>
          <p:cNvSpPr txBox="1"/>
          <p:nvPr/>
        </p:nvSpPr>
        <p:spPr>
          <a:xfrm>
            <a:off x="365760" y="1965960"/>
            <a:ext cx="3566160" cy="411480"/>
          </a:xfrm>
          <a:prstGeom prst="rect">
            <a:avLst/>
          </a:prstGeom>
          <a:noFill/>
        </p:spPr>
        <p:txBody>
          <a:bodyPr wrap="square">
            <a:spAutoFit/>
          </a:bodyPr>
          <a:lstStyle/>
          <a:p>
            <a:pPr algn="ctr"/>
            <a:r>
              <a:rPr sz="1300" b="0">
                <a:solidFill>
                  <a:srgbClr val="7F8C8D"/>
                </a:solidFill>
                <a:latin typeface="Meiryo"/>
              </a:rPr>
              <a:t>衝撃が小さい</a:t>
            </a:r>
          </a:p>
        </p:txBody>
      </p:sp>
      <p:sp>
        <p:nvSpPr>
          <p:cNvPr id="11" name="Rectangle 10"/>
          <p:cNvSpPr/>
          <p:nvPr/>
        </p:nvSpPr>
        <p:spPr>
          <a:xfrm>
            <a:off x="365760" y="2423160"/>
            <a:ext cx="3566160" cy="36576"/>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79" y="2560320"/>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651760"/>
            <a:ext cx="3291840" cy="530352"/>
          </a:xfrm>
          <a:prstGeom prst="rect">
            <a:avLst/>
          </a:prstGeom>
          <a:noFill/>
        </p:spPr>
        <p:txBody>
          <a:bodyPr wrap="square">
            <a:spAutoFit/>
          </a:bodyPr>
          <a:lstStyle/>
          <a:p>
            <a:pPr algn="l"/>
            <a:r>
              <a:rPr sz="1300" b="0">
                <a:solidFill>
                  <a:srgbClr val="1A3A5C"/>
                </a:solidFill>
                <a:latin typeface="Meiryo"/>
              </a:rPr>
              <a:t>● アンクルホップ（両脚・片脚）</a:t>
            </a:r>
          </a:p>
        </p:txBody>
      </p:sp>
      <p:sp>
        <p:nvSpPr>
          <p:cNvPr id="14" name="Rectangle 13"/>
          <p:cNvSpPr/>
          <p:nvPr/>
        </p:nvSpPr>
        <p:spPr>
          <a:xfrm>
            <a:off x="411479" y="3429000"/>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520440"/>
            <a:ext cx="3291840" cy="530352"/>
          </a:xfrm>
          <a:prstGeom prst="rect">
            <a:avLst/>
          </a:prstGeom>
          <a:noFill/>
        </p:spPr>
        <p:txBody>
          <a:bodyPr wrap="square">
            <a:spAutoFit/>
          </a:bodyPr>
          <a:lstStyle/>
          <a:p>
            <a:pPr algn="l"/>
            <a:r>
              <a:rPr sz="1300" b="0">
                <a:solidFill>
                  <a:srgbClr val="1A3A5C"/>
                </a:solidFill>
                <a:latin typeface="Meiryo"/>
              </a:rPr>
              <a:t>● スクワットジャンプ</a:t>
            </a:r>
          </a:p>
        </p:txBody>
      </p:sp>
      <p:sp>
        <p:nvSpPr>
          <p:cNvPr id="16" name="Rectangle 15"/>
          <p:cNvSpPr/>
          <p:nvPr/>
        </p:nvSpPr>
        <p:spPr>
          <a:xfrm>
            <a:off x="411479" y="4297679"/>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389119"/>
            <a:ext cx="3291840" cy="530352"/>
          </a:xfrm>
          <a:prstGeom prst="rect">
            <a:avLst/>
          </a:prstGeom>
          <a:noFill/>
        </p:spPr>
        <p:txBody>
          <a:bodyPr wrap="square">
            <a:spAutoFit/>
          </a:bodyPr>
          <a:lstStyle/>
          <a:p>
            <a:pPr algn="l"/>
            <a:r>
              <a:rPr sz="1300" b="0">
                <a:solidFill>
                  <a:srgbClr val="1A3A5C"/>
                </a:solidFill>
                <a:latin typeface="Meiryo"/>
              </a:rPr>
              <a:t>● ジャンプ＆リーチ</a:t>
            </a:r>
          </a:p>
        </p:txBody>
      </p:sp>
      <p:sp>
        <p:nvSpPr>
          <p:cNvPr id="18" name="Rectangle 17"/>
          <p:cNvSpPr/>
          <p:nvPr/>
        </p:nvSpPr>
        <p:spPr>
          <a:xfrm>
            <a:off x="411479" y="5166359"/>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5257799"/>
            <a:ext cx="3291840" cy="530352"/>
          </a:xfrm>
          <a:prstGeom prst="rect">
            <a:avLst/>
          </a:prstGeom>
          <a:noFill/>
        </p:spPr>
        <p:txBody>
          <a:bodyPr wrap="square">
            <a:spAutoFit/>
          </a:bodyPr>
          <a:lstStyle/>
          <a:p>
            <a:pPr algn="l"/>
            <a:r>
              <a:rPr sz="1300" b="0">
                <a:solidFill>
                  <a:srgbClr val="1A3A5C"/>
                </a:solidFill>
                <a:latin typeface="Meiryo"/>
              </a:rPr>
              <a:t>● スキップ</a:t>
            </a:r>
          </a:p>
        </p:txBody>
      </p:sp>
      <p:sp>
        <p:nvSpPr>
          <p:cNvPr id="20" name="Rectangle 19"/>
          <p:cNvSpPr/>
          <p:nvPr/>
        </p:nvSpPr>
        <p:spPr>
          <a:xfrm>
            <a:off x="429768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80" y="1371600"/>
            <a:ext cx="3749039" cy="50292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1417320"/>
            <a:ext cx="3566160" cy="411480"/>
          </a:xfrm>
          <a:prstGeom prst="rect">
            <a:avLst/>
          </a:prstGeom>
          <a:noFill/>
        </p:spPr>
        <p:txBody>
          <a:bodyPr wrap="square">
            <a:spAutoFit/>
          </a:bodyPr>
          <a:lstStyle/>
          <a:p>
            <a:pPr algn="ctr"/>
            <a:r>
              <a:rPr sz="1800" b="1">
                <a:solidFill>
                  <a:srgbClr val="FFFFFF"/>
                </a:solidFill>
                <a:latin typeface="Meiryo"/>
              </a:rPr>
              <a:t>中強度</a:t>
            </a:r>
          </a:p>
        </p:txBody>
      </p:sp>
      <p:sp>
        <p:nvSpPr>
          <p:cNvPr id="23" name="TextBox 22"/>
          <p:cNvSpPr txBox="1"/>
          <p:nvPr/>
        </p:nvSpPr>
        <p:spPr>
          <a:xfrm>
            <a:off x="4389120" y="1965960"/>
            <a:ext cx="3566160" cy="411480"/>
          </a:xfrm>
          <a:prstGeom prst="rect">
            <a:avLst/>
          </a:prstGeom>
          <a:noFill/>
        </p:spPr>
        <p:txBody>
          <a:bodyPr wrap="square">
            <a:spAutoFit/>
          </a:bodyPr>
          <a:lstStyle/>
          <a:p>
            <a:pPr algn="ctr"/>
            <a:r>
              <a:rPr sz="1300" b="0">
                <a:solidFill>
                  <a:srgbClr val="7F8C8D"/>
                </a:solidFill>
                <a:latin typeface="Meiryo"/>
              </a:rPr>
              <a:t>中程度の衝撃</a:t>
            </a:r>
          </a:p>
        </p:txBody>
      </p:sp>
      <p:sp>
        <p:nvSpPr>
          <p:cNvPr id="24" name="Rectangle 23"/>
          <p:cNvSpPr/>
          <p:nvPr/>
        </p:nvSpPr>
        <p:spPr>
          <a:xfrm>
            <a:off x="4389120" y="2423160"/>
            <a:ext cx="3566160" cy="36576"/>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34840" y="2560320"/>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26280" y="2651760"/>
            <a:ext cx="3291840" cy="530352"/>
          </a:xfrm>
          <a:prstGeom prst="rect">
            <a:avLst/>
          </a:prstGeom>
          <a:noFill/>
        </p:spPr>
        <p:txBody>
          <a:bodyPr wrap="square">
            <a:spAutoFit/>
          </a:bodyPr>
          <a:lstStyle/>
          <a:p>
            <a:pPr algn="l"/>
            <a:r>
              <a:rPr sz="1300" b="0">
                <a:solidFill>
                  <a:srgbClr val="1A3A5C"/>
                </a:solidFill>
                <a:latin typeface="Meiryo"/>
              </a:rPr>
              <a:t>● タックジャンプ</a:t>
            </a:r>
          </a:p>
        </p:txBody>
      </p:sp>
      <p:sp>
        <p:nvSpPr>
          <p:cNvPr id="27" name="Rectangle 26"/>
          <p:cNvSpPr/>
          <p:nvPr/>
        </p:nvSpPr>
        <p:spPr>
          <a:xfrm>
            <a:off x="4434840" y="3429000"/>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6280" y="3520440"/>
            <a:ext cx="3291840" cy="530352"/>
          </a:xfrm>
          <a:prstGeom prst="rect">
            <a:avLst/>
          </a:prstGeom>
          <a:noFill/>
        </p:spPr>
        <p:txBody>
          <a:bodyPr wrap="square">
            <a:spAutoFit/>
          </a:bodyPr>
          <a:lstStyle/>
          <a:p>
            <a:pPr algn="l"/>
            <a:r>
              <a:rPr sz="1300" b="0">
                <a:solidFill>
                  <a:srgbClr val="1A3A5C"/>
                </a:solidFill>
                <a:latin typeface="Meiryo"/>
              </a:rPr>
              <a:t>● バーティカルジャンプ</a:t>
            </a:r>
          </a:p>
        </p:txBody>
      </p:sp>
      <p:sp>
        <p:nvSpPr>
          <p:cNvPr id="29" name="Rectangle 28"/>
          <p:cNvSpPr/>
          <p:nvPr/>
        </p:nvSpPr>
        <p:spPr>
          <a:xfrm>
            <a:off x="4434840" y="4297679"/>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389119"/>
            <a:ext cx="3291840" cy="530352"/>
          </a:xfrm>
          <a:prstGeom prst="rect">
            <a:avLst/>
          </a:prstGeom>
          <a:noFill/>
        </p:spPr>
        <p:txBody>
          <a:bodyPr wrap="square">
            <a:spAutoFit/>
          </a:bodyPr>
          <a:lstStyle/>
          <a:p>
            <a:pPr algn="l"/>
            <a:r>
              <a:rPr sz="1300" b="0">
                <a:solidFill>
                  <a:srgbClr val="1A3A5C"/>
                </a:solidFill>
                <a:latin typeface="Meiryo"/>
              </a:rPr>
              <a:t>● ボックスジャンプ</a:t>
            </a:r>
          </a:p>
        </p:txBody>
      </p:sp>
      <p:sp>
        <p:nvSpPr>
          <p:cNvPr id="31" name="Rectangle 30"/>
          <p:cNvSpPr/>
          <p:nvPr/>
        </p:nvSpPr>
        <p:spPr>
          <a:xfrm>
            <a:off x="4434840" y="5166359"/>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26280" y="5257799"/>
            <a:ext cx="3291840" cy="530352"/>
          </a:xfrm>
          <a:prstGeom prst="rect">
            <a:avLst/>
          </a:prstGeom>
          <a:noFill/>
        </p:spPr>
        <p:txBody>
          <a:bodyPr wrap="square">
            <a:spAutoFit/>
          </a:bodyPr>
          <a:lstStyle/>
          <a:p>
            <a:pPr algn="l"/>
            <a:r>
              <a:rPr sz="1300" b="0">
                <a:solidFill>
                  <a:srgbClr val="1A3A5C"/>
                </a:solidFill>
                <a:latin typeface="Meiryo"/>
              </a:rPr>
              <a:t>● ダブルレッグ・ホップ</a:t>
            </a:r>
          </a:p>
        </p:txBody>
      </p:sp>
      <p:sp>
        <p:nvSpPr>
          <p:cNvPr id="33" name="Rectangle 32"/>
          <p:cNvSpPr/>
          <p:nvPr/>
        </p:nvSpPr>
        <p:spPr>
          <a:xfrm>
            <a:off x="832104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40" y="1371600"/>
            <a:ext cx="3749039" cy="5029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0" y="1417320"/>
            <a:ext cx="3566160" cy="411480"/>
          </a:xfrm>
          <a:prstGeom prst="rect">
            <a:avLst/>
          </a:prstGeom>
          <a:noFill/>
        </p:spPr>
        <p:txBody>
          <a:bodyPr wrap="square">
            <a:spAutoFit/>
          </a:bodyPr>
          <a:lstStyle/>
          <a:p>
            <a:pPr algn="ctr"/>
            <a:r>
              <a:rPr sz="1800" b="1">
                <a:solidFill>
                  <a:srgbClr val="FFFFFF"/>
                </a:solidFill>
                <a:latin typeface="Meiryo"/>
              </a:rPr>
              <a:t>高強度</a:t>
            </a:r>
          </a:p>
        </p:txBody>
      </p:sp>
      <p:sp>
        <p:nvSpPr>
          <p:cNvPr id="36" name="TextBox 35"/>
          <p:cNvSpPr txBox="1"/>
          <p:nvPr/>
        </p:nvSpPr>
        <p:spPr>
          <a:xfrm>
            <a:off x="8412480" y="1965960"/>
            <a:ext cx="3566160" cy="411480"/>
          </a:xfrm>
          <a:prstGeom prst="rect">
            <a:avLst/>
          </a:prstGeom>
          <a:noFill/>
        </p:spPr>
        <p:txBody>
          <a:bodyPr wrap="square">
            <a:spAutoFit/>
          </a:bodyPr>
          <a:lstStyle/>
          <a:p>
            <a:pPr algn="ctr"/>
            <a:r>
              <a:rPr sz="1300" b="0">
                <a:solidFill>
                  <a:srgbClr val="7F8C8D"/>
                </a:solidFill>
                <a:latin typeface="Meiryo"/>
              </a:rPr>
              <a:t>大きな衝撃・高さあり</a:t>
            </a:r>
          </a:p>
        </p:txBody>
      </p:sp>
      <p:sp>
        <p:nvSpPr>
          <p:cNvPr id="37" name="Rectangle 36"/>
          <p:cNvSpPr/>
          <p:nvPr/>
        </p:nvSpPr>
        <p:spPr>
          <a:xfrm>
            <a:off x="8412480" y="2423160"/>
            <a:ext cx="3566160" cy="36576"/>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58200" y="2560320"/>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9640" y="2651760"/>
            <a:ext cx="3291840" cy="530352"/>
          </a:xfrm>
          <a:prstGeom prst="rect">
            <a:avLst/>
          </a:prstGeom>
          <a:noFill/>
        </p:spPr>
        <p:txBody>
          <a:bodyPr wrap="square">
            <a:spAutoFit/>
          </a:bodyPr>
          <a:lstStyle/>
          <a:p>
            <a:pPr algn="l"/>
            <a:r>
              <a:rPr sz="1300" b="0">
                <a:solidFill>
                  <a:srgbClr val="1A3A5C"/>
                </a:solidFill>
                <a:latin typeface="Meiryo"/>
              </a:rPr>
              <a:t>● デプスジャンプ（最高強度）</a:t>
            </a:r>
          </a:p>
        </p:txBody>
      </p:sp>
      <p:sp>
        <p:nvSpPr>
          <p:cNvPr id="40" name="Rectangle 39"/>
          <p:cNvSpPr/>
          <p:nvPr/>
        </p:nvSpPr>
        <p:spPr>
          <a:xfrm>
            <a:off x="8458200" y="3429000"/>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520440"/>
            <a:ext cx="3291840" cy="530352"/>
          </a:xfrm>
          <a:prstGeom prst="rect">
            <a:avLst/>
          </a:prstGeom>
          <a:noFill/>
        </p:spPr>
        <p:txBody>
          <a:bodyPr wrap="square">
            <a:spAutoFit/>
          </a:bodyPr>
          <a:lstStyle/>
          <a:p>
            <a:pPr algn="l"/>
            <a:r>
              <a:rPr sz="1300" b="0">
                <a:solidFill>
                  <a:srgbClr val="1A3A5C"/>
                </a:solidFill>
                <a:latin typeface="Meiryo"/>
              </a:rPr>
              <a:t>● シングルレッグ系</a:t>
            </a:r>
          </a:p>
        </p:txBody>
      </p:sp>
      <p:sp>
        <p:nvSpPr>
          <p:cNvPr id="42" name="Rectangle 41"/>
          <p:cNvSpPr/>
          <p:nvPr/>
        </p:nvSpPr>
        <p:spPr>
          <a:xfrm>
            <a:off x="8458200" y="4297679"/>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49640" y="4389119"/>
            <a:ext cx="3291840" cy="530352"/>
          </a:xfrm>
          <a:prstGeom prst="rect">
            <a:avLst/>
          </a:prstGeom>
          <a:noFill/>
        </p:spPr>
        <p:txBody>
          <a:bodyPr wrap="square">
            <a:spAutoFit/>
          </a:bodyPr>
          <a:lstStyle/>
          <a:p>
            <a:pPr algn="l"/>
            <a:r>
              <a:rPr sz="1300" b="0">
                <a:solidFill>
                  <a:srgbClr val="1A3A5C"/>
                </a:solidFill>
                <a:latin typeface="Meiryo"/>
              </a:rPr>
              <a:t>● ジグザグホップ</a:t>
            </a:r>
          </a:p>
        </p:txBody>
      </p:sp>
      <p:sp>
        <p:nvSpPr>
          <p:cNvPr id="44" name="Rectangle 43"/>
          <p:cNvSpPr/>
          <p:nvPr/>
        </p:nvSpPr>
        <p:spPr>
          <a:xfrm>
            <a:off x="8458200" y="5166359"/>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9640" y="5257799"/>
            <a:ext cx="3291840" cy="530352"/>
          </a:xfrm>
          <a:prstGeom prst="rect">
            <a:avLst/>
          </a:prstGeom>
          <a:noFill/>
        </p:spPr>
        <p:txBody>
          <a:bodyPr wrap="square">
            <a:spAutoFit/>
          </a:bodyPr>
          <a:lstStyle/>
          <a:p>
            <a:pPr algn="l"/>
            <a:r>
              <a:rPr sz="1300" b="0">
                <a:solidFill>
                  <a:srgbClr val="1A3A5C"/>
                </a:solidFill>
                <a:latin typeface="Meiryo"/>
              </a:rPr>
              <a:t>● バイクジャンプ</a:t>
            </a:r>
          </a:p>
        </p:txBody>
      </p:sp>
      <p:sp>
        <p:nvSpPr>
          <p:cNvPr id="46" name="Rectangle 45"/>
          <p:cNvSpPr/>
          <p:nvPr/>
        </p:nvSpPr>
        <p:spPr>
          <a:xfrm>
            <a:off x="274320" y="6583680"/>
            <a:ext cx="11640312" cy="18288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6601968"/>
            <a:ext cx="11247120" cy="182880"/>
          </a:xfrm>
          <a:prstGeom prst="rect">
            <a:avLst/>
          </a:prstGeom>
          <a:noFill/>
        </p:spPr>
        <p:txBody>
          <a:bodyPr wrap="square">
            <a:spAutoFit/>
          </a:bodyPr>
          <a:lstStyle/>
          <a:p>
            <a:pPr algn="l"/>
            <a:r>
              <a:rPr sz="1100" b="0">
                <a:solidFill>
                  <a:srgbClr val="1F5C8B"/>
                </a:solidFill>
                <a:latin typeface="Meiryo"/>
              </a:rPr>
              <a:t>強度に影響する要因：体重（重いほど増）/ スピード（速いほど増）/ ドリルの高さ（高いほど増）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プログラム実施のステップ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5 Steps for Implementation</a:t>
            </a:r>
          </a:p>
        </p:txBody>
      </p:sp>
      <p:sp>
        <p:nvSpPr>
          <p:cNvPr id="7" name="Rectangle 6"/>
          <p:cNvSpPr/>
          <p:nvPr/>
        </p:nvSpPr>
        <p:spPr>
          <a:xfrm>
            <a:off x="274320" y="1417320"/>
            <a:ext cx="1371600" cy="86868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554480"/>
            <a:ext cx="1280160" cy="594360"/>
          </a:xfrm>
          <a:prstGeom prst="rect">
            <a:avLst/>
          </a:prstGeom>
          <a:noFill/>
        </p:spPr>
        <p:txBody>
          <a:bodyPr wrap="square">
            <a:spAutoFit/>
          </a:bodyPr>
          <a:lstStyle/>
          <a:p>
            <a:pPr algn="ctr"/>
            <a:r>
              <a:rPr sz="1500" b="1">
                <a:solidFill>
                  <a:srgbClr val="FFFFFF"/>
                </a:solidFill>
                <a:latin typeface="Meiryo"/>
              </a:rPr>
              <a:t>Step 1</a:t>
            </a:r>
          </a:p>
        </p:txBody>
      </p:sp>
      <p:sp>
        <p:nvSpPr>
          <p:cNvPr id="9" name="Rectangle 8"/>
          <p:cNvSpPr/>
          <p:nvPr/>
        </p:nvSpPr>
        <p:spPr>
          <a:xfrm>
            <a:off x="1691640" y="1417320"/>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1463040"/>
            <a:ext cx="4114800" cy="411480"/>
          </a:xfrm>
          <a:prstGeom prst="rect">
            <a:avLst/>
          </a:prstGeom>
          <a:noFill/>
        </p:spPr>
        <p:txBody>
          <a:bodyPr wrap="square">
            <a:spAutoFit/>
          </a:bodyPr>
          <a:lstStyle/>
          <a:p>
            <a:pPr algn="l"/>
            <a:r>
              <a:rPr sz="1500" b="1">
                <a:solidFill>
                  <a:srgbClr val="1A3A5C"/>
                </a:solidFill>
                <a:latin typeface="Meiryo"/>
              </a:rPr>
              <a:t>姿勢・ポジションの確認</a:t>
            </a:r>
          </a:p>
        </p:txBody>
      </p:sp>
      <p:sp>
        <p:nvSpPr>
          <p:cNvPr id="11" name="TextBox 10"/>
          <p:cNvSpPr txBox="1"/>
          <p:nvPr/>
        </p:nvSpPr>
        <p:spPr>
          <a:xfrm>
            <a:off x="1828800" y="1856232"/>
            <a:ext cx="9875520" cy="384048"/>
          </a:xfrm>
          <a:prstGeom prst="rect">
            <a:avLst/>
          </a:prstGeom>
          <a:noFill/>
        </p:spPr>
        <p:txBody>
          <a:bodyPr wrap="square">
            <a:spAutoFit/>
          </a:bodyPr>
          <a:lstStyle/>
          <a:p>
            <a:pPr algn="l"/>
            <a:r>
              <a:rPr sz="1300" b="0">
                <a:solidFill>
                  <a:srgbClr val="7F8C8D"/>
                </a:solidFill>
                <a:latin typeface="Meiryo"/>
              </a:rPr>
              <a:t>アライメントと適切なポジションを確認する</a:t>
            </a:r>
          </a:p>
        </p:txBody>
      </p:sp>
      <p:sp>
        <p:nvSpPr>
          <p:cNvPr id="12" name="Rectangle 11"/>
          <p:cNvSpPr/>
          <p:nvPr/>
        </p:nvSpPr>
        <p:spPr>
          <a:xfrm>
            <a:off x="274320" y="2441448"/>
            <a:ext cx="1371600" cy="868680"/>
          </a:xfrm>
          <a:prstGeom prst="rect">
            <a:avLst/>
          </a:prstGeom>
          <a:solidFill>
            <a:srgbClr val="5DADE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578608"/>
            <a:ext cx="1280160" cy="594360"/>
          </a:xfrm>
          <a:prstGeom prst="rect">
            <a:avLst/>
          </a:prstGeom>
          <a:noFill/>
        </p:spPr>
        <p:txBody>
          <a:bodyPr wrap="square">
            <a:spAutoFit/>
          </a:bodyPr>
          <a:lstStyle/>
          <a:p>
            <a:pPr algn="ctr"/>
            <a:r>
              <a:rPr sz="1500" b="1">
                <a:solidFill>
                  <a:srgbClr val="FFFFFF"/>
                </a:solidFill>
                <a:latin typeface="Meiryo"/>
              </a:rPr>
              <a:t>Step 2</a:t>
            </a:r>
          </a:p>
        </p:txBody>
      </p:sp>
      <p:sp>
        <p:nvSpPr>
          <p:cNvPr id="14" name="Rectangle 13"/>
          <p:cNvSpPr/>
          <p:nvPr/>
        </p:nvSpPr>
        <p:spPr>
          <a:xfrm>
            <a:off x="1691640" y="2441448"/>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0" y="2487168"/>
            <a:ext cx="4114800" cy="411480"/>
          </a:xfrm>
          <a:prstGeom prst="rect">
            <a:avLst/>
          </a:prstGeom>
          <a:noFill/>
        </p:spPr>
        <p:txBody>
          <a:bodyPr wrap="square">
            <a:spAutoFit/>
          </a:bodyPr>
          <a:lstStyle/>
          <a:p>
            <a:pPr algn="l"/>
            <a:r>
              <a:rPr sz="1500" b="1">
                <a:solidFill>
                  <a:srgbClr val="1A3A5C"/>
                </a:solidFill>
                <a:latin typeface="Meiryo"/>
              </a:rPr>
              <a:t>ニーズに合ったデザイン確認</a:t>
            </a:r>
          </a:p>
        </p:txBody>
      </p:sp>
      <p:sp>
        <p:nvSpPr>
          <p:cNvPr id="16" name="TextBox 15"/>
          <p:cNvSpPr txBox="1"/>
          <p:nvPr/>
        </p:nvSpPr>
        <p:spPr>
          <a:xfrm>
            <a:off x="1828800" y="2880360"/>
            <a:ext cx="9875520" cy="384048"/>
          </a:xfrm>
          <a:prstGeom prst="rect">
            <a:avLst/>
          </a:prstGeom>
          <a:noFill/>
        </p:spPr>
        <p:txBody>
          <a:bodyPr wrap="square">
            <a:spAutoFit/>
          </a:bodyPr>
          <a:lstStyle/>
          <a:p>
            <a:pPr algn="l"/>
            <a:r>
              <a:rPr sz="1300" b="0">
                <a:solidFill>
                  <a:srgbClr val="7F8C8D"/>
                </a:solidFill>
                <a:latin typeface="Meiryo"/>
              </a:rPr>
              <a:t>競技・ポジションに合ったプライオメトリクスのデザインを確認</a:t>
            </a:r>
          </a:p>
        </p:txBody>
      </p:sp>
      <p:sp>
        <p:nvSpPr>
          <p:cNvPr id="17" name="Rectangle 16"/>
          <p:cNvSpPr/>
          <p:nvPr/>
        </p:nvSpPr>
        <p:spPr>
          <a:xfrm>
            <a:off x="274320" y="3465576"/>
            <a:ext cx="1371600" cy="86868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3602736"/>
            <a:ext cx="1280160" cy="594360"/>
          </a:xfrm>
          <a:prstGeom prst="rect">
            <a:avLst/>
          </a:prstGeom>
          <a:noFill/>
        </p:spPr>
        <p:txBody>
          <a:bodyPr wrap="square">
            <a:spAutoFit/>
          </a:bodyPr>
          <a:lstStyle/>
          <a:p>
            <a:pPr algn="ctr"/>
            <a:r>
              <a:rPr sz="1500" b="1">
                <a:solidFill>
                  <a:srgbClr val="FFFFFF"/>
                </a:solidFill>
                <a:latin typeface="Meiryo"/>
              </a:rPr>
              <a:t>Step 3</a:t>
            </a:r>
          </a:p>
        </p:txBody>
      </p:sp>
      <p:sp>
        <p:nvSpPr>
          <p:cNvPr id="19" name="Rectangle 18"/>
          <p:cNvSpPr/>
          <p:nvPr/>
        </p:nvSpPr>
        <p:spPr>
          <a:xfrm>
            <a:off x="1691640" y="3465576"/>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800" y="3511296"/>
            <a:ext cx="4114800" cy="411480"/>
          </a:xfrm>
          <a:prstGeom prst="rect">
            <a:avLst/>
          </a:prstGeom>
          <a:noFill/>
        </p:spPr>
        <p:txBody>
          <a:bodyPr wrap="square">
            <a:spAutoFit/>
          </a:bodyPr>
          <a:lstStyle/>
          <a:p>
            <a:pPr algn="l"/>
            <a:r>
              <a:rPr sz="1500" b="1">
                <a:solidFill>
                  <a:srgbClr val="1A3A5C"/>
                </a:solidFill>
                <a:latin typeface="Meiryo"/>
              </a:rPr>
              <a:t>プログラム変数の設定</a:t>
            </a:r>
          </a:p>
        </p:txBody>
      </p:sp>
      <p:sp>
        <p:nvSpPr>
          <p:cNvPr id="21" name="TextBox 20"/>
          <p:cNvSpPr txBox="1"/>
          <p:nvPr/>
        </p:nvSpPr>
        <p:spPr>
          <a:xfrm>
            <a:off x="1828800" y="3904487"/>
            <a:ext cx="9875520" cy="384048"/>
          </a:xfrm>
          <a:prstGeom prst="rect">
            <a:avLst/>
          </a:prstGeom>
          <a:noFill/>
        </p:spPr>
        <p:txBody>
          <a:bodyPr wrap="square">
            <a:spAutoFit/>
          </a:bodyPr>
          <a:lstStyle/>
          <a:p>
            <a:pPr algn="l"/>
            <a:r>
              <a:rPr sz="1300" b="0">
                <a:solidFill>
                  <a:srgbClr val="7F8C8D"/>
                </a:solidFill>
                <a:latin typeface="Meiryo"/>
              </a:rPr>
              <a:t>強度・回数・量・期間・ウォームアップを設計する</a:t>
            </a:r>
          </a:p>
        </p:txBody>
      </p:sp>
      <p:sp>
        <p:nvSpPr>
          <p:cNvPr id="22" name="Rectangle 21"/>
          <p:cNvSpPr/>
          <p:nvPr/>
        </p:nvSpPr>
        <p:spPr>
          <a:xfrm>
            <a:off x="274320" y="4489704"/>
            <a:ext cx="1371600" cy="8686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4626864"/>
            <a:ext cx="1280160" cy="594360"/>
          </a:xfrm>
          <a:prstGeom prst="rect">
            <a:avLst/>
          </a:prstGeom>
          <a:noFill/>
        </p:spPr>
        <p:txBody>
          <a:bodyPr wrap="square">
            <a:spAutoFit/>
          </a:bodyPr>
          <a:lstStyle/>
          <a:p>
            <a:pPr algn="ctr"/>
            <a:r>
              <a:rPr sz="1500" b="1">
                <a:solidFill>
                  <a:srgbClr val="FFFFFF"/>
                </a:solidFill>
                <a:latin typeface="Meiryo"/>
              </a:rPr>
              <a:t>Step 4</a:t>
            </a:r>
          </a:p>
        </p:txBody>
      </p:sp>
      <p:sp>
        <p:nvSpPr>
          <p:cNvPr id="24" name="Rectangle 23"/>
          <p:cNvSpPr/>
          <p:nvPr/>
        </p:nvSpPr>
        <p:spPr>
          <a:xfrm>
            <a:off x="1691640" y="4489704"/>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535424"/>
            <a:ext cx="4114800" cy="411480"/>
          </a:xfrm>
          <a:prstGeom prst="rect">
            <a:avLst/>
          </a:prstGeom>
          <a:noFill/>
        </p:spPr>
        <p:txBody>
          <a:bodyPr wrap="square">
            <a:spAutoFit/>
          </a:bodyPr>
          <a:lstStyle/>
          <a:p>
            <a:pPr algn="l"/>
            <a:r>
              <a:rPr sz="1500" b="1">
                <a:solidFill>
                  <a:srgbClr val="1A3A5C"/>
                </a:solidFill>
                <a:latin typeface="Meiryo"/>
              </a:rPr>
              <a:t>選手への説明と教示</a:t>
            </a:r>
          </a:p>
        </p:txBody>
      </p:sp>
      <p:sp>
        <p:nvSpPr>
          <p:cNvPr id="26" name="TextBox 25"/>
          <p:cNvSpPr txBox="1"/>
          <p:nvPr/>
        </p:nvSpPr>
        <p:spPr>
          <a:xfrm>
            <a:off x="1828800" y="4928616"/>
            <a:ext cx="9875520" cy="384048"/>
          </a:xfrm>
          <a:prstGeom prst="rect">
            <a:avLst/>
          </a:prstGeom>
          <a:noFill/>
        </p:spPr>
        <p:txBody>
          <a:bodyPr wrap="square">
            <a:spAutoFit/>
          </a:bodyPr>
          <a:lstStyle/>
          <a:p>
            <a:pPr algn="l"/>
            <a:r>
              <a:rPr sz="1300" b="0">
                <a:solidFill>
                  <a:srgbClr val="7F8C8D"/>
                </a:solidFill>
                <a:latin typeface="Meiryo"/>
              </a:rPr>
              <a:t>適切なテクニックと安全事項を指導する</a:t>
            </a:r>
          </a:p>
        </p:txBody>
      </p:sp>
      <p:sp>
        <p:nvSpPr>
          <p:cNvPr id="27" name="Rectangle 26"/>
          <p:cNvSpPr/>
          <p:nvPr/>
        </p:nvSpPr>
        <p:spPr>
          <a:xfrm>
            <a:off x="274320" y="5513832"/>
            <a:ext cx="1371600" cy="86868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5650992"/>
            <a:ext cx="1280160" cy="594360"/>
          </a:xfrm>
          <a:prstGeom prst="rect">
            <a:avLst/>
          </a:prstGeom>
          <a:noFill/>
        </p:spPr>
        <p:txBody>
          <a:bodyPr wrap="square">
            <a:spAutoFit/>
          </a:bodyPr>
          <a:lstStyle/>
          <a:p>
            <a:pPr algn="ctr"/>
            <a:r>
              <a:rPr sz="1500" b="1">
                <a:solidFill>
                  <a:srgbClr val="FFFFFF"/>
                </a:solidFill>
                <a:latin typeface="Meiryo"/>
              </a:rPr>
              <a:t>Step 5</a:t>
            </a:r>
          </a:p>
        </p:txBody>
      </p:sp>
      <p:sp>
        <p:nvSpPr>
          <p:cNvPr id="29" name="Rectangle 28"/>
          <p:cNvSpPr/>
          <p:nvPr/>
        </p:nvSpPr>
        <p:spPr>
          <a:xfrm>
            <a:off x="1691640" y="5513832"/>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0" y="5559552"/>
            <a:ext cx="4114800" cy="411480"/>
          </a:xfrm>
          <a:prstGeom prst="rect">
            <a:avLst/>
          </a:prstGeom>
          <a:noFill/>
        </p:spPr>
        <p:txBody>
          <a:bodyPr wrap="square">
            <a:spAutoFit/>
          </a:bodyPr>
          <a:lstStyle/>
          <a:p>
            <a:pPr algn="l"/>
            <a:r>
              <a:rPr sz="1500" b="1">
                <a:solidFill>
                  <a:srgbClr val="1A3A5C"/>
                </a:solidFill>
                <a:latin typeface="Meiryo"/>
              </a:rPr>
              <a:t>実施と継続的評価</a:t>
            </a:r>
          </a:p>
        </p:txBody>
      </p:sp>
      <p:sp>
        <p:nvSpPr>
          <p:cNvPr id="31" name="TextBox 30"/>
          <p:cNvSpPr txBox="1"/>
          <p:nvPr/>
        </p:nvSpPr>
        <p:spPr>
          <a:xfrm>
            <a:off x="1828800" y="5952744"/>
            <a:ext cx="9875520" cy="384048"/>
          </a:xfrm>
          <a:prstGeom prst="rect">
            <a:avLst/>
          </a:prstGeom>
          <a:noFill/>
        </p:spPr>
        <p:txBody>
          <a:bodyPr wrap="square">
            <a:spAutoFit/>
          </a:bodyPr>
          <a:lstStyle/>
          <a:p>
            <a:pPr algn="l"/>
            <a:r>
              <a:rPr sz="1300" b="0">
                <a:solidFill>
                  <a:srgbClr val="7F8C8D"/>
                </a:solidFill>
                <a:latin typeface="Meiryo"/>
              </a:rPr>
              <a:t>プログラムを実施しながら漸進性に従って更新する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ウォームアップドリル</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Warm-Up Drills — Must Do Before Plyometrics</a:t>
            </a:r>
          </a:p>
        </p:txBody>
      </p:sp>
      <p:sp>
        <p:nvSpPr>
          <p:cNvPr id="7" name="Rectangle 6"/>
          <p:cNvSpPr/>
          <p:nvPr/>
        </p:nvSpPr>
        <p:spPr>
          <a:xfrm>
            <a:off x="274320" y="146304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463040"/>
            <a:ext cx="3657600" cy="4572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27048"/>
            <a:ext cx="3474720" cy="347472"/>
          </a:xfrm>
          <a:prstGeom prst="rect">
            <a:avLst/>
          </a:prstGeom>
          <a:noFill/>
        </p:spPr>
        <p:txBody>
          <a:bodyPr wrap="square">
            <a:spAutoFit/>
          </a:bodyPr>
          <a:lstStyle/>
          <a:p>
            <a:pPr algn="ctr"/>
            <a:r>
              <a:rPr sz="1600" b="1">
                <a:solidFill>
                  <a:srgbClr val="FFFFFF"/>
                </a:solidFill>
                <a:latin typeface="Meiryo"/>
              </a:rPr>
              <a:t>マーチング</a:t>
            </a:r>
          </a:p>
        </p:txBody>
      </p:sp>
      <p:sp>
        <p:nvSpPr>
          <p:cNvPr id="10" name="TextBox 9"/>
          <p:cNvSpPr txBox="1"/>
          <p:nvPr/>
        </p:nvSpPr>
        <p:spPr>
          <a:xfrm>
            <a:off x="411479" y="2057400"/>
            <a:ext cx="3383280" cy="1645920"/>
          </a:xfrm>
          <a:prstGeom prst="rect">
            <a:avLst/>
          </a:prstGeom>
          <a:noFill/>
        </p:spPr>
        <p:txBody>
          <a:bodyPr wrap="square">
            <a:spAutoFit/>
          </a:bodyPr>
          <a:lstStyle/>
          <a:p>
            <a:pPr algn="ctr"/>
            <a:r>
              <a:rPr sz="1400" b="0">
                <a:solidFill>
                  <a:srgbClr val="1A3A5C"/>
                </a:solidFill>
                <a:latin typeface="Meiryo"/>
              </a:rPr>
              <a:t>ランニング動作の準備
股関節動作を調整する</a:t>
            </a:r>
          </a:p>
        </p:txBody>
      </p:sp>
      <p:sp>
        <p:nvSpPr>
          <p:cNvPr id="11" name="Rectangle 10"/>
          <p:cNvSpPr/>
          <p:nvPr/>
        </p:nvSpPr>
        <p:spPr>
          <a:xfrm>
            <a:off x="4297680" y="146304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463040"/>
            <a:ext cx="3657600" cy="457200"/>
          </a:xfrm>
          <a:prstGeom prst="rect">
            <a:avLst/>
          </a:prstGeom>
          <a:solidFill>
            <a:srgbClr val="5DADE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527048"/>
            <a:ext cx="3474720" cy="347472"/>
          </a:xfrm>
          <a:prstGeom prst="rect">
            <a:avLst/>
          </a:prstGeom>
          <a:noFill/>
        </p:spPr>
        <p:txBody>
          <a:bodyPr wrap="square">
            <a:spAutoFit/>
          </a:bodyPr>
          <a:lstStyle/>
          <a:p>
            <a:pPr algn="ctr"/>
            <a:r>
              <a:rPr sz="1600" b="1">
                <a:solidFill>
                  <a:srgbClr val="FFFFFF"/>
                </a:solidFill>
                <a:latin typeface="Meiryo"/>
              </a:rPr>
              <a:t>ジョギング</a:t>
            </a:r>
          </a:p>
        </p:txBody>
      </p:sp>
      <p:sp>
        <p:nvSpPr>
          <p:cNvPr id="14" name="TextBox 13"/>
          <p:cNvSpPr txBox="1"/>
          <p:nvPr/>
        </p:nvSpPr>
        <p:spPr>
          <a:xfrm>
            <a:off x="4434840" y="2057400"/>
            <a:ext cx="3383280" cy="1645920"/>
          </a:xfrm>
          <a:prstGeom prst="rect">
            <a:avLst/>
          </a:prstGeom>
          <a:noFill/>
        </p:spPr>
        <p:txBody>
          <a:bodyPr wrap="square">
            <a:spAutoFit/>
          </a:bodyPr>
          <a:lstStyle/>
          <a:p>
            <a:pPr algn="ctr"/>
            <a:r>
              <a:rPr sz="1400" b="0">
                <a:solidFill>
                  <a:srgbClr val="1A3A5C"/>
                </a:solidFill>
                <a:latin typeface="Meiryo"/>
              </a:rPr>
              <a:t>下半身の連続動作の準備
軽いペースで継続</a:t>
            </a:r>
          </a:p>
        </p:txBody>
      </p:sp>
      <p:sp>
        <p:nvSpPr>
          <p:cNvPr id="15" name="Rectangle 14"/>
          <p:cNvSpPr/>
          <p:nvPr/>
        </p:nvSpPr>
        <p:spPr>
          <a:xfrm>
            <a:off x="8321040" y="146304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21040" y="1463040"/>
            <a:ext cx="3657600" cy="4572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1527048"/>
            <a:ext cx="3474720" cy="347472"/>
          </a:xfrm>
          <a:prstGeom prst="rect">
            <a:avLst/>
          </a:prstGeom>
          <a:noFill/>
        </p:spPr>
        <p:txBody>
          <a:bodyPr wrap="square">
            <a:spAutoFit/>
          </a:bodyPr>
          <a:lstStyle/>
          <a:p>
            <a:pPr algn="ctr"/>
            <a:r>
              <a:rPr sz="1600" b="1">
                <a:solidFill>
                  <a:srgbClr val="FFFFFF"/>
                </a:solidFill>
                <a:latin typeface="Meiryo"/>
              </a:rPr>
              <a:t>スキップ</a:t>
            </a:r>
          </a:p>
        </p:txBody>
      </p:sp>
      <p:sp>
        <p:nvSpPr>
          <p:cNvPr id="18" name="TextBox 17"/>
          <p:cNvSpPr txBox="1"/>
          <p:nvPr/>
        </p:nvSpPr>
        <p:spPr>
          <a:xfrm>
            <a:off x="8458200" y="2057400"/>
            <a:ext cx="3383280" cy="1645920"/>
          </a:xfrm>
          <a:prstGeom prst="rect">
            <a:avLst/>
          </a:prstGeom>
          <a:noFill/>
        </p:spPr>
        <p:txBody>
          <a:bodyPr wrap="square">
            <a:spAutoFit/>
          </a:bodyPr>
          <a:lstStyle/>
          <a:p>
            <a:pPr algn="ctr"/>
            <a:r>
              <a:rPr sz="1400" b="0">
                <a:solidFill>
                  <a:srgbClr val="1A3A5C"/>
                </a:solidFill>
                <a:latin typeface="Meiryo"/>
              </a:rPr>
              <a:t>上肢の反動動作の準備
リズミカルな連続動作</a:t>
            </a:r>
          </a:p>
        </p:txBody>
      </p:sp>
      <p:sp>
        <p:nvSpPr>
          <p:cNvPr id="19" name="Rectangle 18"/>
          <p:cNvSpPr/>
          <p:nvPr/>
        </p:nvSpPr>
        <p:spPr>
          <a:xfrm>
            <a:off x="2286000" y="411480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86000" y="4114800"/>
            <a:ext cx="3657600" cy="45720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4178808"/>
            <a:ext cx="3474720" cy="347472"/>
          </a:xfrm>
          <a:prstGeom prst="rect">
            <a:avLst/>
          </a:prstGeom>
          <a:noFill/>
        </p:spPr>
        <p:txBody>
          <a:bodyPr wrap="square">
            <a:spAutoFit/>
          </a:bodyPr>
          <a:lstStyle/>
          <a:p>
            <a:pPr algn="ctr"/>
            <a:r>
              <a:rPr sz="1600" b="1">
                <a:solidFill>
                  <a:srgbClr val="FFFFFF"/>
                </a:solidFill>
                <a:latin typeface="Meiryo"/>
              </a:rPr>
              <a:t>フットワーク</a:t>
            </a:r>
          </a:p>
        </p:txBody>
      </p:sp>
      <p:sp>
        <p:nvSpPr>
          <p:cNvPr id="22" name="TextBox 21"/>
          <p:cNvSpPr txBox="1"/>
          <p:nvPr/>
        </p:nvSpPr>
        <p:spPr>
          <a:xfrm>
            <a:off x="2423160" y="4709160"/>
            <a:ext cx="3383280" cy="1645920"/>
          </a:xfrm>
          <a:prstGeom prst="rect">
            <a:avLst/>
          </a:prstGeom>
          <a:noFill/>
        </p:spPr>
        <p:txBody>
          <a:bodyPr wrap="square">
            <a:spAutoFit/>
          </a:bodyPr>
          <a:lstStyle/>
          <a:p>
            <a:pPr algn="ctr"/>
            <a:r>
              <a:rPr sz="1400" b="0">
                <a:solidFill>
                  <a:srgbClr val="1A3A5C"/>
                </a:solidFill>
                <a:latin typeface="Meiryo"/>
              </a:rPr>
              <a:t>方向転換の準備
素早い足の動きを意識</a:t>
            </a:r>
          </a:p>
        </p:txBody>
      </p:sp>
      <p:sp>
        <p:nvSpPr>
          <p:cNvPr id="23" name="Rectangle 22"/>
          <p:cNvSpPr/>
          <p:nvPr/>
        </p:nvSpPr>
        <p:spPr>
          <a:xfrm>
            <a:off x="6309360" y="411480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4114800"/>
            <a:ext cx="3657600" cy="457200"/>
          </a:xfrm>
          <a:prstGeom prst="rect">
            <a:avLst/>
          </a:prstGeom>
          <a:solidFill>
            <a:srgbClr val="E67E2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178808"/>
            <a:ext cx="3474720" cy="347472"/>
          </a:xfrm>
          <a:prstGeom prst="rect">
            <a:avLst/>
          </a:prstGeom>
          <a:noFill/>
        </p:spPr>
        <p:txBody>
          <a:bodyPr wrap="square">
            <a:spAutoFit/>
          </a:bodyPr>
          <a:lstStyle/>
          <a:p>
            <a:pPr algn="ctr"/>
            <a:r>
              <a:rPr sz="1600" b="1">
                <a:solidFill>
                  <a:srgbClr val="FFFFFF"/>
                </a:solidFill>
                <a:latin typeface="Meiryo"/>
              </a:rPr>
              <a:t>ランジ</a:t>
            </a:r>
          </a:p>
        </p:txBody>
      </p:sp>
      <p:sp>
        <p:nvSpPr>
          <p:cNvPr id="26" name="TextBox 25"/>
          <p:cNvSpPr txBox="1"/>
          <p:nvPr/>
        </p:nvSpPr>
        <p:spPr>
          <a:xfrm>
            <a:off x="6446520" y="4709160"/>
            <a:ext cx="3383280" cy="1645920"/>
          </a:xfrm>
          <a:prstGeom prst="rect">
            <a:avLst/>
          </a:prstGeom>
          <a:noFill/>
        </p:spPr>
        <p:txBody>
          <a:bodyPr wrap="square">
            <a:spAutoFit/>
          </a:bodyPr>
          <a:lstStyle/>
          <a:p>
            <a:pPr algn="ctr"/>
            <a:r>
              <a:rPr sz="1400" b="0">
                <a:solidFill>
                  <a:srgbClr val="1A3A5C"/>
                </a:solidFill>
                <a:latin typeface="Meiryo"/>
              </a:rPr>
              <a:t>大腿・臀部の動的ストレッチ
フォワードステップ形式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①  その場ジャンプ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In-Place Jumps  |  強度：低〜高</a:t>
            </a:r>
          </a:p>
        </p:txBody>
      </p:sp>
      <p:sp>
        <p:nvSpPr>
          <p:cNvPr id="7" name="Rectangle 6"/>
          <p:cNvSpPr/>
          <p:nvPr/>
        </p:nvSpPr>
        <p:spPr>
          <a:xfrm>
            <a:off x="228600"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463040"/>
            <a:ext cx="640080" cy="292608"/>
          </a:xfrm>
          <a:prstGeom prst="rect">
            <a:avLst/>
          </a:prstGeom>
          <a:noFill/>
        </p:spPr>
        <p:txBody>
          <a:bodyPr wrap="square">
            <a:spAutoFit/>
          </a:bodyPr>
          <a:lstStyle/>
          <a:p>
            <a:pPr algn="l"/>
            <a:r>
              <a:rPr sz="1000" b="1">
                <a:solidFill>
                  <a:srgbClr val="FFFFFF"/>
                </a:solidFill>
                <a:latin typeface="Meiryo"/>
              </a:rPr>
              <a:t>18.1</a:t>
            </a:r>
          </a:p>
        </p:txBody>
      </p:sp>
      <p:sp>
        <p:nvSpPr>
          <p:cNvPr id="10" name="TextBox 9"/>
          <p:cNvSpPr txBox="1"/>
          <p:nvPr/>
        </p:nvSpPr>
        <p:spPr>
          <a:xfrm>
            <a:off x="1783080"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11" name="TextBox 10"/>
          <p:cNvSpPr txBox="1"/>
          <p:nvPr/>
        </p:nvSpPr>
        <p:spPr>
          <a:xfrm>
            <a:off x="320040" y="1856232"/>
            <a:ext cx="2057400" cy="685800"/>
          </a:xfrm>
          <a:prstGeom prst="rect">
            <a:avLst/>
          </a:prstGeom>
          <a:noFill/>
        </p:spPr>
        <p:txBody>
          <a:bodyPr wrap="square">
            <a:spAutoFit/>
          </a:bodyPr>
          <a:lstStyle/>
          <a:p>
            <a:pPr algn="ctr"/>
            <a:r>
              <a:rPr sz="1200" b="1">
                <a:solidFill>
                  <a:srgbClr val="1A3A5C"/>
                </a:solidFill>
                <a:latin typeface="Meiryo"/>
              </a:rPr>
              <a:t>トゥーフット
アンクルホップ</a:t>
            </a:r>
          </a:p>
        </p:txBody>
      </p:sp>
      <p:sp>
        <p:nvSpPr>
          <p:cNvPr id="12" name="TextBox 11"/>
          <p:cNvSpPr txBox="1"/>
          <p:nvPr/>
        </p:nvSpPr>
        <p:spPr>
          <a:xfrm>
            <a:off x="320040" y="2606040"/>
            <a:ext cx="2057400" cy="1005840"/>
          </a:xfrm>
          <a:prstGeom prst="rect">
            <a:avLst/>
          </a:prstGeom>
          <a:noFill/>
        </p:spPr>
        <p:txBody>
          <a:bodyPr wrap="square">
            <a:spAutoFit/>
          </a:bodyPr>
          <a:lstStyle/>
          <a:p>
            <a:pPr algn="ctr"/>
            <a:r>
              <a:rPr sz="1100" b="0">
                <a:solidFill>
                  <a:srgbClr val="7F8C8D"/>
                </a:solidFill>
                <a:latin typeface="Meiryo"/>
              </a:rPr>
              <a:t>足首の素早い動き
膝はほとんど使わない</a:t>
            </a:r>
          </a:p>
        </p:txBody>
      </p:sp>
      <p:sp>
        <p:nvSpPr>
          <p:cNvPr id="13" name="Rectangle 12"/>
          <p:cNvSpPr/>
          <p:nvPr/>
        </p:nvSpPr>
        <p:spPr>
          <a:xfrm>
            <a:off x="2624328"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24328"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1463040"/>
            <a:ext cx="640080" cy="292608"/>
          </a:xfrm>
          <a:prstGeom prst="rect">
            <a:avLst/>
          </a:prstGeom>
          <a:noFill/>
        </p:spPr>
        <p:txBody>
          <a:bodyPr wrap="square">
            <a:spAutoFit/>
          </a:bodyPr>
          <a:lstStyle/>
          <a:p>
            <a:pPr algn="l"/>
            <a:r>
              <a:rPr sz="1000" b="1">
                <a:solidFill>
                  <a:srgbClr val="FFFFFF"/>
                </a:solidFill>
                <a:latin typeface="Meiryo"/>
              </a:rPr>
              <a:t>18.2</a:t>
            </a:r>
          </a:p>
        </p:txBody>
      </p:sp>
      <p:sp>
        <p:nvSpPr>
          <p:cNvPr id="16" name="TextBox 15"/>
          <p:cNvSpPr txBox="1"/>
          <p:nvPr/>
        </p:nvSpPr>
        <p:spPr>
          <a:xfrm>
            <a:off x="4178808"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17" name="TextBox 16"/>
          <p:cNvSpPr txBox="1"/>
          <p:nvPr/>
        </p:nvSpPr>
        <p:spPr>
          <a:xfrm>
            <a:off x="2715768" y="1856232"/>
            <a:ext cx="2057400" cy="685800"/>
          </a:xfrm>
          <a:prstGeom prst="rect">
            <a:avLst/>
          </a:prstGeom>
          <a:noFill/>
        </p:spPr>
        <p:txBody>
          <a:bodyPr wrap="square">
            <a:spAutoFit/>
          </a:bodyPr>
          <a:lstStyle/>
          <a:p>
            <a:pPr algn="ctr"/>
            <a:r>
              <a:rPr sz="1200" b="1">
                <a:solidFill>
                  <a:srgbClr val="1A3A5C"/>
                </a:solidFill>
                <a:latin typeface="Meiryo"/>
              </a:rPr>
              <a:t>シングルレッグ
アンクルホップ</a:t>
            </a:r>
          </a:p>
        </p:txBody>
      </p:sp>
      <p:sp>
        <p:nvSpPr>
          <p:cNvPr id="18" name="TextBox 17"/>
          <p:cNvSpPr txBox="1"/>
          <p:nvPr/>
        </p:nvSpPr>
        <p:spPr>
          <a:xfrm>
            <a:off x="2715768" y="2606040"/>
            <a:ext cx="2057400" cy="1005840"/>
          </a:xfrm>
          <a:prstGeom prst="rect">
            <a:avLst/>
          </a:prstGeom>
          <a:noFill/>
        </p:spPr>
        <p:txBody>
          <a:bodyPr wrap="square">
            <a:spAutoFit/>
          </a:bodyPr>
          <a:lstStyle/>
          <a:p>
            <a:pPr algn="ctr"/>
            <a:r>
              <a:rPr sz="1100" b="0">
                <a:solidFill>
                  <a:srgbClr val="7F8C8D"/>
                </a:solidFill>
                <a:latin typeface="Meiryo"/>
              </a:rPr>
              <a:t>片脚バランスと
足首強化</a:t>
            </a:r>
          </a:p>
        </p:txBody>
      </p:sp>
      <p:sp>
        <p:nvSpPr>
          <p:cNvPr id="19" name="Rectangle 18"/>
          <p:cNvSpPr/>
          <p:nvPr/>
        </p:nvSpPr>
        <p:spPr>
          <a:xfrm>
            <a:off x="5020056"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0056"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65776" y="1463040"/>
            <a:ext cx="640080" cy="292608"/>
          </a:xfrm>
          <a:prstGeom prst="rect">
            <a:avLst/>
          </a:prstGeom>
          <a:noFill/>
        </p:spPr>
        <p:txBody>
          <a:bodyPr wrap="square">
            <a:spAutoFit/>
          </a:bodyPr>
          <a:lstStyle/>
          <a:p>
            <a:pPr algn="l"/>
            <a:r>
              <a:rPr sz="1000" b="1">
                <a:solidFill>
                  <a:srgbClr val="FFFFFF"/>
                </a:solidFill>
                <a:latin typeface="Meiryo"/>
              </a:rPr>
              <a:t>18.3</a:t>
            </a:r>
          </a:p>
        </p:txBody>
      </p:sp>
      <p:sp>
        <p:nvSpPr>
          <p:cNvPr id="22" name="TextBox 21"/>
          <p:cNvSpPr txBox="1"/>
          <p:nvPr/>
        </p:nvSpPr>
        <p:spPr>
          <a:xfrm>
            <a:off x="6574536"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23" name="TextBox 22"/>
          <p:cNvSpPr txBox="1"/>
          <p:nvPr/>
        </p:nvSpPr>
        <p:spPr>
          <a:xfrm>
            <a:off x="5111496" y="1856232"/>
            <a:ext cx="2057400" cy="685800"/>
          </a:xfrm>
          <a:prstGeom prst="rect">
            <a:avLst/>
          </a:prstGeom>
          <a:noFill/>
        </p:spPr>
        <p:txBody>
          <a:bodyPr wrap="square">
            <a:spAutoFit/>
          </a:bodyPr>
          <a:lstStyle/>
          <a:p>
            <a:pPr algn="ctr"/>
            <a:r>
              <a:rPr sz="1200" b="1">
                <a:solidFill>
                  <a:srgbClr val="1A3A5C"/>
                </a:solidFill>
                <a:latin typeface="Meiryo"/>
              </a:rPr>
              <a:t>スクワット
ジャンプ</a:t>
            </a:r>
          </a:p>
        </p:txBody>
      </p:sp>
      <p:sp>
        <p:nvSpPr>
          <p:cNvPr id="24" name="TextBox 23"/>
          <p:cNvSpPr txBox="1"/>
          <p:nvPr/>
        </p:nvSpPr>
        <p:spPr>
          <a:xfrm>
            <a:off x="5111496" y="2606040"/>
            <a:ext cx="2057400" cy="1005840"/>
          </a:xfrm>
          <a:prstGeom prst="rect">
            <a:avLst/>
          </a:prstGeom>
          <a:noFill/>
        </p:spPr>
        <p:txBody>
          <a:bodyPr wrap="square">
            <a:spAutoFit/>
          </a:bodyPr>
          <a:lstStyle/>
          <a:p>
            <a:pPr algn="ctr"/>
            <a:r>
              <a:rPr sz="1100" b="0">
                <a:solidFill>
                  <a:srgbClr val="7F8C8D"/>
                </a:solidFill>
                <a:latin typeface="Meiryo"/>
              </a:rPr>
              <a:t>スクワット姿勢から
最大高さへ</a:t>
            </a:r>
          </a:p>
        </p:txBody>
      </p:sp>
      <p:sp>
        <p:nvSpPr>
          <p:cNvPr id="25" name="Rectangle 24"/>
          <p:cNvSpPr/>
          <p:nvPr/>
        </p:nvSpPr>
        <p:spPr>
          <a:xfrm>
            <a:off x="7415783"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15783"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61504" y="1463040"/>
            <a:ext cx="640080" cy="292608"/>
          </a:xfrm>
          <a:prstGeom prst="rect">
            <a:avLst/>
          </a:prstGeom>
          <a:noFill/>
        </p:spPr>
        <p:txBody>
          <a:bodyPr wrap="square">
            <a:spAutoFit/>
          </a:bodyPr>
          <a:lstStyle/>
          <a:p>
            <a:pPr algn="l"/>
            <a:r>
              <a:rPr sz="1000" b="1">
                <a:solidFill>
                  <a:srgbClr val="FFFFFF"/>
                </a:solidFill>
                <a:latin typeface="Meiryo"/>
              </a:rPr>
              <a:t>18.4</a:t>
            </a:r>
          </a:p>
        </p:txBody>
      </p:sp>
      <p:sp>
        <p:nvSpPr>
          <p:cNvPr id="28" name="TextBox 27"/>
          <p:cNvSpPr txBox="1"/>
          <p:nvPr/>
        </p:nvSpPr>
        <p:spPr>
          <a:xfrm>
            <a:off x="8970263"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29" name="TextBox 28"/>
          <p:cNvSpPr txBox="1"/>
          <p:nvPr/>
        </p:nvSpPr>
        <p:spPr>
          <a:xfrm>
            <a:off x="7507223" y="1856232"/>
            <a:ext cx="2057400" cy="685800"/>
          </a:xfrm>
          <a:prstGeom prst="rect">
            <a:avLst/>
          </a:prstGeom>
          <a:noFill/>
        </p:spPr>
        <p:txBody>
          <a:bodyPr wrap="square">
            <a:spAutoFit/>
          </a:bodyPr>
          <a:lstStyle/>
          <a:p>
            <a:pPr algn="ctr"/>
            <a:r>
              <a:rPr sz="1200" b="1">
                <a:solidFill>
                  <a:srgbClr val="1A3A5C"/>
                </a:solidFill>
                <a:latin typeface="Meiryo"/>
              </a:rPr>
              <a:t>ジャンプ
＆リーチ</a:t>
            </a:r>
          </a:p>
        </p:txBody>
      </p:sp>
      <p:sp>
        <p:nvSpPr>
          <p:cNvPr id="30" name="TextBox 29"/>
          <p:cNvSpPr txBox="1"/>
          <p:nvPr/>
        </p:nvSpPr>
        <p:spPr>
          <a:xfrm>
            <a:off x="7507223" y="2606040"/>
            <a:ext cx="2057400" cy="1005840"/>
          </a:xfrm>
          <a:prstGeom prst="rect">
            <a:avLst/>
          </a:prstGeom>
          <a:noFill/>
        </p:spPr>
        <p:txBody>
          <a:bodyPr wrap="square">
            <a:spAutoFit/>
          </a:bodyPr>
          <a:lstStyle/>
          <a:p>
            <a:pPr algn="ctr"/>
            <a:r>
              <a:rPr sz="1100" b="0">
                <a:solidFill>
                  <a:srgbClr val="7F8C8D"/>
                </a:solidFill>
                <a:latin typeface="Meiryo"/>
              </a:rPr>
              <a:t>目標にタッチする
ように跳ぶ</a:t>
            </a:r>
          </a:p>
        </p:txBody>
      </p:sp>
      <p:sp>
        <p:nvSpPr>
          <p:cNvPr id="31" name="Rectangle 30"/>
          <p:cNvSpPr/>
          <p:nvPr/>
        </p:nvSpPr>
        <p:spPr>
          <a:xfrm>
            <a:off x="9811512"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11512"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57232" y="1463040"/>
            <a:ext cx="640080" cy="292608"/>
          </a:xfrm>
          <a:prstGeom prst="rect">
            <a:avLst/>
          </a:prstGeom>
          <a:noFill/>
        </p:spPr>
        <p:txBody>
          <a:bodyPr wrap="square">
            <a:spAutoFit/>
          </a:bodyPr>
          <a:lstStyle/>
          <a:p>
            <a:pPr algn="l"/>
            <a:r>
              <a:rPr sz="1000" b="1">
                <a:solidFill>
                  <a:srgbClr val="FFFFFF"/>
                </a:solidFill>
                <a:latin typeface="Meiryo"/>
              </a:rPr>
              <a:t>18.5</a:t>
            </a:r>
          </a:p>
        </p:txBody>
      </p:sp>
      <p:sp>
        <p:nvSpPr>
          <p:cNvPr id="34" name="TextBox 33"/>
          <p:cNvSpPr txBox="1"/>
          <p:nvPr/>
        </p:nvSpPr>
        <p:spPr>
          <a:xfrm>
            <a:off x="11365992"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9902952" y="1856232"/>
            <a:ext cx="2057400" cy="685800"/>
          </a:xfrm>
          <a:prstGeom prst="rect">
            <a:avLst/>
          </a:prstGeom>
          <a:noFill/>
        </p:spPr>
        <p:txBody>
          <a:bodyPr wrap="square">
            <a:spAutoFit/>
          </a:bodyPr>
          <a:lstStyle/>
          <a:p>
            <a:pPr algn="ctr"/>
            <a:r>
              <a:rPr sz="1200" b="1">
                <a:solidFill>
                  <a:srgbClr val="1A3A5C"/>
                </a:solidFill>
                <a:latin typeface="Meiryo"/>
              </a:rPr>
              <a:t>タック
ジャンプ</a:t>
            </a:r>
          </a:p>
        </p:txBody>
      </p:sp>
      <p:sp>
        <p:nvSpPr>
          <p:cNvPr id="36" name="TextBox 35"/>
          <p:cNvSpPr txBox="1"/>
          <p:nvPr/>
        </p:nvSpPr>
        <p:spPr>
          <a:xfrm>
            <a:off x="9902952" y="2606040"/>
            <a:ext cx="2057400" cy="1005840"/>
          </a:xfrm>
          <a:prstGeom prst="rect">
            <a:avLst/>
          </a:prstGeom>
          <a:noFill/>
        </p:spPr>
        <p:txBody>
          <a:bodyPr wrap="square">
            <a:spAutoFit/>
          </a:bodyPr>
          <a:lstStyle/>
          <a:p>
            <a:pPr algn="ctr"/>
            <a:r>
              <a:rPr sz="1100" b="0">
                <a:solidFill>
                  <a:srgbClr val="7F8C8D"/>
                </a:solidFill>
                <a:latin typeface="Meiryo"/>
              </a:rPr>
              <a:t>空中で膝を
胸に引き寄せる</a:t>
            </a:r>
          </a:p>
        </p:txBody>
      </p:sp>
      <p:sp>
        <p:nvSpPr>
          <p:cNvPr id="37" name="Rectangle 36"/>
          <p:cNvSpPr/>
          <p:nvPr/>
        </p:nvSpPr>
        <p:spPr>
          <a:xfrm>
            <a:off x="228600"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8600" y="39319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3977639"/>
            <a:ext cx="640080" cy="292608"/>
          </a:xfrm>
          <a:prstGeom prst="rect">
            <a:avLst/>
          </a:prstGeom>
          <a:noFill/>
        </p:spPr>
        <p:txBody>
          <a:bodyPr wrap="square">
            <a:spAutoFit/>
          </a:bodyPr>
          <a:lstStyle/>
          <a:p>
            <a:pPr algn="l"/>
            <a:r>
              <a:rPr sz="1000" b="1">
                <a:solidFill>
                  <a:srgbClr val="FFFFFF"/>
                </a:solidFill>
                <a:latin typeface="Meiryo"/>
              </a:rPr>
              <a:t>18.6</a:t>
            </a:r>
          </a:p>
        </p:txBody>
      </p:sp>
      <p:sp>
        <p:nvSpPr>
          <p:cNvPr id="40" name="TextBox 39"/>
          <p:cNvSpPr txBox="1"/>
          <p:nvPr/>
        </p:nvSpPr>
        <p:spPr>
          <a:xfrm>
            <a:off x="1783080" y="3977639"/>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41" name="TextBox 40"/>
          <p:cNvSpPr txBox="1"/>
          <p:nvPr/>
        </p:nvSpPr>
        <p:spPr>
          <a:xfrm>
            <a:off x="320040" y="4370831"/>
            <a:ext cx="2057400" cy="685800"/>
          </a:xfrm>
          <a:prstGeom prst="rect">
            <a:avLst/>
          </a:prstGeom>
          <a:noFill/>
        </p:spPr>
        <p:txBody>
          <a:bodyPr wrap="square">
            <a:spAutoFit/>
          </a:bodyPr>
          <a:lstStyle/>
          <a:p>
            <a:pPr algn="ctr"/>
            <a:r>
              <a:rPr sz="1200" b="1">
                <a:solidFill>
                  <a:srgbClr val="1A3A5C"/>
                </a:solidFill>
                <a:latin typeface="Meiryo"/>
              </a:rPr>
              <a:t>スプリット
スクワットジャンプ</a:t>
            </a:r>
          </a:p>
        </p:txBody>
      </p:sp>
      <p:sp>
        <p:nvSpPr>
          <p:cNvPr id="42" name="TextBox 41"/>
          <p:cNvSpPr txBox="1"/>
          <p:nvPr/>
        </p:nvSpPr>
        <p:spPr>
          <a:xfrm>
            <a:off x="320040" y="5120640"/>
            <a:ext cx="2057400" cy="1005840"/>
          </a:xfrm>
          <a:prstGeom prst="rect">
            <a:avLst/>
          </a:prstGeom>
          <a:noFill/>
        </p:spPr>
        <p:txBody>
          <a:bodyPr wrap="square">
            <a:spAutoFit/>
          </a:bodyPr>
          <a:lstStyle/>
          <a:p>
            <a:pPr algn="ctr"/>
            <a:r>
              <a:rPr sz="1100" b="0">
                <a:solidFill>
                  <a:srgbClr val="7F8C8D"/>
                </a:solidFill>
                <a:latin typeface="Meiryo"/>
              </a:rPr>
              <a:t>脚を前後に開いた
状態から跳ぶ</a:t>
            </a:r>
          </a:p>
        </p:txBody>
      </p:sp>
      <p:sp>
        <p:nvSpPr>
          <p:cNvPr id="43" name="Rectangle 42"/>
          <p:cNvSpPr/>
          <p:nvPr/>
        </p:nvSpPr>
        <p:spPr>
          <a:xfrm>
            <a:off x="2624328"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624328"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670048" y="3977639"/>
            <a:ext cx="640080" cy="292608"/>
          </a:xfrm>
          <a:prstGeom prst="rect">
            <a:avLst/>
          </a:prstGeom>
          <a:noFill/>
        </p:spPr>
        <p:txBody>
          <a:bodyPr wrap="square">
            <a:spAutoFit/>
          </a:bodyPr>
          <a:lstStyle/>
          <a:p>
            <a:pPr algn="l"/>
            <a:r>
              <a:rPr sz="1000" b="1">
                <a:solidFill>
                  <a:srgbClr val="FFFFFF"/>
                </a:solidFill>
                <a:latin typeface="Meiryo"/>
              </a:rPr>
              <a:t>18.7</a:t>
            </a:r>
          </a:p>
        </p:txBody>
      </p:sp>
      <p:sp>
        <p:nvSpPr>
          <p:cNvPr id="46" name="TextBox 45"/>
          <p:cNvSpPr txBox="1"/>
          <p:nvPr/>
        </p:nvSpPr>
        <p:spPr>
          <a:xfrm>
            <a:off x="4178808"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47" name="TextBox 46"/>
          <p:cNvSpPr txBox="1"/>
          <p:nvPr/>
        </p:nvSpPr>
        <p:spPr>
          <a:xfrm>
            <a:off x="2715768" y="4370831"/>
            <a:ext cx="2057400" cy="685800"/>
          </a:xfrm>
          <a:prstGeom prst="rect">
            <a:avLst/>
          </a:prstGeom>
          <a:noFill/>
        </p:spPr>
        <p:txBody>
          <a:bodyPr wrap="square">
            <a:spAutoFit/>
          </a:bodyPr>
          <a:lstStyle/>
          <a:p>
            <a:pPr algn="ctr"/>
            <a:r>
              <a:rPr sz="1200" b="1">
                <a:solidFill>
                  <a:srgbClr val="1A3A5C"/>
                </a:solidFill>
                <a:latin typeface="Meiryo"/>
              </a:rPr>
              <a:t>サイクルド
スプリットジャンプ</a:t>
            </a:r>
          </a:p>
        </p:txBody>
      </p:sp>
      <p:sp>
        <p:nvSpPr>
          <p:cNvPr id="48" name="TextBox 47"/>
          <p:cNvSpPr txBox="1"/>
          <p:nvPr/>
        </p:nvSpPr>
        <p:spPr>
          <a:xfrm>
            <a:off x="2715768" y="5120640"/>
            <a:ext cx="2057400" cy="1005840"/>
          </a:xfrm>
          <a:prstGeom prst="rect">
            <a:avLst/>
          </a:prstGeom>
          <a:noFill/>
        </p:spPr>
        <p:txBody>
          <a:bodyPr wrap="square">
            <a:spAutoFit/>
          </a:bodyPr>
          <a:lstStyle/>
          <a:p>
            <a:pPr algn="ctr"/>
            <a:r>
              <a:rPr sz="1100" b="0">
                <a:solidFill>
                  <a:srgbClr val="7F8C8D"/>
                </a:solidFill>
                <a:latin typeface="Meiryo"/>
              </a:rPr>
              <a:t>空中で前後の
脚を入れ替える</a:t>
            </a:r>
          </a:p>
        </p:txBody>
      </p:sp>
      <p:sp>
        <p:nvSpPr>
          <p:cNvPr id="49" name="Rectangle 48"/>
          <p:cNvSpPr/>
          <p:nvPr/>
        </p:nvSpPr>
        <p:spPr>
          <a:xfrm>
            <a:off x="5020056"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20056"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65776" y="3977639"/>
            <a:ext cx="640080" cy="292608"/>
          </a:xfrm>
          <a:prstGeom prst="rect">
            <a:avLst/>
          </a:prstGeom>
          <a:noFill/>
        </p:spPr>
        <p:txBody>
          <a:bodyPr wrap="square">
            <a:spAutoFit/>
          </a:bodyPr>
          <a:lstStyle/>
          <a:p>
            <a:pPr algn="l"/>
            <a:r>
              <a:rPr sz="1000" b="1">
                <a:solidFill>
                  <a:srgbClr val="FFFFFF"/>
                </a:solidFill>
                <a:latin typeface="Meiryo"/>
              </a:rPr>
              <a:t>18.8</a:t>
            </a:r>
          </a:p>
        </p:txBody>
      </p:sp>
      <p:sp>
        <p:nvSpPr>
          <p:cNvPr id="52" name="TextBox 51"/>
          <p:cNvSpPr txBox="1"/>
          <p:nvPr/>
        </p:nvSpPr>
        <p:spPr>
          <a:xfrm>
            <a:off x="6574536"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53" name="TextBox 52"/>
          <p:cNvSpPr txBox="1"/>
          <p:nvPr/>
        </p:nvSpPr>
        <p:spPr>
          <a:xfrm>
            <a:off x="5111496" y="4370831"/>
            <a:ext cx="2057400" cy="685800"/>
          </a:xfrm>
          <a:prstGeom prst="rect">
            <a:avLst/>
          </a:prstGeom>
          <a:noFill/>
        </p:spPr>
        <p:txBody>
          <a:bodyPr wrap="square">
            <a:spAutoFit/>
          </a:bodyPr>
          <a:lstStyle/>
          <a:p>
            <a:pPr algn="ctr"/>
            <a:r>
              <a:rPr sz="1200" b="1">
                <a:solidFill>
                  <a:srgbClr val="1A3A5C"/>
                </a:solidFill>
                <a:latin typeface="Meiryo"/>
              </a:rPr>
              <a:t>シングルレッグ
タックジャンプ</a:t>
            </a:r>
          </a:p>
        </p:txBody>
      </p:sp>
      <p:sp>
        <p:nvSpPr>
          <p:cNvPr id="54" name="TextBox 53"/>
          <p:cNvSpPr txBox="1"/>
          <p:nvPr/>
        </p:nvSpPr>
        <p:spPr>
          <a:xfrm>
            <a:off x="5111496" y="5120640"/>
            <a:ext cx="2057400" cy="1005840"/>
          </a:xfrm>
          <a:prstGeom prst="rect">
            <a:avLst/>
          </a:prstGeom>
          <a:noFill/>
        </p:spPr>
        <p:txBody>
          <a:bodyPr wrap="square">
            <a:spAutoFit/>
          </a:bodyPr>
          <a:lstStyle/>
          <a:p>
            <a:pPr algn="ctr"/>
            <a:r>
              <a:rPr sz="1100" b="0">
                <a:solidFill>
                  <a:srgbClr val="7F8C8D"/>
                </a:solidFill>
                <a:latin typeface="Meiryo"/>
              </a:rPr>
              <a:t>片脚で最大高さへ
膝を引き寄せる</a:t>
            </a:r>
          </a:p>
        </p:txBody>
      </p:sp>
      <p:sp>
        <p:nvSpPr>
          <p:cNvPr id="55" name="Rectangle 54"/>
          <p:cNvSpPr/>
          <p:nvPr/>
        </p:nvSpPr>
        <p:spPr>
          <a:xfrm>
            <a:off x="7415783"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415783"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61504" y="3977639"/>
            <a:ext cx="640080" cy="292608"/>
          </a:xfrm>
          <a:prstGeom prst="rect">
            <a:avLst/>
          </a:prstGeom>
          <a:noFill/>
        </p:spPr>
        <p:txBody>
          <a:bodyPr wrap="square">
            <a:spAutoFit/>
          </a:bodyPr>
          <a:lstStyle/>
          <a:p>
            <a:pPr algn="l"/>
            <a:r>
              <a:rPr sz="1000" b="1">
                <a:solidFill>
                  <a:srgbClr val="FFFFFF"/>
                </a:solidFill>
                <a:latin typeface="Meiryo"/>
              </a:rPr>
              <a:t>18.9</a:t>
            </a:r>
          </a:p>
        </p:txBody>
      </p:sp>
      <p:sp>
        <p:nvSpPr>
          <p:cNvPr id="58" name="TextBox 57"/>
          <p:cNvSpPr txBox="1"/>
          <p:nvPr/>
        </p:nvSpPr>
        <p:spPr>
          <a:xfrm>
            <a:off x="8970263"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59" name="TextBox 58"/>
          <p:cNvSpPr txBox="1"/>
          <p:nvPr/>
        </p:nvSpPr>
        <p:spPr>
          <a:xfrm>
            <a:off x="7507223" y="4370831"/>
            <a:ext cx="2057400" cy="685800"/>
          </a:xfrm>
          <a:prstGeom prst="rect">
            <a:avLst/>
          </a:prstGeom>
          <a:noFill/>
        </p:spPr>
        <p:txBody>
          <a:bodyPr wrap="square">
            <a:spAutoFit/>
          </a:bodyPr>
          <a:lstStyle/>
          <a:p>
            <a:pPr algn="ctr"/>
            <a:r>
              <a:rPr sz="1200" b="1">
                <a:solidFill>
                  <a:srgbClr val="1A3A5C"/>
                </a:solidFill>
                <a:latin typeface="Meiryo"/>
              </a:rPr>
              <a:t>バイク
ジャンプ</a:t>
            </a:r>
          </a:p>
        </p:txBody>
      </p:sp>
      <p:sp>
        <p:nvSpPr>
          <p:cNvPr id="60" name="TextBox 59"/>
          <p:cNvSpPr txBox="1"/>
          <p:nvPr/>
        </p:nvSpPr>
        <p:spPr>
          <a:xfrm>
            <a:off x="7507223" y="5120640"/>
            <a:ext cx="2057400" cy="1005840"/>
          </a:xfrm>
          <a:prstGeom prst="rect">
            <a:avLst/>
          </a:prstGeom>
          <a:noFill/>
        </p:spPr>
        <p:txBody>
          <a:bodyPr wrap="square">
            <a:spAutoFit/>
          </a:bodyPr>
          <a:lstStyle/>
          <a:p>
            <a:pPr algn="ctr"/>
            <a:r>
              <a:rPr sz="1100" b="0">
                <a:solidFill>
                  <a:srgbClr val="7F8C8D"/>
                </a:solidFill>
                <a:latin typeface="Meiryo"/>
              </a:rPr>
              <a:t>空中で自転車
こぎ動作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②  スタンディングジャンプ・連続ホップ&amp;ジャンプ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Standing Jumps &amp; Hops</a:t>
            </a:r>
          </a:p>
        </p:txBody>
      </p:sp>
      <p:sp>
        <p:nvSpPr>
          <p:cNvPr id="7" name="Rectangle 6"/>
          <p:cNvSpPr/>
          <p:nvPr/>
        </p:nvSpPr>
        <p:spPr>
          <a:xfrm>
            <a:off x="228600"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463040"/>
            <a:ext cx="640080" cy="292608"/>
          </a:xfrm>
          <a:prstGeom prst="rect">
            <a:avLst/>
          </a:prstGeom>
          <a:noFill/>
        </p:spPr>
        <p:txBody>
          <a:bodyPr wrap="square">
            <a:spAutoFit/>
          </a:bodyPr>
          <a:lstStyle/>
          <a:p>
            <a:pPr algn="l"/>
            <a:r>
              <a:rPr sz="1000" b="1">
                <a:solidFill>
                  <a:srgbClr val="FFFFFF"/>
                </a:solidFill>
                <a:latin typeface="Meiryo"/>
              </a:rPr>
              <a:t>18.10</a:t>
            </a:r>
          </a:p>
        </p:txBody>
      </p:sp>
      <p:sp>
        <p:nvSpPr>
          <p:cNvPr id="10" name="TextBox 9"/>
          <p:cNvSpPr txBox="1"/>
          <p:nvPr/>
        </p:nvSpPr>
        <p:spPr>
          <a:xfrm>
            <a:off x="1783080"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11" name="TextBox 10"/>
          <p:cNvSpPr txBox="1"/>
          <p:nvPr/>
        </p:nvSpPr>
        <p:spPr>
          <a:xfrm>
            <a:off x="320040" y="1856232"/>
            <a:ext cx="2057400" cy="685800"/>
          </a:xfrm>
          <a:prstGeom prst="rect">
            <a:avLst/>
          </a:prstGeom>
          <a:noFill/>
        </p:spPr>
        <p:txBody>
          <a:bodyPr wrap="square">
            <a:spAutoFit/>
          </a:bodyPr>
          <a:lstStyle/>
          <a:p>
            <a:pPr algn="ctr"/>
            <a:r>
              <a:rPr sz="1100" b="1">
                <a:solidFill>
                  <a:srgbClr val="1A3A5C"/>
                </a:solidFill>
                <a:latin typeface="Meiryo"/>
              </a:rPr>
              <a:t>ダブルレッグ
バーティカルジャンプ</a:t>
            </a:r>
          </a:p>
        </p:txBody>
      </p:sp>
      <p:sp>
        <p:nvSpPr>
          <p:cNvPr id="12" name="TextBox 11"/>
          <p:cNvSpPr txBox="1"/>
          <p:nvPr/>
        </p:nvSpPr>
        <p:spPr>
          <a:xfrm>
            <a:off x="320040" y="2606040"/>
            <a:ext cx="2057400" cy="1005840"/>
          </a:xfrm>
          <a:prstGeom prst="rect">
            <a:avLst/>
          </a:prstGeom>
          <a:noFill/>
        </p:spPr>
        <p:txBody>
          <a:bodyPr wrap="square">
            <a:spAutoFit/>
          </a:bodyPr>
          <a:lstStyle/>
          <a:p>
            <a:pPr algn="ctr"/>
            <a:r>
              <a:rPr sz="1100" b="0">
                <a:solidFill>
                  <a:srgbClr val="7F8C8D"/>
                </a:solidFill>
                <a:latin typeface="Meiryo"/>
              </a:rPr>
              <a:t>最大高さを目指す
反動から開始</a:t>
            </a:r>
          </a:p>
        </p:txBody>
      </p:sp>
      <p:sp>
        <p:nvSpPr>
          <p:cNvPr id="13" name="Rectangle 12"/>
          <p:cNvSpPr/>
          <p:nvPr/>
        </p:nvSpPr>
        <p:spPr>
          <a:xfrm>
            <a:off x="2624328"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24328" y="14173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1463040"/>
            <a:ext cx="640080" cy="292608"/>
          </a:xfrm>
          <a:prstGeom prst="rect">
            <a:avLst/>
          </a:prstGeom>
          <a:noFill/>
        </p:spPr>
        <p:txBody>
          <a:bodyPr wrap="square">
            <a:spAutoFit/>
          </a:bodyPr>
          <a:lstStyle/>
          <a:p>
            <a:pPr algn="l"/>
            <a:r>
              <a:rPr sz="1000" b="1">
                <a:solidFill>
                  <a:srgbClr val="FFFFFF"/>
                </a:solidFill>
                <a:latin typeface="Meiryo"/>
              </a:rPr>
              <a:t>18.11</a:t>
            </a:r>
          </a:p>
        </p:txBody>
      </p:sp>
      <p:sp>
        <p:nvSpPr>
          <p:cNvPr id="16" name="TextBox 15"/>
          <p:cNvSpPr txBox="1"/>
          <p:nvPr/>
        </p:nvSpPr>
        <p:spPr>
          <a:xfrm>
            <a:off x="4178808" y="1463040"/>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17" name="TextBox 16"/>
          <p:cNvSpPr txBox="1"/>
          <p:nvPr/>
        </p:nvSpPr>
        <p:spPr>
          <a:xfrm>
            <a:off x="2715768" y="1856232"/>
            <a:ext cx="2057400" cy="685800"/>
          </a:xfrm>
          <a:prstGeom prst="rect">
            <a:avLst/>
          </a:prstGeom>
          <a:noFill/>
        </p:spPr>
        <p:txBody>
          <a:bodyPr wrap="square">
            <a:spAutoFit/>
          </a:bodyPr>
          <a:lstStyle/>
          <a:p>
            <a:pPr algn="ctr"/>
            <a:r>
              <a:rPr sz="1100" b="1">
                <a:solidFill>
                  <a:srgbClr val="1A3A5C"/>
                </a:solidFill>
                <a:latin typeface="Meiryo"/>
              </a:rPr>
              <a:t>シングルレッグ
バーティカルジャンプ</a:t>
            </a:r>
          </a:p>
        </p:txBody>
      </p:sp>
      <p:sp>
        <p:nvSpPr>
          <p:cNvPr id="18" name="TextBox 17"/>
          <p:cNvSpPr txBox="1"/>
          <p:nvPr/>
        </p:nvSpPr>
        <p:spPr>
          <a:xfrm>
            <a:off x="2715768" y="2606040"/>
            <a:ext cx="2057400" cy="1005840"/>
          </a:xfrm>
          <a:prstGeom prst="rect">
            <a:avLst/>
          </a:prstGeom>
          <a:noFill/>
        </p:spPr>
        <p:txBody>
          <a:bodyPr wrap="square">
            <a:spAutoFit/>
          </a:bodyPr>
          <a:lstStyle/>
          <a:p>
            <a:pPr algn="ctr"/>
            <a:r>
              <a:rPr sz="1100" b="0">
                <a:solidFill>
                  <a:srgbClr val="7F8C8D"/>
                </a:solidFill>
                <a:latin typeface="Meiryo"/>
              </a:rPr>
              <a:t>片脚で最大高さへ</a:t>
            </a:r>
          </a:p>
        </p:txBody>
      </p:sp>
      <p:sp>
        <p:nvSpPr>
          <p:cNvPr id="19" name="Rectangle 18"/>
          <p:cNvSpPr/>
          <p:nvPr/>
        </p:nvSpPr>
        <p:spPr>
          <a:xfrm>
            <a:off x="5020056"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0056" y="14173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65776" y="1463040"/>
            <a:ext cx="640080" cy="292608"/>
          </a:xfrm>
          <a:prstGeom prst="rect">
            <a:avLst/>
          </a:prstGeom>
          <a:noFill/>
        </p:spPr>
        <p:txBody>
          <a:bodyPr wrap="square">
            <a:spAutoFit/>
          </a:bodyPr>
          <a:lstStyle/>
          <a:p>
            <a:pPr algn="l"/>
            <a:r>
              <a:rPr sz="1000" b="1">
                <a:solidFill>
                  <a:srgbClr val="FFFFFF"/>
                </a:solidFill>
                <a:latin typeface="Meiryo"/>
              </a:rPr>
              <a:t>18.12</a:t>
            </a:r>
          </a:p>
        </p:txBody>
      </p:sp>
      <p:sp>
        <p:nvSpPr>
          <p:cNvPr id="22" name="TextBox 21"/>
          <p:cNvSpPr txBox="1"/>
          <p:nvPr/>
        </p:nvSpPr>
        <p:spPr>
          <a:xfrm>
            <a:off x="6574536" y="1463040"/>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23" name="TextBox 22"/>
          <p:cNvSpPr txBox="1"/>
          <p:nvPr/>
        </p:nvSpPr>
        <p:spPr>
          <a:xfrm>
            <a:off x="5111496" y="1856232"/>
            <a:ext cx="2057400" cy="685800"/>
          </a:xfrm>
          <a:prstGeom prst="rect">
            <a:avLst/>
          </a:prstGeom>
          <a:noFill/>
        </p:spPr>
        <p:txBody>
          <a:bodyPr wrap="square">
            <a:spAutoFit/>
          </a:bodyPr>
          <a:lstStyle/>
          <a:p>
            <a:pPr algn="ctr"/>
            <a:r>
              <a:rPr sz="1100" b="1">
                <a:solidFill>
                  <a:srgbClr val="1A3A5C"/>
                </a:solidFill>
                <a:latin typeface="Meiryo"/>
              </a:rPr>
              <a:t>障害物飛び越え
（ジャンプ・オーバー・バリア）</a:t>
            </a:r>
          </a:p>
        </p:txBody>
      </p:sp>
      <p:sp>
        <p:nvSpPr>
          <p:cNvPr id="24" name="TextBox 23"/>
          <p:cNvSpPr txBox="1"/>
          <p:nvPr/>
        </p:nvSpPr>
        <p:spPr>
          <a:xfrm>
            <a:off x="5111496" y="2606040"/>
            <a:ext cx="2057400" cy="1005840"/>
          </a:xfrm>
          <a:prstGeom prst="rect">
            <a:avLst/>
          </a:prstGeom>
          <a:noFill/>
        </p:spPr>
        <p:txBody>
          <a:bodyPr wrap="square">
            <a:spAutoFit/>
          </a:bodyPr>
          <a:lstStyle/>
          <a:p>
            <a:pPr algn="ctr"/>
            <a:r>
              <a:rPr sz="1100" b="0">
                <a:solidFill>
                  <a:srgbClr val="7F8C8D"/>
                </a:solidFill>
                <a:latin typeface="Meiryo"/>
              </a:rPr>
              <a:t>前進しながら
障害物を越える</a:t>
            </a:r>
          </a:p>
        </p:txBody>
      </p:sp>
      <p:sp>
        <p:nvSpPr>
          <p:cNvPr id="25" name="Rectangle 24"/>
          <p:cNvSpPr/>
          <p:nvPr/>
        </p:nvSpPr>
        <p:spPr>
          <a:xfrm>
            <a:off x="7415783"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15783"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61504" y="1463040"/>
            <a:ext cx="640080" cy="292608"/>
          </a:xfrm>
          <a:prstGeom prst="rect">
            <a:avLst/>
          </a:prstGeom>
          <a:noFill/>
        </p:spPr>
        <p:txBody>
          <a:bodyPr wrap="square">
            <a:spAutoFit/>
          </a:bodyPr>
          <a:lstStyle/>
          <a:p>
            <a:pPr algn="l"/>
            <a:r>
              <a:rPr sz="1000" b="1">
                <a:solidFill>
                  <a:srgbClr val="FFFFFF"/>
                </a:solidFill>
                <a:latin typeface="Meiryo"/>
              </a:rPr>
              <a:t>18.13</a:t>
            </a:r>
          </a:p>
        </p:txBody>
      </p:sp>
      <p:sp>
        <p:nvSpPr>
          <p:cNvPr id="28" name="TextBox 27"/>
          <p:cNvSpPr txBox="1"/>
          <p:nvPr/>
        </p:nvSpPr>
        <p:spPr>
          <a:xfrm>
            <a:off x="8970263"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29" name="TextBox 28"/>
          <p:cNvSpPr txBox="1"/>
          <p:nvPr/>
        </p:nvSpPr>
        <p:spPr>
          <a:xfrm>
            <a:off x="7507223" y="1856232"/>
            <a:ext cx="2057400" cy="685800"/>
          </a:xfrm>
          <a:prstGeom prst="rect">
            <a:avLst/>
          </a:prstGeom>
          <a:noFill/>
        </p:spPr>
        <p:txBody>
          <a:bodyPr wrap="square">
            <a:spAutoFit/>
          </a:bodyPr>
          <a:lstStyle/>
          <a:p>
            <a:pPr algn="ctr"/>
            <a:r>
              <a:rPr sz="1100" b="1">
                <a:solidFill>
                  <a:srgbClr val="1A3A5C"/>
                </a:solidFill>
                <a:latin typeface="Meiryo"/>
              </a:rPr>
              <a:t>立ち幅跳び</a:t>
            </a:r>
          </a:p>
        </p:txBody>
      </p:sp>
      <p:sp>
        <p:nvSpPr>
          <p:cNvPr id="30" name="TextBox 29"/>
          <p:cNvSpPr txBox="1"/>
          <p:nvPr/>
        </p:nvSpPr>
        <p:spPr>
          <a:xfrm>
            <a:off x="7507223" y="2606040"/>
            <a:ext cx="2057400" cy="1005840"/>
          </a:xfrm>
          <a:prstGeom prst="rect">
            <a:avLst/>
          </a:prstGeom>
          <a:noFill/>
        </p:spPr>
        <p:txBody>
          <a:bodyPr wrap="square">
            <a:spAutoFit/>
          </a:bodyPr>
          <a:lstStyle/>
          <a:p>
            <a:pPr algn="ctr"/>
            <a:r>
              <a:rPr sz="1100" b="0">
                <a:solidFill>
                  <a:srgbClr val="7F8C8D"/>
                </a:solidFill>
                <a:latin typeface="Meiryo"/>
              </a:rPr>
              <a:t>前方への
最大距離ジャンプ</a:t>
            </a:r>
          </a:p>
        </p:txBody>
      </p:sp>
      <p:sp>
        <p:nvSpPr>
          <p:cNvPr id="31" name="Rectangle 30"/>
          <p:cNvSpPr/>
          <p:nvPr/>
        </p:nvSpPr>
        <p:spPr>
          <a:xfrm>
            <a:off x="9811512"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11512"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57232" y="1463040"/>
            <a:ext cx="640080" cy="292608"/>
          </a:xfrm>
          <a:prstGeom prst="rect">
            <a:avLst/>
          </a:prstGeom>
          <a:noFill/>
        </p:spPr>
        <p:txBody>
          <a:bodyPr wrap="square">
            <a:spAutoFit/>
          </a:bodyPr>
          <a:lstStyle/>
          <a:p>
            <a:pPr algn="l"/>
            <a:r>
              <a:rPr sz="1000" b="1">
                <a:solidFill>
                  <a:srgbClr val="FFFFFF"/>
                </a:solidFill>
                <a:latin typeface="Meiryo"/>
              </a:rPr>
              <a:t>18.14</a:t>
            </a:r>
          </a:p>
        </p:txBody>
      </p:sp>
      <p:sp>
        <p:nvSpPr>
          <p:cNvPr id="34" name="TextBox 33"/>
          <p:cNvSpPr txBox="1"/>
          <p:nvPr/>
        </p:nvSpPr>
        <p:spPr>
          <a:xfrm>
            <a:off x="11365992"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9902952" y="1856232"/>
            <a:ext cx="2057400" cy="685800"/>
          </a:xfrm>
          <a:prstGeom prst="rect">
            <a:avLst/>
          </a:prstGeom>
          <a:noFill/>
        </p:spPr>
        <p:txBody>
          <a:bodyPr wrap="square">
            <a:spAutoFit/>
          </a:bodyPr>
          <a:lstStyle/>
          <a:p>
            <a:pPr algn="ctr"/>
            <a:r>
              <a:rPr sz="1100" b="1">
                <a:solidFill>
                  <a:srgbClr val="1A3A5C"/>
                </a:solidFill>
                <a:latin typeface="Meiryo"/>
              </a:rPr>
              <a:t>ダブルレッグ
ホップ</a:t>
            </a:r>
          </a:p>
        </p:txBody>
      </p:sp>
      <p:sp>
        <p:nvSpPr>
          <p:cNvPr id="36" name="TextBox 35"/>
          <p:cNvSpPr txBox="1"/>
          <p:nvPr/>
        </p:nvSpPr>
        <p:spPr>
          <a:xfrm>
            <a:off x="9902952" y="2606040"/>
            <a:ext cx="2057400" cy="1005840"/>
          </a:xfrm>
          <a:prstGeom prst="rect">
            <a:avLst/>
          </a:prstGeom>
          <a:noFill/>
        </p:spPr>
        <p:txBody>
          <a:bodyPr wrap="square">
            <a:spAutoFit/>
          </a:bodyPr>
          <a:lstStyle/>
          <a:p>
            <a:pPr algn="ctr"/>
            <a:r>
              <a:rPr sz="1100" b="0">
                <a:solidFill>
                  <a:srgbClr val="7F8C8D"/>
                </a:solidFill>
                <a:latin typeface="Meiryo"/>
              </a:rPr>
              <a:t>連続して前方へ
できるだけ素早く</a:t>
            </a:r>
          </a:p>
        </p:txBody>
      </p:sp>
      <p:sp>
        <p:nvSpPr>
          <p:cNvPr id="37" name="Rectangle 36"/>
          <p:cNvSpPr/>
          <p:nvPr/>
        </p:nvSpPr>
        <p:spPr>
          <a:xfrm>
            <a:off x="228600"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8600"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3977639"/>
            <a:ext cx="640080" cy="292608"/>
          </a:xfrm>
          <a:prstGeom prst="rect">
            <a:avLst/>
          </a:prstGeom>
          <a:noFill/>
        </p:spPr>
        <p:txBody>
          <a:bodyPr wrap="square">
            <a:spAutoFit/>
          </a:bodyPr>
          <a:lstStyle/>
          <a:p>
            <a:pPr algn="l"/>
            <a:r>
              <a:rPr sz="1000" b="1">
                <a:solidFill>
                  <a:srgbClr val="FFFFFF"/>
                </a:solidFill>
                <a:latin typeface="Meiryo"/>
              </a:rPr>
              <a:t>18.15</a:t>
            </a:r>
          </a:p>
        </p:txBody>
      </p:sp>
      <p:sp>
        <p:nvSpPr>
          <p:cNvPr id="40" name="TextBox 39"/>
          <p:cNvSpPr txBox="1"/>
          <p:nvPr/>
        </p:nvSpPr>
        <p:spPr>
          <a:xfrm>
            <a:off x="1783080"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41" name="TextBox 40"/>
          <p:cNvSpPr txBox="1"/>
          <p:nvPr/>
        </p:nvSpPr>
        <p:spPr>
          <a:xfrm>
            <a:off x="320040" y="4370831"/>
            <a:ext cx="2057400" cy="685800"/>
          </a:xfrm>
          <a:prstGeom prst="rect">
            <a:avLst/>
          </a:prstGeom>
          <a:noFill/>
        </p:spPr>
        <p:txBody>
          <a:bodyPr wrap="square">
            <a:spAutoFit/>
          </a:bodyPr>
          <a:lstStyle/>
          <a:p>
            <a:pPr algn="ctr"/>
            <a:r>
              <a:rPr sz="1100" b="1">
                <a:solidFill>
                  <a:srgbClr val="1A3A5C"/>
                </a:solidFill>
                <a:latin typeface="Meiryo"/>
              </a:rPr>
              <a:t>ジグザグ
ホップ</a:t>
            </a:r>
          </a:p>
        </p:txBody>
      </p:sp>
      <p:sp>
        <p:nvSpPr>
          <p:cNvPr id="42" name="TextBox 41"/>
          <p:cNvSpPr txBox="1"/>
          <p:nvPr/>
        </p:nvSpPr>
        <p:spPr>
          <a:xfrm>
            <a:off x="320040" y="5120640"/>
            <a:ext cx="2057400" cy="1005840"/>
          </a:xfrm>
          <a:prstGeom prst="rect">
            <a:avLst/>
          </a:prstGeom>
          <a:noFill/>
        </p:spPr>
        <p:txBody>
          <a:bodyPr wrap="square">
            <a:spAutoFit/>
          </a:bodyPr>
          <a:lstStyle/>
          <a:p>
            <a:pPr algn="ctr"/>
            <a:r>
              <a:rPr sz="1100" b="0">
                <a:solidFill>
                  <a:srgbClr val="7F8C8D"/>
                </a:solidFill>
                <a:latin typeface="Meiryo"/>
              </a:rPr>
              <a:t>10個のハードルを
ジグザグで越える</a:t>
            </a:r>
          </a:p>
        </p:txBody>
      </p:sp>
      <p:sp>
        <p:nvSpPr>
          <p:cNvPr id="43" name="Rectangle 42"/>
          <p:cNvSpPr/>
          <p:nvPr/>
        </p:nvSpPr>
        <p:spPr>
          <a:xfrm>
            <a:off x="2624328"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624328"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670048" y="3977639"/>
            <a:ext cx="640080" cy="292608"/>
          </a:xfrm>
          <a:prstGeom prst="rect">
            <a:avLst/>
          </a:prstGeom>
          <a:noFill/>
        </p:spPr>
        <p:txBody>
          <a:bodyPr wrap="square">
            <a:spAutoFit/>
          </a:bodyPr>
          <a:lstStyle/>
          <a:p>
            <a:pPr algn="l"/>
            <a:r>
              <a:rPr sz="1000" b="1">
                <a:solidFill>
                  <a:srgbClr val="FFFFFF"/>
                </a:solidFill>
                <a:latin typeface="Meiryo"/>
              </a:rPr>
              <a:t>18.16</a:t>
            </a:r>
          </a:p>
        </p:txBody>
      </p:sp>
      <p:sp>
        <p:nvSpPr>
          <p:cNvPr id="46" name="TextBox 45"/>
          <p:cNvSpPr txBox="1"/>
          <p:nvPr/>
        </p:nvSpPr>
        <p:spPr>
          <a:xfrm>
            <a:off x="4178808"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47" name="TextBox 46"/>
          <p:cNvSpPr txBox="1"/>
          <p:nvPr/>
        </p:nvSpPr>
        <p:spPr>
          <a:xfrm>
            <a:off x="2715768" y="4370831"/>
            <a:ext cx="2057400" cy="685800"/>
          </a:xfrm>
          <a:prstGeom prst="rect">
            <a:avLst/>
          </a:prstGeom>
          <a:noFill/>
        </p:spPr>
        <p:txBody>
          <a:bodyPr wrap="square">
            <a:spAutoFit/>
          </a:bodyPr>
          <a:lstStyle/>
          <a:p>
            <a:pPr algn="ctr"/>
            <a:r>
              <a:rPr sz="1100" b="1">
                <a:solidFill>
                  <a:srgbClr val="1A3A5C"/>
                </a:solidFill>
                <a:latin typeface="Meiryo"/>
              </a:rPr>
              <a:t>シングルレッグ
ホップ</a:t>
            </a:r>
          </a:p>
        </p:txBody>
      </p:sp>
      <p:sp>
        <p:nvSpPr>
          <p:cNvPr id="48" name="TextBox 47"/>
          <p:cNvSpPr txBox="1"/>
          <p:nvPr/>
        </p:nvSpPr>
        <p:spPr>
          <a:xfrm>
            <a:off x="2715768" y="5120640"/>
            <a:ext cx="2057400" cy="1005840"/>
          </a:xfrm>
          <a:prstGeom prst="rect">
            <a:avLst/>
          </a:prstGeom>
          <a:noFill/>
        </p:spPr>
        <p:txBody>
          <a:bodyPr wrap="square">
            <a:spAutoFit/>
          </a:bodyPr>
          <a:lstStyle/>
          <a:p>
            <a:pPr algn="ctr"/>
            <a:r>
              <a:rPr sz="1100" b="0">
                <a:solidFill>
                  <a:srgbClr val="7F8C8D"/>
                </a:solidFill>
                <a:latin typeface="Meiryo"/>
              </a:rPr>
              <a:t>片脚で連続
短い接地時間</a:t>
            </a:r>
          </a:p>
        </p:txBody>
      </p:sp>
      <p:sp>
        <p:nvSpPr>
          <p:cNvPr id="49" name="Rectangle 48"/>
          <p:cNvSpPr/>
          <p:nvPr/>
        </p:nvSpPr>
        <p:spPr>
          <a:xfrm>
            <a:off x="5020056"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20056" y="39319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65776" y="3977639"/>
            <a:ext cx="640080" cy="292608"/>
          </a:xfrm>
          <a:prstGeom prst="rect">
            <a:avLst/>
          </a:prstGeom>
          <a:noFill/>
        </p:spPr>
        <p:txBody>
          <a:bodyPr wrap="square">
            <a:spAutoFit/>
          </a:bodyPr>
          <a:lstStyle/>
          <a:p>
            <a:pPr algn="l"/>
            <a:r>
              <a:rPr sz="1000" b="1">
                <a:solidFill>
                  <a:srgbClr val="FFFFFF"/>
                </a:solidFill>
                <a:latin typeface="Meiryo"/>
              </a:rPr>
              <a:t>18.17</a:t>
            </a:r>
          </a:p>
        </p:txBody>
      </p:sp>
      <p:sp>
        <p:nvSpPr>
          <p:cNvPr id="52" name="TextBox 51"/>
          <p:cNvSpPr txBox="1"/>
          <p:nvPr/>
        </p:nvSpPr>
        <p:spPr>
          <a:xfrm>
            <a:off x="6574536" y="3977639"/>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53" name="TextBox 52"/>
          <p:cNvSpPr txBox="1"/>
          <p:nvPr/>
        </p:nvSpPr>
        <p:spPr>
          <a:xfrm>
            <a:off x="5111496" y="4370831"/>
            <a:ext cx="2057400" cy="685800"/>
          </a:xfrm>
          <a:prstGeom prst="rect">
            <a:avLst/>
          </a:prstGeom>
          <a:noFill/>
        </p:spPr>
        <p:txBody>
          <a:bodyPr wrap="square">
            <a:spAutoFit/>
          </a:bodyPr>
          <a:lstStyle/>
          <a:p>
            <a:pPr algn="ctr"/>
            <a:r>
              <a:rPr sz="1100" b="1">
                <a:solidFill>
                  <a:srgbClr val="1A3A5C"/>
                </a:solidFill>
                <a:latin typeface="Meiryo"/>
              </a:rPr>
              <a:t>フロント
バリアホップ</a:t>
            </a:r>
          </a:p>
        </p:txBody>
      </p:sp>
      <p:sp>
        <p:nvSpPr>
          <p:cNvPr id="54" name="TextBox 53"/>
          <p:cNvSpPr txBox="1"/>
          <p:nvPr/>
        </p:nvSpPr>
        <p:spPr>
          <a:xfrm>
            <a:off x="5111496" y="5120640"/>
            <a:ext cx="2057400" cy="1005840"/>
          </a:xfrm>
          <a:prstGeom prst="rect">
            <a:avLst/>
          </a:prstGeom>
          <a:noFill/>
        </p:spPr>
        <p:txBody>
          <a:bodyPr wrap="square">
            <a:spAutoFit/>
          </a:bodyPr>
          <a:lstStyle/>
          <a:p>
            <a:pPr algn="ctr"/>
            <a:r>
              <a:rPr sz="1100" b="0">
                <a:solidFill>
                  <a:srgbClr val="7F8C8D"/>
                </a:solidFill>
                <a:latin typeface="Meiryo"/>
              </a:rPr>
              <a:t>障害物を前方から
越えて連続</a:t>
            </a:r>
          </a:p>
        </p:txBody>
      </p:sp>
      <p:sp>
        <p:nvSpPr>
          <p:cNvPr id="55" name="Rectangle 54"/>
          <p:cNvSpPr/>
          <p:nvPr/>
        </p:nvSpPr>
        <p:spPr>
          <a:xfrm>
            <a:off x="7415783"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415783" y="39319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61504" y="3977639"/>
            <a:ext cx="640080" cy="292608"/>
          </a:xfrm>
          <a:prstGeom prst="rect">
            <a:avLst/>
          </a:prstGeom>
          <a:noFill/>
        </p:spPr>
        <p:txBody>
          <a:bodyPr wrap="square">
            <a:spAutoFit/>
          </a:bodyPr>
          <a:lstStyle/>
          <a:p>
            <a:pPr algn="l"/>
            <a:r>
              <a:rPr sz="1000" b="1">
                <a:solidFill>
                  <a:srgbClr val="FFFFFF"/>
                </a:solidFill>
                <a:latin typeface="Meiryo"/>
              </a:rPr>
              <a:t>18.18</a:t>
            </a:r>
          </a:p>
        </p:txBody>
      </p:sp>
      <p:sp>
        <p:nvSpPr>
          <p:cNvPr id="58" name="TextBox 57"/>
          <p:cNvSpPr txBox="1"/>
          <p:nvPr/>
        </p:nvSpPr>
        <p:spPr>
          <a:xfrm>
            <a:off x="8970263" y="3977639"/>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59" name="TextBox 58"/>
          <p:cNvSpPr txBox="1"/>
          <p:nvPr/>
        </p:nvSpPr>
        <p:spPr>
          <a:xfrm>
            <a:off x="7507223" y="4370831"/>
            <a:ext cx="2057400" cy="685800"/>
          </a:xfrm>
          <a:prstGeom prst="rect">
            <a:avLst/>
          </a:prstGeom>
          <a:noFill/>
        </p:spPr>
        <p:txBody>
          <a:bodyPr wrap="square">
            <a:spAutoFit/>
          </a:bodyPr>
          <a:lstStyle/>
          <a:p>
            <a:pPr algn="ctr"/>
            <a:r>
              <a:rPr sz="1100" b="1">
                <a:solidFill>
                  <a:srgbClr val="1A3A5C"/>
                </a:solidFill>
                <a:latin typeface="Meiryo"/>
              </a:rPr>
              <a:t>ラテラル
バリアホップ</a:t>
            </a:r>
          </a:p>
        </p:txBody>
      </p:sp>
      <p:sp>
        <p:nvSpPr>
          <p:cNvPr id="60" name="TextBox 59"/>
          <p:cNvSpPr txBox="1"/>
          <p:nvPr/>
        </p:nvSpPr>
        <p:spPr>
          <a:xfrm>
            <a:off x="7507223" y="5120640"/>
            <a:ext cx="2057400" cy="1005840"/>
          </a:xfrm>
          <a:prstGeom prst="rect">
            <a:avLst/>
          </a:prstGeom>
          <a:noFill/>
        </p:spPr>
        <p:txBody>
          <a:bodyPr wrap="square">
            <a:spAutoFit/>
          </a:bodyPr>
          <a:lstStyle/>
          <a:p>
            <a:pPr algn="ctr"/>
            <a:r>
              <a:rPr sz="1100" b="0">
                <a:solidFill>
                  <a:srgbClr val="7F8C8D"/>
                </a:solidFill>
                <a:latin typeface="Meiryo"/>
              </a:rPr>
              <a:t>横方向に障害物を
越えて連続</a:t>
            </a:r>
          </a:p>
        </p:txBody>
      </p:sp>
      <p:sp>
        <p:nvSpPr>
          <p:cNvPr id="61" name="Rectangle 60"/>
          <p:cNvSpPr/>
          <p:nvPr/>
        </p:nvSpPr>
        <p:spPr>
          <a:xfrm>
            <a:off x="9811512"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811512"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857232" y="3977639"/>
            <a:ext cx="640080" cy="292608"/>
          </a:xfrm>
          <a:prstGeom prst="rect">
            <a:avLst/>
          </a:prstGeom>
          <a:noFill/>
        </p:spPr>
        <p:txBody>
          <a:bodyPr wrap="square">
            <a:spAutoFit/>
          </a:bodyPr>
          <a:lstStyle/>
          <a:p>
            <a:pPr algn="l"/>
            <a:r>
              <a:rPr sz="1000" b="1">
                <a:solidFill>
                  <a:srgbClr val="FFFFFF"/>
                </a:solidFill>
                <a:latin typeface="Meiryo"/>
              </a:rPr>
              <a:t>18.19</a:t>
            </a:r>
          </a:p>
        </p:txBody>
      </p:sp>
      <p:sp>
        <p:nvSpPr>
          <p:cNvPr id="64" name="TextBox 63"/>
          <p:cNvSpPr txBox="1"/>
          <p:nvPr/>
        </p:nvSpPr>
        <p:spPr>
          <a:xfrm>
            <a:off x="11365992"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65" name="TextBox 64"/>
          <p:cNvSpPr txBox="1"/>
          <p:nvPr/>
        </p:nvSpPr>
        <p:spPr>
          <a:xfrm>
            <a:off x="9902952" y="4370831"/>
            <a:ext cx="2057400" cy="685800"/>
          </a:xfrm>
          <a:prstGeom prst="rect">
            <a:avLst/>
          </a:prstGeom>
          <a:noFill/>
        </p:spPr>
        <p:txBody>
          <a:bodyPr wrap="square">
            <a:spAutoFit/>
          </a:bodyPr>
          <a:lstStyle/>
          <a:p>
            <a:pPr algn="ctr"/>
            <a:r>
              <a:rPr sz="1100" b="1">
                <a:solidFill>
                  <a:srgbClr val="1A3A5C"/>
                </a:solidFill>
                <a:latin typeface="Meiryo"/>
              </a:rPr>
              <a:t>4ハードル
ドリル</a:t>
            </a:r>
          </a:p>
        </p:txBody>
      </p:sp>
      <p:sp>
        <p:nvSpPr>
          <p:cNvPr id="66" name="TextBox 65"/>
          <p:cNvSpPr txBox="1"/>
          <p:nvPr/>
        </p:nvSpPr>
        <p:spPr>
          <a:xfrm>
            <a:off x="9902952" y="5120640"/>
            <a:ext cx="2057400" cy="1005840"/>
          </a:xfrm>
          <a:prstGeom prst="rect">
            <a:avLst/>
          </a:prstGeom>
          <a:noFill/>
        </p:spPr>
        <p:txBody>
          <a:bodyPr wrap="square">
            <a:spAutoFit/>
          </a:bodyPr>
          <a:lstStyle/>
          <a:p>
            <a:pPr algn="ctr"/>
            <a:r>
              <a:rPr sz="1100" b="0">
                <a:solidFill>
                  <a:srgbClr val="7F8C8D"/>
                </a:solidFill>
                <a:latin typeface="Meiryo"/>
              </a:rPr>
              <a:t>4つのハードルを
連続で越える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③  バウンド</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Bounds  |  強度：低〜高</a:t>
            </a:r>
          </a:p>
        </p:txBody>
      </p:sp>
      <p:sp>
        <p:nvSpPr>
          <p:cNvPr id="7" name="Rectangle 6"/>
          <p:cNvSpPr/>
          <p:nvPr/>
        </p:nvSpPr>
        <p:spPr>
          <a:xfrm>
            <a:off x="36576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63040"/>
            <a:ext cx="1783080" cy="41148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517904"/>
            <a:ext cx="640080" cy="320040"/>
          </a:xfrm>
          <a:prstGeom prst="rect">
            <a:avLst/>
          </a:prstGeom>
          <a:noFill/>
        </p:spPr>
        <p:txBody>
          <a:bodyPr wrap="square">
            <a:spAutoFit/>
          </a:bodyPr>
          <a:lstStyle/>
          <a:p>
            <a:pPr algn="l"/>
            <a:r>
              <a:rPr sz="1000" b="1">
                <a:solidFill>
                  <a:srgbClr val="FFFFFF"/>
                </a:solidFill>
                <a:latin typeface="Meiryo"/>
              </a:rPr>
              <a:t>18.20</a:t>
            </a:r>
          </a:p>
        </p:txBody>
      </p:sp>
      <p:sp>
        <p:nvSpPr>
          <p:cNvPr id="10" name="TextBox 9"/>
          <p:cNvSpPr txBox="1"/>
          <p:nvPr/>
        </p:nvSpPr>
        <p:spPr>
          <a:xfrm>
            <a:off x="1508760" y="1517904"/>
            <a:ext cx="594360" cy="320040"/>
          </a:xfrm>
          <a:prstGeom prst="rect">
            <a:avLst/>
          </a:prstGeom>
          <a:noFill/>
        </p:spPr>
        <p:txBody>
          <a:bodyPr wrap="square">
            <a:spAutoFit/>
          </a:bodyPr>
          <a:lstStyle/>
          <a:p>
            <a:pPr algn="r"/>
            <a:r>
              <a:rPr sz="1000" b="1">
                <a:solidFill>
                  <a:srgbClr val="FFFFFF"/>
                </a:solidFill>
                <a:latin typeface="Meiryo"/>
              </a:rPr>
              <a:t>低</a:t>
            </a:r>
          </a:p>
        </p:txBody>
      </p:sp>
      <p:sp>
        <p:nvSpPr>
          <p:cNvPr id="11" name="TextBox 10"/>
          <p:cNvSpPr txBox="1"/>
          <p:nvPr/>
        </p:nvSpPr>
        <p:spPr>
          <a:xfrm>
            <a:off x="411480" y="1965960"/>
            <a:ext cx="1691640" cy="685800"/>
          </a:xfrm>
          <a:prstGeom prst="rect">
            <a:avLst/>
          </a:prstGeom>
          <a:noFill/>
        </p:spPr>
        <p:txBody>
          <a:bodyPr wrap="square">
            <a:spAutoFit/>
          </a:bodyPr>
          <a:lstStyle/>
          <a:p>
            <a:pPr algn="ctr"/>
            <a:r>
              <a:rPr sz="1200" b="1">
                <a:solidFill>
                  <a:srgbClr val="1A3A5C"/>
                </a:solidFill>
                <a:latin typeface="Meiryo"/>
              </a:rPr>
              <a:t>スキップ</a:t>
            </a:r>
          </a:p>
        </p:txBody>
      </p:sp>
      <p:sp>
        <p:nvSpPr>
          <p:cNvPr id="12" name="TextBox 11"/>
          <p:cNvSpPr txBox="1"/>
          <p:nvPr/>
        </p:nvSpPr>
        <p:spPr>
          <a:xfrm>
            <a:off x="411480" y="2834640"/>
            <a:ext cx="1691640" cy="1371600"/>
          </a:xfrm>
          <a:prstGeom prst="rect">
            <a:avLst/>
          </a:prstGeom>
          <a:noFill/>
        </p:spPr>
        <p:txBody>
          <a:bodyPr wrap="square">
            <a:spAutoFit/>
          </a:bodyPr>
          <a:lstStyle/>
          <a:p>
            <a:pPr algn="ctr"/>
            <a:r>
              <a:rPr sz="1100" b="0">
                <a:solidFill>
                  <a:srgbClr val="7F8C8D"/>
                </a:solidFill>
                <a:latin typeface="Meiryo"/>
              </a:rPr>
              <a:t>片足踏み込みと
ジャンプの組み合わせ</a:t>
            </a:r>
          </a:p>
        </p:txBody>
      </p:sp>
      <p:sp>
        <p:nvSpPr>
          <p:cNvPr id="13" name="Rectangle 12"/>
          <p:cNvSpPr/>
          <p:nvPr/>
        </p:nvSpPr>
        <p:spPr>
          <a:xfrm>
            <a:off x="228600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31720" y="1517904"/>
            <a:ext cx="640080" cy="320040"/>
          </a:xfrm>
          <a:prstGeom prst="rect">
            <a:avLst/>
          </a:prstGeom>
          <a:noFill/>
        </p:spPr>
        <p:txBody>
          <a:bodyPr wrap="square">
            <a:spAutoFit/>
          </a:bodyPr>
          <a:lstStyle/>
          <a:p>
            <a:pPr algn="l"/>
            <a:r>
              <a:rPr sz="1000" b="1">
                <a:solidFill>
                  <a:srgbClr val="FFFFFF"/>
                </a:solidFill>
                <a:latin typeface="Meiryo"/>
              </a:rPr>
              <a:t>18.21</a:t>
            </a:r>
          </a:p>
        </p:txBody>
      </p:sp>
      <p:sp>
        <p:nvSpPr>
          <p:cNvPr id="16" name="TextBox 15"/>
          <p:cNvSpPr txBox="1"/>
          <p:nvPr/>
        </p:nvSpPr>
        <p:spPr>
          <a:xfrm>
            <a:off x="342900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17" name="TextBox 16"/>
          <p:cNvSpPr txBox="1"/>
          <p:nvPr/>
        </p:nvSpPr>
        <p:spPr>
          <a:xfrm>
            <a:off x="2331720" y="1965960"/>
            <a:ext cx="1691640" cy="685800"/>
          </a:xfrm>
          <a:prstGeom prst="rect">
            <a:avLst/>
          </a:prstGeom>
          <a:noFill/>
        </p:spPr>
        <p:txBody>
          <a:bodyPr wrap="square">
            <a:spAutoFit/>
          </a:bodyPr>
          <a:lstStyle/>
          <a:p>
            <a:pPr algn="ctr"/>
            <a:r>
              <a:rPr sz="1200" b="1">
                <a:solidFill>
                  <a:srgbClr val="1A3A5C"/>
                </a:solidFill>
                <a:latin typeface="Meiryo"/>
              </a:rPr>
              <a:t>パワースキップ</a:t>
            </a:r>
          </a:p>
        </p:txBody>
      </p:sp>
      <p:sp>
        <p:nvSpPr>
          <p:cNvPr id="18" name="TextBox 17"/>
          <p:cNvSpPr txBox="1"/>
          <p:nvPr/>
        </p:nvSpPr>
        <p:spPr>
          <a:xfrm>
            <a:off x="2331720" y="2834640"/>
            <a:ext cx="1691640" cy="1371600"/>
          </a:xfrm>
          <a:prstGeom prst="rect">
            <a:avLst/>
          </a:prstGeom>
          <a:noFill/>
        </p:spPr>
        <p:txBody>
          <a:bodyPr wrap="square">
            <a:spAutoFit/>
          </a:bodyPr>
          <a:lstStyle/>
          <a:p>
            <a:pPr algn="ctr"/>
            <a:r>
              <a:rPr sz="1100" b="0">
                <a:solidFill>
                  <a:srgbClr val="7F8C8D"/>
                </a:solidFill>
                <a:latin typeface="Meiryo"/>
              </a:rPr>
              <a:t>最大高さと距離を
狙うスキップ</a:t>
            </a:r>
          </a:p>
        </p:txBody>
      </p:sp>
      <p:sp>
        <p:nvSpPr>
          <p:cNvPr id="19" name="Rectangle 18"/>
          <p:cNvSpPr/>
          <p:nvPr/>
        </p:nvSpPr>
        <p:spPr>
          <a:xfrm>
            <a:off x="420624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0624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51960" y="1517904"/>
            <a:ext cx="640080" cy="320040"/>
          </a:xfrm>
          <a:prstGeom prst="rect">
            <a:avLst/>
          </a:prstGeom>
          <a:noFill/>
        </p:spPr>
        <p:txBody>
          <a:bodyPr wrap="square">
            <a:spAutoFit/>
          </a:bodyPr>
          <a:lstStyle/>
          <a:p>
            <a:pPr algn="l"/>
            <a:r>
              <a:rPr sz="1000" b="1">
                <a:solidFill>
                  <a:srgbClr val="FFFFFF"/>
                </a:solidFill>
                <a:latin typeface="Meiryo"/>
              </a:rPr>
              <a:t>18.22</a:t>
            </a:r>
          </a:p>
        </p:txBody>
      </p:sp>
      <p:sp>
        <p:nvSpPr>
          <p:cNvPr id="22" name="TextBox 21"/>
          <p:cNvSpPr txBox="1"/>
          <p:nvPr/>
        </p:nvSpPr>
        <p:spPr>
          <a:xfrm>
            <a:off x="534924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23" name="TextBox 22"/>
          <p:cNvSpPr txBox="1"/>
          <p:nvPr/>
        </p:nvSpPr>
        <p:spPr>
          <a:xfrm>
            <a:off x="4251960" y="1965960"/>
            <a:ext cx="1691640" cy="685800"/>
          </a:xfrm>
          <a:prstGeom prst="rect">
            <a:avLst/>
          </a:prstGeom>
          <a:noFill/>
        </p:spPr>
        <p:txBody>
          <a:bodyPr wrap="square">
            <a:spAutoFit/>
          </a:bodyPr>
          <a:lstStyle/>
          <a:p>
            <a:pPr algn="ctr"/>
            <a:r>
              <a:rPr sz="1200" b="1">
                <a:solidFill>
                  <a:srgbClr val="1A3A5C"/>
                </a:solidFill>
                <a:latin typeface="Meiryo"/>
              </a:rPr>
              <a:t>バックワード
スキップ</a:t>
            </a:r>
          </a:p>
        </p:txBody>
      </p:sp>
      <p:sp>
        <p:nvSpPr>
          <p:cNvPr id="24" name="TextBox 23"/>
          <p:cNvSpPr txBox="1"/>
          <p:nvPr/>
        </p:nvSpPr>
        <p:spPr>
          <a:xfrm>
            <a:off x="4251960" y="2834640"/>
            <a:ext cx="1691640" cy="1371600"/>
          </a:xfrm>
          <a:prstGeom prst="rect">
            <a:avLst/>
          </a:prstGeom>
          <a:noFill/>
        </p:spPr>
        <p:txBody>
          <a:bodyPr wrap="square">
            <a:spAutoFit/>
          </a:bodyPr>
          <a:lstStyle/>
          <a:p>
            <a:pPr algn="ctr"/>
            <a:r>
              <a:rPr sz="1100" b="0">
                <a:solidFill>
                  <a:srgbClr val="7F8C8D"/>
                </a:solidFill>
                <a:latin typeface="Meiryo"/>
              </a:rPr>
              <a:t>後ろ方向への
スキップ</a:t>
            </a:r>
          </a:p>
        </p:txBody>
      </p:sp>
      <p:sp>
        <p:nvSpPr>
          <p:cNvPr id="25" name="Rectangle 24"/>
          <p:cNvSpPr/>
          <p:nvPr/>
        </p:nvSpPr>
        <p:spPr>
          <a:xfrm>
            <a:off x="612648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0" y="1517904"/>
            <a:ext cx="640080" cy="320040"/>
          </a:xfrm>
          <a:prstGeom prst="rect">
            <a:avLst/>
          </a:prstGeom>
          <a:noFill/>
        </p:spPr>
        <p:txBody>
          <a:bodyPr wrap="square">
            <a:spAutoFit/>
          </a:bodyPr>
          <a:lstStyle/>
          <a:p>
            <a:pPr algn="l"/>
            <a:r>
              <a:rPr sz="1000" b="1">
                <a:solidFill>
                  <a:srgbClr val="FFFFFF"/>
                </a:solidFill>
                <a:latin typeface="Meiryo"/>
              </a:rPr>
              <a:t>18.23</a:t>
            </a:r>
          </a:p>
        </p:txBody>
      </p:sp>
      <p:sp>
        <p:nvSpPr>
          <p:cNvPr id="28" name="TextBox 27"/>
          <p:cNvSpPr txBox="1"/>
          <p:nvPr/>
        </p:nvSpPr>
        <p:spPr>
          <a:xfrm>
            <a:off x="726948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29" name="TextBox 28"/>
          <p:cNvSpPr txBox="1"/>
          <p:nvPr/>
        </p:nvSpPr>
        <p:spPr>
          <a:xfrm>
            <a:off x="6172200" y="1965960"/>
            <a:ext cx="1691640" cy="685800"/>
          </a:xfrm>
          <a:prstGeom prst="rect">
            <a:avLst/>
          </a:prstGeom>
          <a:noFill/>
        </p:spPr>
        <p:txBody>
          <a:bodyPr wrap="square">
            <a:spAutoFit/>
          </a:bodyPr>
          <a:lstStyle/>
          <a:p>
            <a:pPr algn="ctr"/>
            <a:r>
              <a:rPr sz="1200" b="1">
                <a:solidFill>
                  <a:srgbClr val="1A3A5C"/>
                </a:solidFill>
                <a:latin typeface="Meiryo"/>
              </a:rPr>
              <a:t>サイドスキップ</a:t>
            </a:r>
          </a:p>
        </p:txBody>
      </p:sp>
      <p:sp>
        <p:nvSpPr>
          <p:cNvPr id="30" name="TextBox 29"/>
          <p:cNvSpPr txBox="1"/>
          <p:nvPr/>
        </p:nvSpPr>
        <p:spPr>
          <a:xfrm>
            <a:off x="6172200" y="2834640"/>
            <a:ext cx="1691640" cy="1371600"/>
          </a:xfrm>
          <a:prstGeom prst="rect">
            <a:avLst/>
          </a:prstGeom>
          <a:noFill/>
        </p:spPr>
        <p:txBody>
          <a:bodyPr wrap="square">
            <a:spAutoFit/>
          </a:bodyPr>
          <a:lstStyle/>
          <a:p>
            <a:pPr algn="ctr"/>
            <a:r>
              <a:rPr sz="1100" b="0">
                <a:solidFill>
                  <a:srgbClr val="7F8C8D"/>
                </a:solidFill>
                <a:latin typeface="Meiryo"/>
              </a:rPr>
              <a:t>側方へのスキップ
横方向のパワー強化</a:t>
            </a:r>
          </a:p>
        </p:txBody>
      </p:sp>
      <p:sp>
        <p:nvSpPr>
          <p:cNvPr id="31" name="Rectangle 30"/>
          <p:cNvSpPr/>
          <p:nvPr/>
        </p:nvSpPr>
        <p:spPr>
          <a:xfrm>
            <a:off x="804672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4672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92440" y="1517904"/>
            <a:ext cx="640080" cy="320040"/>
          </a:xfrm>
          <a:prstGeom prst="rect">
            <a:avLst/>
          </a:prstGeom>
          <a:noFill/>
        </p:spPr>
        <p:txBody>
          <a:bodyPr wrap="square">
            <a:spAutoFit/>
          </a:bodyPr>
          <a:lstStyle/>
          <a:p>
            <a:pPr algn="l"/>
            <a:r>
              <a:rPr sz="1000" b="1">
                <a:solidFill>
                  <a:srgbClr val="FFFFFF"/>
                </a:solidFill>
                <a:latin typeface="Meiryo"/>
              </a:rPr>
              <a:t>18.24</a:t>
            </a:r>
          </a:p>
        </p:txBody>
      </p:sp>
      <p:sp>
        <p:nvSpPr>
          <p:cNvPr id="34" name="TextBox 33"/>
          <p:cNvSpPr txBox="1"/>
          <p:nvPr/>
        </p:nvSpPr>
        <p:spPr>
          <a:xfrm>
            <a:off x="918972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8092440" y="1965960"/>
            <a:ext cx="1691640" cy="685800"/>
          </a:xfrm>
          <a:prstGeom prst="rect">
            <a:avLst/>
          </a:prstGeom>
          <a:noFill/>
        </p:spPr>
        <p:txBody>
          <a:bodyPr wrap="square">
            <a:spAutoFit/>
          </a:bodyPr>
          <a:lstStyle/>
          <a:p>
            <a:pPr algn="ctr"/>
            <a:r>
              <a:rPr sz="1200" b="1">
                <a:solidFill>
                  <a:srgbClr val="1A3A5C"/>
                </a:solidFill>
                <a:latin typeface="Meiryo"/>
              </a:rPr>
              <a:t>シングルアーム
交互バウンド</a:t>
            </a:r>
          </a:p>
        </p:txBody>
      </p:sp>
      <p:sp>
        <p:nvSpPr>
          <p:cNvPr id="36" name="TextBox 35"/>
          <p:cNvSpPr txBox="1"/>
          <p:nvPr/>
        </p:nvSpPr>
        <p:spPr>
          <a:xfrm>
            <a:off x="8092440" y="2834640"/>
            <a:ext cx="1691640" cy="1371600"/>
          </a:xfrm>
          <a:prstGeom prst="rect">
            <a:avLst/>
          </a:prstGeom>
          <a:noFill/>
        </p:spPr>
        <p:txBody>
          <a:bodyPr wrap="square">
            <a:spAutoFit/>
          </a:bodyPr>
          <a:lstStyle/>
          <a:p>
            <a:pPr algn="ctr"/>
            <a:r>
              <a:rPr sz="1100" b="0">
                <a:solidFill>
                  <a:srgbClr val="7F8C8D"/>
                </a:solidFill>
                <a:latin typeface="Meiryo"/>
              </a:rPr>
              <a:t>片腕のスイングで
推進力を高める</a:t>
            </a:r>
          </a:p>
        </p:txBody>
      </p:sp>
      <p:sp>
        <p:nvSpPr>
          <p:cNvPr id="37" name="Rectangle 36"/>
          <p:cNvSpPr/>
          <p:nvPr/>
        </p:nvSpPr>
        <p:spPr>
          <a:xfrm>
            <a:off x="996696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966960" y="1463040"/>
            <a:ext cx="1783080" cy="41148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12680" y="1517904"/>
            <a:ext cx="640080" cy="320040"/>
          </a:xfrm>
          <a:prstGeom prst="rect">
            <a:avLst/>
          </a:prstGeom>
          <a:noFill/>
        </p:spPr>
        <p:txBody>
          <a:bodyPr wrap="square">
            <a:spAutoFit/>
          </a:bodyPr>
          <a:lstStyle/>
          <a:p>
            <a:pPr algn="l"/>
            <a:r>
              <a:rPr sz="1000" b="1">
                <a:solidFill>
                  <a:srgbClr val="FFFFFF"/>
                </a:solidFill>
                <a:latin typeface="Meiryo"/>
              </a:rPr>
              <a:t>18.25</a:t>
            </a:r>
          </a:p>
        </p:txBody>
      </p:sp>
      <p:sp>
        <p:nvSpPr>
          <p:cNvPr id="40" name="TextBox 39"/>
          <p:cNvSpPr txBox="1"/>
          <p:nvPr/>
        </p:nvSpPr>
        <p:spPr>
          <a:xfrm>
            <a:off x="11109960" y="1517904"/>
            <a:ext cx="594360" cy="320040"/>
          </a:xfrm>
          <a:prstGeom prst="rect">
            <a:avLst/>
          </a:prstGeom>
          <a:noFill/>
        </p:spPr>
        <p:txBody>
          <a:bodyPr wrap="square">
            <a:spAutoFit/>
          </a:bodyPr>
          <a:lstStyle/>
          <a:p>
            <a:pPr algn="r"/>
            <a:r>
              <a:rPr sz="1000" b="1">
                <a:solidFill>
                  <a:srgbClr val="FFFFFF"/>
                </a:solidFill>
                <a:latin typeface="Meiryo"/>
              </a:rPr>
              <a:t>高</a:t>
            </a:r>
          </a:p>
        </p:txBody>
      </p:sp>
      <p:sp>
        <p:nvSpPr>
          <p:cNvPr id="41" name="TextBox 40"/>
          <p:cNvSpPr txBox="1"/>
          <p:nvPr/>
        </p:nvSpPr>
        <p:spPr>
          <a:xfrm>
            <a:off x="10012680" y="1965960"/>
            <a:ext cx="1691640" cy="685800"/>
          </a:xfrm>
          <a:prstGeom prst="rect">
            <a:avLst/>
          </a:prstGeom>
          <a:noFill/>
        </p:spPr>
        <p:txBody>
          <a:bodyPr wrap="square">
            <a:spAutoFit/>
          </a:bodyPr>
          <a:lstStyle/>
          <a:p>
            <a:pPr algn="ctr"/>
            <a:r>
              <a:rPr sz="1200" b="1">
                <a:solidFill>
                  <a:srgbClr val="1A3A5C"/>
                </a:solidFill>
                <a:latin typeface="Meiryo"/>
              </a:rPr>
              <a:t>ダブルアーム
交互バウンド</a:t>
            </a:r>
          </a:p>
        </p:txBody>
      </p:sp>
      <p:sp>
        <p:nvSpPr>
          <p:cNvPr id="42" name="TextBox 41"/>
          <p:cNvSpPr txBox="1"/>
          <p:nvPr/>
        </p:nvSpPr>
        <p:spPr>
          <a:xfrm>
            <a:off x="10012680" y="2834640"/>
            <a:ext cx="1691640" cy="1371600"/>
          </a:xfrm>
          <a:prstGeom prst="rect">
            <a:avLst/>
          </a:prstGeom>
          <a:noFill/>
        </p:spPr>
        <p:txBody>
          <a:bodyPr wrap="square">
            <a:spAutoFit/>
          </a:bodyPr>
          <a:lstStyle/>
          <a:p>
            <a:pPr algn="ctr"/>
            <a:r>
              <a:rPr sz="1100" b="0">
                <a:solidFill>
                  <a:srgbClr val="7F8C8D"/>
                </a:solidFill>
                <a:latin typeface="Meiryo"/>
              </a:rPr>
              <a:t>両腕スイングで
最大の推進力</a:t>
            </a:r>
          </a:p>
        </p:txBody>
      </p:sp>
      <p:sp>
        <p:nvSpPr>
          <p:cNvPr id="43" name="Rectangle 42"/>
          <p:cNvSpPr/>
          <p:nvPr/>
        </p:nvSpPr>
        <p:spPr>
          <a:xfrm>
            <a:off x="274320" y="4892040"/>
            <a:ext cx="11640312" cy="1691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74320" y="4892040"/>
            <a:ext cx="11640312" cy="365760"/>
          </a:xfrm>
          <a:prstGeom prst="rect">
            <a:avLst/>
          </a:prstGeom>
          <a:solidFill>
            <a:srgbClr val="8E44A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937760"/>
            <a:ext cx="7315200" cy="320040"/>
          </a:xfrm>
          <a:prstGeom prst="rect">
            <a:avLst/>
          </a:prstGeom>
          <a:noFill/>
        </p:spPr>
        <p:txBody>
          <a:bodyPr wrap="square">
            <a:spAutoFit/>
          </a:bodyPr>
          <a:lstStyle/>
          <a:p>
            <a:pPr algn="l"/>
            <a:r>
              <a:rPr sz="1300" b="1">
                <a:solidFill>
                  <a:srgbClr val="FFFFFF"/>
                </a:solidFill>
                <a:latin typeface="Meiryo"/>
              </a:rPr>
              <a:t>バウンドとスプリントの関係</a:t>
            </a:r>
          </a:p>
        </p:txBody>
      </p:sp>
      <p:sp>
        <p:nvSpPr>
          <p:cNvPr id="46" name="TextBox 45"/>
          <p:cNvSpPr txBox="1"/>
          <p:nvPr/>
        </p:nvSpPr>
        <p:spPr>
          <a:xfrm>
            <a:off x="457200" y="5349240"/>
            <a:ext cx="11247120" cy="1188720"/>
          </a:xfrm>
          <a:prstGeom prst="rect">
            <a:avLst/>
          </a:prstGeom>
          <a:noFill/>
        </p:spPr>
        <p:txBody>
          <a:bodyPr wrap="square">
            <a:spAutoFit/>
          </a:bodyPr>
          <a:lstStyle/>
          <a:p>
            <a:pPr algn="l"/>
            <a:r>
              <a:rPr sz="1300" b="0">
                <a:solidFill>
                  <a:srgbClr val="1A3A5C"/>
                </a:solidFill>
                <a:latin typeface="Meiryo"/>
              </a:rPr>
              <a:t>● バウンドはランニング動作に近い爆発的な下肢動作を強化する
● スプリントに必要な地面反力・ストライド幅の向上につながる
● スポーツのアジリティ・方向転換能力とも関連が深い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④  ボックスドリル</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Box Drills  |  強度：中〜高</a:t>
            </a:r>
          </a:p>
        </p:txBody>
      </p:sp>
      <p:sp>
        <p:nvSpPr>
          <p:cNvPr id="7" name="Rectangle 6"/>
          <p:cNvSpPr/>
          <p:nvPr/>
        </p:nvSpPr>
        <p:spPr>
          <a:xfrm>
            <a:off x="228600"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 y="1481328"/>
            <a:ext cx="731520" cy="292608"/>
          </a:xfrm>
          <a:prstGeom prst="rect">
            <a:avLst/>
          </a:prstGeom>
          <a:noFill/>
        </p:spPr>
        <p:txBody>
          <a:bodyPr wrap="square">
            <a:spAutoFit/>
          </a:bodyPr>
          <a:lstStyle/>
          <a:p>
            <a:pPr algn="l"/>
            <a:r>
              <a:rPr sz="1000" b="1">
                <a:solidFill>
                  <a:srgbClr val="FFFFFF"/>
                </a:solidFill>
                <a:latin typeface="Meiryo"/>
              </a:rPr>
              <a:t>18.26</a:t>
            </a:r>
          </a:p>
        </p:txBody>
      </p:sp>
      <p:sp>
        <p:nvSpPr>
          <p:cNvPr id="10" name="TextBox 9"/>
          <p:cNvSpPr txBox="1"/>
          <p:nvPr/>
        </p:nvSpPr>
        <p:spPr>
          <a:xfrm>
            <a:off x="2240280"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11" name="TextBox 10"/>
          <p:cNvSpPr txBox="1"/>
          <p:nvPr/>
        </p:nvSpPr>
        <p:spPr>
          <a:xfrm>
            <a:off x="320040" y="1892808"/>
            <a:ext cx="2651760" cy="685800"/>
          </a:xfrm>
          <a:prstGeom prst="rect">
            <a:avLst/>
          </a:prstGeom>
          <a:noFill/>
        </p:spPr>
        <p:txBody>
          <a:bodyPr wrap="square">
            <a:spAutoFit/>
          </a:bodyPr>
          <a:lstStyle/>
          <a:p>
            <a:pPr algn="ctr"/>
            <a:r>
              <a:rPr sz="1200" b="1">
                <a:solidFill>
                  <a:srgbClr val="1A3A5C"/>
                </a:solidFill>
                <a:latin typeface="Meiryo"/>
              </a:rPr>
              <a:t>シングルレッグ
プッシュオフ</a:t>
            </a:r>
          </a:p>
        </p:txBody>
      </p:sp>
      <p:sp>
        <p:nvSpPr>
          <p:cNvPr id="12" name="TextBox 11"/>
          <p:cNvSpPr txBox="1"/>
          <p:nvPr/>
        </p:nvSpPr>
        <p:spPr>
          <a:xfrm>
            <a:off x="320040" y="2651760"/>
            <a:ext cx="2651760" cy="1005840"/>
          </a:xfrm>
          <a:prstGeom prst="rect">
            <a:avLst/>
          </a:prstGeom>
          <a:noFill/>
        </p:spPr>
        <p:txBody>
          <a:bodyPr wrap="square">
            <a:spAutoFit/>
          </a:bodyPr>
          <a:lstStyle/>
          <a:p>
            <a:pPr algn="ctr"/>
            <a:r>
              <a:rPr sz="1100" b="0">
                <a:solidFill>
                  <a:srgbClr val="7F8C8D"/>
                </a:solidFill>
                <a:latin typeface="Meiryo"/>
              </a:rPr>
              <a:t>片足でボックスを
踏み切って跳ぶ</a:t>
            </a:r>
          </a:p>
        </p:txBody>
      </p:sp>
      <p:sp>
        <p:nvSpPr>
          <p:cNvPr id="13" name="Rectangle 12"/>
          <p:cNvSpPr/>
          <p:nvPr/>
        </p:nvSpPr>
        <p:spPr>
          <a:xfrm>
            <a:off x="3227832"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27832"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00984" y="1481328"/>
            <a:ext cx="731520" cy="292608"/>
          </a:xfrm>
          <a:prstGeom prst="rect">
            <a:avLst/>
          </a:prstGeom>
          <a:noFill/>
        </p:spPr>
        <p:txBody>
          <a:bodyPr wrap="square">
            <a:spAutoFit/>
          </a:bodyPr>
          <a:lstStyle/>
          <a:p>
            <a:pPr algn="l"/>
            <a:r>
              <a:rPr sz="1000" b="1">
                <a:solidFill>
                  <a:srgbClr val="FFFFFF"/>
                </a:solidFill>
                <a:latin typeface="Meiryo"/>
              </a:rPr>
              <a:t>18.27</a:t>
            </a:r>
          </a:p>
        </p:txBody>
      </p:sp>
      <p:sp>
        <p:nvSpPr>
          <p:cNvPr id="16" name="TextBox 15"/>
          <p:cNvSpPr txBox="1"/>
          <p:nvPr/>
        </p:nvSpPr>
        <p:spPr>
          <a:xfrm>
            <a:off x="5239512"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17" name="TextBox 16"/>
          <p:cNvSpPr txBox="1"/>
          <p:nvPr/>
        </p:nvSpPr>
        <p:spPr>
          <a:xfrm>
            <a:off x="3319272" y="1892808"/>
            <a:ext cx="2651760" cy="685800"/>
          </a:xfrm>
          <a:prstGeom prst="rect">
            <a:avLst/>
          </a:prstGeom>
          <a:noFill/>
        </p:spPr>
        <p:txBody>
          <a:bodyPr wrap="square">
            <a:spAutoFit/>
          </a:bodyPr>
          <a:lstStyle/>
          <a:p>
            <a:pPr algn="ctr"/>
            <a:r>
              <a:rPr sz="1200" b="1">
                <a:solidFill>
                  <a:srgbClr val="1A3A5C"/>
                </a:solidFill>
                <a:latin typeface="Meiryo"/>
              </a:rPr>
              <a:t>交互
プッシュオフ</a:t>
            </a:r>
          </a:p>
        </p:txBody>
      </p:sp>
      <p:sp>
        <p:nvSpPr>
          <p:cNvPr id="18" name="TextBox 17"/>
          <p:cNvSpPr txBox="1"/>
          <p:nvPr/>
        </p:nvSpPr>
        <p:spPr>
          <a:xfrm>
            <a:off x="3319272" y="2651760"/>
            <a:ext cx="2651760" cy="1005840"/>
          </a:xfrm>
          <a:prstGeom prst="rect">
            <a:avLst/>
          </a:prstGeom>
          <a:noFill/>
        </p:spPr>
        <p:txBody>
          <a:bodyPr wrap="square">
            <a:spAutoFit/>
          </a:bodyPr>
          <a:lstStyle/>
          <a:p>
            <a:pPr algn="ctr"/>
            <a:r>
              <a:rPr sz="1100" b="0">
                <a:solidFill>
                  <a:srgbClr val="7F8C8D"/>
                </a:solidFill>
                <a:latin typeface="Meiryo"/>
              </a:rPr>
              <a:t>左右交互に
ボックスを踏み切る</a:t>
            </a:r>
          </a:p>
        </p:txBody>
      </p:sp>
      <p:sp>
        <p:nvSpPr>
          <p:cNvPr id="19" name="Rectangle 18"/>
          <p:cNvSpPr/>
          <p:nvPr/>
        </p:nvSpPr>
        <p:spPr>
          <a:xfrm>
            <a:off x="6227064"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0216" y="1481328"/>
            <a:ext cx="731520" cy="292608"/>
          </a:xfrm>
          <a:prstGeom prst="rect">
            <a:avLst/>
          </a:prstGeom>
          <a:noFill/>
        </p:spPr>
        <p:txBody>
          <a:bodyPr wrap="square">
            <a:spAutoFit/>
          </a:bodyPr>
          <a:lstStyle/>
          <a:p>
            <a:pPr algn="l"/>
            <a:r>
              <a:rPr sz="1000" b="1">
                <a:solidFill>
                  <a:srgbClr val="FFFFFF"/>
                </a:solidFill>
                <a:latin typeface="Meiryo"/>
              </a:rPr>
              <a:t>18.28</a:t>
            </a:r>
          </a:p>
        </p:txBody>
      </p:sp>
      <p:sp>
        <p:nvSpPr>
          <p:cNvPr id="22" name="TextBox 21"/>
          <p:cNvSpPr txBox="1"/>
          <p:nvPr/>
        </p:nvSpPr>
        <p:spPr>
          <a:xfrm>
            <a:off x="8238744"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23" name="TextBox 22"/>
          <p:cNvSpPr txBox="1"/>
          <p:nvPr/>
        </p:nvSpPr>
        <p:spPr>
          <a:xfrm>
            <a:off x="6318503" y="1892808"/>
            <a:ext cx="2651760" cy="685800"/>
          </a:xfrm>
          <a:prstGeom prst="rect">
            <a:avLst/>
          </a:prstGeom>
          <a:noFill/>
        </p:spPr>
        <p:txBody>
          <a:bodyPr wrap="square">
            <a:spAutoFit/>
          </a:bodyPr>
          <a:lstStyle/>
          <a:p>
            <a:pPr algn="ctr"/>
            <a:r>
              <a:rPr sz="1200" b="1">
                <a:solidFill>
                  <a:srgbClr val="1A3A5C"/>
                </a:solidFill>
                <a:latin typeface="Meiryo"/>
              </a:rPr>
              <a:t>ラテラル
プッシュオフ</a:t>
            </a:r>
          </a:p>
        </p:txBody>
      </p:sp>
      <p:sp>
        <p:nvSpPr>
          <p:cNvPr id="24" name="TextBox 23"/>
          <p:cNvSpPr txBox="1"/>
          <p:nvPr/>
        </p:nvSpPr>
        <p:spPr>
          <a:xfrm>
            <a:off x="6318503" y="2651760"/>
            <a:ext cx="2651760" cy="1005840"/>
          </a:xfrm>
          <a:prstGeom prst="rect">
            <a:avLst/>
          </a:prstGeom>
          <a:noFill/>
        </p:spPr>
        <p:txBody>
          <a:bodyPr wrap="square">
            <a:spAutoFit/>
          </a:bodyPr>
          <a:lstStyle/>
          <a:p>
            <a:pPr algn="ctr"/>
            <a:r>
              <a:rPr sz="1100" b="0">
                <a:solidFill>
                  <a:srgbClr val="7F8C8D"/>
                </a:solidFill>
                <a:latin typeface="Meiryo"/>
              </a:rPr>
              <a:t>横からボックスを
踏み切って跳ぶ</a:t>
            </a:r>
          </a:p>
        </p:txBody>
      </p:sp>
      <p:sp>
        <p:nvSpPr>
          <p:cNvPr id="25" name="Rectangle 24"/>
          <p:cNvSpPr/>
          <p:nvPr/>
        </p:nvSpPr>
        <p:spPr>
          <a:xfrm>
            <a:off x="9226296"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26296"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9448" y="1481328"/>
            <a:ext cx="731520" cy="292608"/>
          </a:xfrm>
          <a:prstGeom prst="rect">
            <a:avLst/>
          </a:prstGeom>
          <a:noFill/>
        </p:spPr>
        <p:txBody>
          <a:bodyPr wrap="square">
            <a:spAutoFit/>
          </a:bodyPr>
          <a:lstStyle/>
          <a:p>
            <a:pPr algn="l"/>
            <a:r>
              <a:rPr sz="1000" b="1">
                <a:solidFill>
                  <a:srgbClr val="FFFFFF"/>
                </a:solidFill>
                <a:latin typeface="Meiryo"/>
              </a:rPr>
              <a:t>18.29</a:t>
            </a:r>
          </a:p>
        </p:txBody>
      </p:sp>
      <p:sp>
        <p:nvSpPr>
          <p:cNvPr id="28" name="TextBox 27"/>
          <p:cNvSpPr txBox="1"/>
          <p:nvPr/>
        </p:nvSpPr>
        <p:spPr>
          <a:xfrm>
            <a:off x="11237976"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29" name="TextBox 28"/>
          <p:cNvSpPr txBox="1"/>
          <p:nvPr/>
        </p:nvSpPr>
        <p:spPr>
          <a:xfrm>
            <a:off x="9317736" y="1892808"/>
            <a:ext cx="2651760" cy="685800"/>
          </a:xfrm>
          <a:prstGeom prst="rect">
            <a:avLst/>
          </a:prstGeom>
          <a:noFill/>
        </p:spPr>
        <p:txBody>
          <a:bodyPr wrap="square">
            <a:spAutoFit/>
          </a:bodyPr>
          <a:lstStyle/>
          <a:p>
            <a:pPr algn="ctr"/>
            <a:r>
              <a:rPr sz="1200" b="1">
                <a:solidFill>
                  <a:srgbClr val="1A3A5C"/>
                </a:solidFill>
                <a:latin typeface="Meiryo"/>
              </a:rPr>
              <a:t>サイドトゥーサイド
プッシュオフ</a:t>
            </a:r>
          </a:p>
        </p:txBody>
      </p:sp>
      <p:sp>
        <p:nvSpPr>
          <p:cNvPr id="30" name="TextBox 29"/>
          <p:cNvSpPr txBox="1"/>
          <p:nvPr/>
        </p:nvSpPr>
        <p:spPr>
          <a:xfrm>
            <a:off x="9317736" y="2651760"/>
            <a:ext cx="2651760" cy="1005840"/>
          </a:xfrm>
          <a:prstGeom prst="rect">
            <a:avLst/>
          </a:prstGeom>
          <a:noFill/>
        </p:spPr>
        <p:txBody>
          <a:bodyPr wrap="square">
            <a:spAutoFit/>
          </a:bodyPr>
          <a:lstStyle/>
          <a:p>
            <a:pPr algn="ctr"/>
            <a:r>
              <a:rPr sz="1100" b="0">
                <a:solidFill>
                  <a:srgbClr val="7F8C8D"/>
                </a:solidFill>
                <a:latin typeface="Meiryo"/>
              </a:rPr>
              <a:t>左右交互に
ボックスを乗り越える</a:t>
            </a:r>
          </a:p>
        </p:txBody>
      </p:sp>
      <p:sp>
        <p:nvSpPr>
          <p:cNvPr id="31" name="Rectangle 30"/>
          <p:cNvSpPr/>
          <p:nvPr/>
        </p:nvSpPr>
        <p:spPr>
          <a:xfrm>
            <a:off x="228600"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8600" y="388620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1752" y="3950208"/>
            <a:ext cx="731520" cy="292608"/>
          </a:xfrm>
          <a:prstGeom prst="rect">
            <a:avLst/>
          </a:prstGeom>
          <a:noFill/>
        </p:spPr>
        <p:txBody>
          <a:bodyPr wrap="square">
            <a:spAutoFit/>
          </a:bodyPr>
          <a:lstStyle/>
          <a:p>
            <a:pPr algn="l"/>
            <a:r>
              <a:rPr sz="1000" b="1">
                <a:solidFill>
                  <a:srgbClr val="FFFFFF"/>
                </a:solidFill>
                <a:latin typeface="Meiryo"/>
              </a:rPr>
              <a:t>18.30</a:t>
            </a:r>
          </a:p>
        </p:txBody>
      </p:sp>
      <p:sp>
        <p:nvSpPr>
          <p:cNvPr id="34" name="TextBox 33"/>
          <p:cNvSpPr txBox="1"/>
          <p:nvPr/>
        </p:nvSpPr>
        <p:spPr>
          <a:xfrm>
            <a:off x="2240280" y="395020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320040" y="4361688"/>
            <a:ext cx="2651760" cy="685800"/>
          </a:xfrm>
          <a:prstGeom prst="rect">
            <a:avLst/>
          </a:prstGeom>
          <a:noFill/>
        </p:spPr>
        <p:txBody>
          <a:bodyPr wrap="square">
            <a:spAutoFit/>
          </a:bodyPr>
          <a:lstStyle/>
          <a:p>
            <a:pPr algn="ctr"/>
            <a:r>
              <a:rPr sz="1200" b="1">
                <a:solidFill>
                  <a:srgbClr val="1A3A5C"/>
                </a:solidFill>
                <a:latin typeface="Meiryo"/>
              </a:rPr>
              <a:t>ダブルレッグ
ジャンプトゥボックス</a:t>
            </a:r>
          </a:p>
        </p:txBody>
      </p:sp>
      <p:sp>
        <p:nvSpPr>
          <p:cNvPr id="36" name="TextBox 35"/>
          <p:cNvSpPr txBox="1"/>
          <p:nvPr/>
        </p:nvSpPr>
        <p:spPr>
          <a:xfrm>
            <a:off x="320040" y="5120640"/>
            <a:ext cx="2651760" cy="1005840"/>
          </a:xfrm>
          <a:prstGeom prst="rect">
            <a:avLst/>
          </a:prstGeom>
          <a:noFill/>
        </p:spPr>
        <p:txBody>
          <a:bodyPr wrap="square">
            <a:spAutoFit/>
          </a:bodyPr>
          <a:lstStyle/>
          <a:p>
            <a:pPr algn="ctr"/>
            <a:r>
              <a:rPr sz="1100" b="0">
                <a:solidFill>
                  <a:srgbClr val="7F8C8D"/>
                </a:solidFill>
                <a:latin typeface="Meiryo"/>
              </a:rPr>
              <a:t>両足でボックスの
上に跳び乗る</a:t>
            </a:r>
          </a:p>
        </p:txBody>
      </p:sp>
      <p:sp>
        <p:nvSpPr>
          <p:cNvPr id="37" name="Rectangle 36"/>
          <p:cNvSpPr/>
          <p:nvPr/>
        </p:nvSpPr>
        <p:spPr>
          <a:xfrm>
            <a:off x="3227832"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27832" y="3886200"/>
            <a:ext cx="2834640" cy="384048"/>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00984" y="3950208"/>
            <a:ext cx="731520" cy="292608"/>
          </a:xfrm>
          <a:prstGeom prst="rect">
            <a:avLst/>
          </a:prstGeom>
          <a:noFill/>
        </p:spPr>
        <p:txBody>
          <a:bodyPr wrap="square">
            <a:spAutoFit/>
          </a:bodyPr>
          <a:lstStyle/>
          <a:p>
            <a:pPr algn="l"/>
            <a:r>
              <a:rPr sz="1000" b="1">
                <a:solidFill>
                  <a:srgbClr val="FFFFFF"/>
                </a:solidFill>
                <a:latin typeface="Meiryo"/>
              </a:rPr>
              <a:t>18.31</a:t>
            </a:r>
          </a:p>
        </p:txBody>
      </p:sp>
      <p:sp>
        <p:nvSpPr>
          <p:cNvPr id="40" name="TextBox 39"/>
          <p:cNvSpPr txBox="1"/>
          <p:nvPr/>
        </p:nvSpPr>
        <p:spPr>
          <a:xfrm>
            <a:off x="5239512" y="3950208"/>
            <a:ext cx="777240" cy="292608"/>
          </a:xfrm>
          <a:prstGeom prst="rect">
            <a:avLst/>
          </a:prstGeom>
          <a:noFill/>
        </p:spPr>
        <p:txBody>
          <a:bodyPr wrap="square">
            <a:spAutoFit/>
          </a:bodyPr>
          <a:lstStyle/>
          <a:p>
            <a:pPr algn="r"/>
            <a:r>
              <a:rPr sz="1000" b="1">
                <a:solidFill>
                  <a:srgbClr val="FFFFFF"/>
                </a:solidFill>
                <a:latin typeface="Meiryo"/>
              </a:rPr>
              <a:t>高</a:t>
            </a:r>
          </a:p>
        </p:txBody>
      </p:sp>
      <p:sp>
        <p:nvSpPr>
          <p:cNvPr id="41" name="TextBox 40"/>
          <p:cNvSpPr txBox="1"/>
          <p:nvPr/>
        </p:nvSpPr>
        <p:spPr>
          <a:xfrm>
            <a:off x="3319272" y="4361688"/>
            <a:ext cx="2651760" cy="685800"/>
          </a:xfrm>
          <a:prstGeom prst="rect">
            <a:avLst/>
          </a:prstGeom>
          <a:noFill/>
        </p:spPr>
        <p:txBody>
          <a:bodyPr wrap="square">
            <a:spAutoFit/>
          </a:bodyPr>
          <a:lstStyle/>
          <a:p>
            <a:pPr algn="ctr"/>
            <a:r>
              <a:rPr sz="1200" b="1">
                <a:solidFill>
                  <a:srgbClr val="1A3A5C"/>
                </a:solidFill>
                <a:latin typeface="Meiryo"/>
              </a:rPr>
              <a:t>シングルレッグ
ジャンプトゥボックス</a:t>
            </a:r>
          </a:p>
        </p:txBody>
      </p:sp>
      <p:sp>
        <p:nvSpPr>
          <p:cNvPr id="42" name="TextBox 41"/>
          <p:cNvSpPr txBox="1"/>
          <p:nvPr/>
        </p:nvSpPr>
        <p:spPr>
          <a:xfrm>
            <a:off x="3319272" y="5120640"/>
            <a:ext cx="2651760" cy="1005840"/>
          </a:xfrm>
          <a:prstGeom prst="rect">
            <a:avLst/>
          </a:prstGeom>
          <a:noFill/>
        </p:spPr>
        <p:txBody>
          <a:bodyPr wrap="square">
            <a:spAutoFit/>
          </a:bodyPr>
          <a:lstStyle/>
          <a:p>
            <a:pPr algn="ctr"/>
            <a:r>
              <a:rPr sz="1100" b="0">
                <a:solidFill>
                  <a:srgbClr val="7F8C8D"/>
                </a:solidFill>
                <a:latin typeface="Meiryo"/>
              </a:rPr>
              <a:t>片脚でボックスの
上に跳び乗る</a:t>
            </a:r>
          </a:p>
        </p:txBody>
      </p:sp>
      <p:sp>
        <p:nvSpPr>
          <p:cNvPr id="43" name="Rectangle 42"/>
          <p:cNvSpPr/>
          <p:nvPr/>
        </p:nvSpPr>
        <p:spPr>
          <a:xfrm>
            <a:off x="6227064"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27064" y="388620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0216" y="3950208"/>
            <a:ext cx="731520" cy="292608"/>
          </a:xfrm>
          <a:prstGeom prst="rect">
            <a:avLst/>
          </a:prstGeom>
          <a:noFill/>
        </p:spPr>
        <p:txBody>
          <a:bodyPr wrap="square">
            <a:spAutoFit/>
          </a:bodyPr>
          <a:lstStyle/>
          <a:p>
            <a:pPr algn="l"/>
            <a:r>
              <a:rPr sz="1000" b="1">
                <a:solidFill>
                  <a:srgbClr val="FFFFFF"/>
                </a:solidFill>
                <a:latin typeface="Meiryo"/>
              </a:rPr>
              <a:t>18.32</a:t>
            </a:r>
          </a:p>
        </p:txBody>
      </p:sp>
      <p:sp>
        <p:nvSpPr>
          <p:cNvPr id="46" name="TextBox 45"/>
          <p:cNvSpPr txBox="1"/>
          <p:nvPr/>
        </p:nvSpPr>
        <p:spPr>
          <a:xfrm>
            <a:off x="8238744" y="395020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47" name="TextBox 46"/>
          <p:cNvSpPr txBox="1"/>
          <p:nvPr/>
        </p:nvSpPr>
        <p:spPr>
          <a:xfrm>
            <a:off x="6318503" y="4361688"/>
            <a:ext cx="2651760" cy="685800"/>
          </a:xfrm>
          <a:prstGeom prst="rect">
            <a:avLst/>
          </a:prstGeom>
          <a:noFill/>
        </p:spPr>
        <p:txBody>
          <a:bodyPr wrap="square">
            <a:spAutoFit/>
          </a:bodyPr>
          <a:lstStyle/>
          <a:p>
            <a:pPr algn="ctr"/>
            <a:r>
              <a:rPr sz="1200" b="1">
                <a:solidFill>
                  <a:srgbClr val="1A3A5C"/>
                </a:solidFill>
                <a:latin typeface="Meiryo"/>
              </a:rPr>
              <a:t>スクワット
ボックスジャンプ</a:t>
            </a:r>
          </a:p>
        </p:txBody>
      </p:sp>
      <p:sp>
        <p:nvSpPr>
          <p:cNvPr id="48" name="TextBox 47"/>
          <p:cNvSpPr txBox="1"/>
          <p:nvPr/>
        </p:nvSpPr>
        <p:spPr>
          <a:xfrm>
            <a:off x="6318503" y="5120640"/>
            <a:ext cx="2651760" cy="1005840"/>
          </a:xfrm>
          <a:prstGeom prst="rect">
            <a:avLst/>
          </a:prstGeom>
          <a:noFill/>
        </p:spPr>
        <p:txBody>
          <a:bodyPr wrap="square">
            <a:spAutoFit/>
          </a:bodyPr>
          <a:lstStyle/>
          <a:p>
            <a:pPr algn="ctr"/>
            <a:r>
              <a:rPr sz="1100" b="0">
                <a:solidFill>
                  <a:srgbClr val="7F8C8D"/>
                </a:solidFill>
                <a:latin typeface="Meiryo"/>
              </a:rPr>
              <a:t>スクワットから
ボックス上へ</a:t>
            </a:r>
          </a:p>
        </p:txBody>
      </p:sp>
      <p:sp>
        <p:nvSpPr>
          <p:cNvPr id="49" name="Rectangle 48"/>
          <p:cNvSpPr/>
          <p:nvPr/>
        </p:nvSpPr>
        <p:spPr>
          <a:xfrm>
            <a:off x="9226296"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226296" y="388620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99448" y="3950208"/>
            <a:ext cx="731520" cy="292608"/>
          </a:xfrm>
          <a:prstGeom prst="rect">
            <a:avLst/>
          </a:prstGeom>
          <a:noFill/>
        </p:spPr>
        <p:txBody>
          <a:bodyPr wrap="square">
            <a:spAutoFit/>
          </a:bodyPr>
          <a:lstStyle/>
          <a:p>
            <a:pPr algn="l"/>
            <a:r>
              <a:rPr sz="1000" b="1">
                <a:solidFill>
                  <a:srgbClr val="FFFFFF"/>
                </a:solidFill>
                <a:latin typeface="Meiryo"/>
              </a:rPr>
              <a:t>18.33</a:t>
            </a:r>
          </a:p>
        </p:txBody>
      </p:sp>
      <p:sp>
        <p:nvSpPr>
          <p:cNvPr id="52" name="TextBox 51"/>
          <p:cNvSpPr txBox="1"/>
          <p:nvPr/>
        </p:nvSpPr>
        <p:spPr>
          <a:xfrm>
            <a:off x="11237976" y="395020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53" name="TextBox 52"/>
          <p:cNvSpPr txBox="1"/>
          <p:nvPr/>
        </p:nvSpPr>
        <p:spPr>
          <a:xfrm>
            <a:off x="9317736" y="4361688"/>
            <a:ext cx="2651760" cy="685800"/>
          </a:xfrm>
          <a:prstGeom prst="rect">
            <a:avLst/>
          </a:prstGeom>
          <a:noFill/>
        </p:spPr>
        <p:txBody>
          <a:bodyPr wrap="square">
            <a:spAutoFit/>
          </a:bodyPr>
          <a:lstStyle/>
          <a:p>
            <a:pPr algn="ctr"/>
            <a:r>
              <a:rPr sz="1200" b="1">
                <a:solidFill>
                  <a:srgbClr val="1A3A5C"/>
                </a:solidFill>
                <a:latin typeface="Meiryo"/>
              </a:rPr>
              <a:t>ラテラル
ボックスジャンプ</a:t>
            </a:r>
          </a:p>
        </p:txBody>
      </p:sp>
      <p:sp>
        <p:nvSpPr>
          <p:cNvPr id="54" name="TextBox 53"/>
          <p:cNvSpPr txBox="1"/>
          <p:nvPr/>
        </p:nvSpPr>
        <p:spPr>
          <a:xfrm>
            <a:off x="9317736" y="5120640"/>
            <a:ext cx="2651760" cy="1005840"/>
          </a:xfrm>
          <a:prstGeom prst="rect">
            <a:avLst/>
          </a:prstGeom>
          <a:noFill/>
        </p:spPr>
        <p:txBody>
          <a:bodyPr wrap="square">
            <a:spAutoFit/>
          </a:bodyPr>
          <a:lstStyle/>
          <a:p>
            <a:pPr algn="ctr"/>
            <a:r>
              <a:rPr sz="1100" b="0">
                <a:solidFill>
                  <a:srgbClr val="7F8C8D"/>
                </a:solidFill>
                <a:latin typeface="Meiryo"/>
              </a:rPr>
              <a:t>横方向に
ボックスの上へ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⑤  デプスジャンプ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Depth Jumps  |  強度：高  ★最高強度</a:t>
            </a:r>
          </a:p>
        </p:txBody>
      </p:sp>
      <p:sp>
        <p:nvSpPr>
          <p:cNvPr id="7" name="Rectangle 6"/>
          <p:cNvSpPr/>
          <p:nvPr/>
        </p:nvSpPr>
        <p:spPr>
          <a:xfrm>
            <a:off x="274320" y="1371600"/>
            <a:ext cx="11640312" cy="594360"/>
          </a:xfrm>
          <a:prstGeom prst="rect">
            <a:avLst/>
          </a:prstGeom>
          <a:solidFill>
            <a:srgbClr val="FFEBE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35608"/>
            <a:ext cx="11247120" cy="457200"/>
          </a:xfrm>
          <a:prstGeom prst="rect">
            <a:avLst/>
          </a:prstGeom>
          <a:noFill/>
        </p:spPr>
        <p:txBody>
          <a:bodyPr wrap="square">
            <a:spAutoFit/>
          </a:bodyPr>
          <a:lstStyle/>
          <a:p>
            <a:pPr algn="l"/>
            <a:r>
              <a:rPr sz="1300" b="1">
                <a:solidFill>
                  <a:srgbClr val="E74C3C"/>
                </a:solidFill>
                <a:latin typeface="Meiryo"/>
              </a:rPr>
              <a:t>注意：デプスジャンプは最高強度のドリルです。必ず段階的な評価・指導のもとで実施してください。</a:t>
            </a:r>
          </a:p>
        </p:txBody>
      </p:sp>
      <p:sp>
        <p:nvSpPr>
          <p:cNvPr id="9" name="Rectangle 8"/>
          <p:cNvSpPr/>
          <p:nvPr/>
        </p:nvSpPr>
        <p:spPr>
          <a:xfrm>
            <a:off x="228600"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 y="2203704"/>
            <a:ext cx="731520" cy="292608"/>
          </a:xfrm>
          <a:prstGeom prst="rect">
            <a:avLst/>
          </a:prstGeom>
          <a:noFill/>
        </p:spPr>
        <p:txBody>
          <a:bodyPr wrap="square">
            <a:spAutoFit/>
          </a:bodyPr>
          <a:lstStyle/>
          <a:p>
            <a:pPr algn="l"/>
            <a:r>
              <a:rPr sz="1000" b="1">
                <a:solidFill>
                  <a:srgbClr val="FFFFFF"/>
                </a:solidFill>
                <a:latin typeface="Meiryo"/>
              </a:rPr>
              <a:t>18.34</a:t>
            </a:r>
          </a:p>
        </p:txBody>
      </p:sp>
      <p:sp>
        <p:nvSpPr>
          <p:cNvPr id="12" name="TextBox 11"/>
          <p:cNvSpPr txBox="1"/>
          <p:nvPr/>
        </p:nvSpPr>
        <p:spPr>
          <a:xfrm>
            <a:off x="320040" y="2606040"/>
            <a:ext cx="2651760" cy="685800"/>
          </a:xfrm>
          <a:prstGeom prst="rect">
            <a:avLst/>
          </a:prstGeom>
          <a:noFill/>
        </p:spPr>
        <p:txBody>
          <a:bodyPr wrap="square">
            <a:spAutoFit/>
          </a:bodyPr>
          <a:lstStyle/>
          <a:p>
            <a:pPr algn="ctr"/>
            <a:r>
              <a:rPr sz="1200" b="1">
                <a:solidFill>
                  <a:srgbClr val="1A3A5C"/>
                </a:solidFill>
                <a:latin typeface="Meiryo"/>
              </a:rPr>
              <a:t>ドロップ
フリーズ</a:t>
            </a:r>
          </a:p>
        </p:txBody>
      </p:sp>
      <p:sp>
        <p:nvSpPr>
          <p:cNvPr id="13" name="TextBox 12"/>
          <p:cNvSpPr txBox="1"/>
          <p:nvPr/>
        </p:nvSpPr>
        <p:spPr>
          <a:xfrm>
            <a:off x="320040" y="3337560"/>
            <a:ext cx="2651760" cy="777240"/>
          </a:xfrm>
          <a:prstGeom prst="rect">
            <a:avLst/>
          </a:prstGeom>
          <a:noFill/>
        </p:spPr>
        <p:txBody>
          <a:bodyPr wrap="square">
            <a:spAutoFit/>
          </a:bodyPr>
          <a:lstStyle/>
          <a:p>
            <a:pPr algn="ctr"/>
            <a:r>
              <a:rPr sz="1100" b="0">
                <a:solidFill>
                  <a:srgbClr val="7F8C8D"/>
                </a:solidFill>
                <a:latin typeface="Meiryo"/>
              </a:rPr>
              <a:t>降りて着地で静止
フォームの確認用</a:t>
            </a:r>
          </a:p>
        </p:txBody>
      </p:sp>
      <p:sp>
        <p:nvSpPr>
          <p:cNvPr id="14" name="Rectangle 13"/>
          <p:cNvSpPr/>
          <p:nvPr/>
        </p:nvSpPr>
        <p:spPr>
          <a:xfrm>
            <a:off x="3227832"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7832"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00984" y="2203704"/>
            <a:ext cx="731520" cy="292608"/>
          </a:xfrm>
          <a:prstGeom prst="rect">
            <a:avLst/>
          </a:prstGeom>
          <a:noFill/>
        </p:spPr>
        <p:txBody>
          <a:bodyPr wrap="square">
            <a:spAutoFit/>
          </a:bodyPr>
          <a:lstStyle/>
          <a:p>
            <a:pPr algn="l"/>
            <a:r>
              <a:rPr sz="1000" b="1">
                <a:solidFill>
                  <a:srgbClr val="FFFFFF"/>
                </a:solidFill>
                <a:latin typeface="Meiryo"/>
              </a:rPr>
              <a:t>18.35</a:t>
            </a:r>
          </a:p>
        </p:txBody>
      </p:sp>
      <p:sp>
        <p:nvSpPr>
          <p:cNvPr id="17" name="TextBox 16"/>
          <p:cNvSpPr txBox="1"/>
          <p:nvPr/>
        </p:nvSpPr>
        <p:spPr>
          <a:xfrm>
            <a:off x="3319272" y="2606040"/>
            <a:ext cx="2651760" cy="685800"/>
          </a:xfrm>
          <a:prstGeom prst="rect">
            <a:avLst/>
          </a:prstGeom>
          <a:noFill/>
        </p:spPr>
        <p:txBody>
          <a:bodyPr wrap="square">
            <a:spAutoFit/>
          </a:bodyPr>
          <a:lstStyle/>
          <a:p>
            <a:pPr algn="ctr"/>
            <a:r>
              <a:rPr sz="1200" b="1">
                <a:solidFill>
                  <a:srgbClr val="1A3A5C"/>
                </a:solidFill>
                <a:latin typeface="Meiryo"/>
              </a:rPr>
              <a:t>デプスジャンプ</a:t>
            </a:r>
          </a:p>
        </p:txBody>
      </p:sp>
      <p:sp>
        <p:nvSpPr>
          <p:cNvPr id="18" name="TextBox 17"/>
          <p:cNvSpPr txBox="1"/>
          <p:nvPr/>
        </p:nvSpPr>
        <p:spPr>
          <a:xfrm>
            <a:off x="3319272" y="3337560"/>
            <a:ext cx="2651760" cy="777240"/>
          </a:xfrm>
          <a:prstGeom prst="rect">
            <a:avLst/>
          </a:prstGeom>
          <a:noFill/>
        </p:spPr>
        <p:txBody>
          <a:bodyPr wrap="square">
            <a:spAutoFit/>
          </a:bodyPr>
          <a:lstStyle/>
          <a:p>
            <a:pPr algn="ctr"/>
            <a:r>
              <a:rPr sz="1100" b="0">
                <a:solidFill>
                  <a:srgbClr val="7F8C8D"/>
                </a:solidFill>
                <a:latin typeface="Meiryo"/>
              </a:rPr>
              <a:t>ボックスから降りて
即座に最大高さへ</a:t>
            </a:r>
          </a:p>
        </p:txBody>
      </p:sp>
      <p:sp>
        <p:nvSpPr>
          <p:cNvPr id="19" name="Rectangle 18"/>
          <p:cNvSpPr/>
          <p:nvPr/>
        </p:nvSpPr>
        <p:spPr>
          <a:xfrm>
            <a:off x="6227064"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0216" y="2203704"/>
            <a:ext cx="731520" cy="292608"/>
          </a:xfrm>
          <a:prstGeom prst="rect">
            <a:avLst/>
          </a:prstGeom>
          <a:noFill/>
        </p:spPr>
        <p:txBody>
          <a:bodyPr wrap="square">
            <a:spAutoFit/>
          </a:bodyPr>
          <a:lstStyle/>
          <a:p>
            <a:pPr algn="l"/>
            <a:r>
              <a:rPr sz="1000" b="1">
                <a:solidFill>
                  <a:srgbClr val="FFFFFF"/>
                </a:solidFill>
                <a:latin typeface="Meiryo"/>
              </a:rPr>
              <a:t>18.36</a:t>
            </a:r>
          </a:p>
        </p:txBody>
      </p:sp>
      <p:sp>
        <p:nvSpPr>
          <p:cNvPr id="22" name="TextBox 21"/>
          <p:cNvSpPr txBox="1"/>
          <p:nvPr/>
        </p:nvSpPr>
        <p:spPr>
          <a:xfrm>
            <a:off x="6318503" y="2606040"/>
            <a:ext cx="2651760" cy="685800"/>
          </a:xfrm>
          <a:prstGeom prst="rect">
            <a:avLst/>
          </a:prstGeom>
          <a:noFill/>
        </p:spPr>
        <p:txBody>
          <a:bodyPr wrap="square">
            <a:spAutoFit/>
          </a:bodyPr>
          <a:lstStyle/>
          <a:p>
            <a:pPr algn="ctr"/>
            <a:r>
              <a:rPr sz="1200" b="1">
                <a:solidFill>
                  <a:srgbClr val="1A3A5C"/>
                </a:solidFill>
                <a:latin typeface="Meiryo"/>
              </a:rPr>
              <a:t>デプスジャンプ
to セカンドボックス</a:t>
            </a:r>
          </a:p>
        </p:txBody>
      </p:sp>
      <p:sp>
        <p:nvSpPr>
          <p:cNvPr id="23" name="TextBox 22"/>
          <p:cNvSpPr txBox="1"/>
          <p:nvPr/>
        </p:nvSpPr>
        <p:spPr>
          <a:xfrm>
            <a:off x="6318503" y="3337560"/>
            <a:ext cx="2651760" cy="777240"/>
          </a:xfrm>
          <a:prstGeom prst="rect">
            <a:avLst/>
          </a:prstGeom>
          <a:noFill/>
        </p:spPr>
        <p:txBody>
          <a:bodyPr wrap="square">
            <a:spAutoFit/>
          </a:bodyPr>
          <a:lstStyle/>
          <a:p>
            <a:pPr algn="ctr"/>
            <a:r>
              <a:rPr sz="1100" b="0">
                <a:solidFill>
                  <a:srgbClr val="7F8C8D"/>
                </a:solidFill>
                <a:latin typeface="Meiryo"/>
              </a:rPr>
              <a:t>着地後に
第2ボックスへ跳ぶ</a:t>
            </a:r>
          </a:p>
        </p:txBody>
      </p:sp>
      <p:sp>
        <p:nvSpPr>
          <p:cNvPr id="24" name="Rectangle 23"/>
          <p:cNvSpPr/>
          <p:nvPr/>
        </p:nvSpPr>
        <p:spPr>
          <a:xfrm>
            <a:off x="9226296"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26296"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99448" y="2203704"/>
            <a:ext cx="731520" cy="292608"/>
          </a:xfrm>
          <a:prstGeom prst="rect">
            <a:avLst/>
          </a:prstGeom>
          <a:noFill/>
        </p:spPr>
        <p:txBody>
          <a:bodyPr wrap="square">
            <a:spAutoFit/>
          </a:bodyPr>
          <a:lstStyle/>
          <a:p>
            <a:pPr algn="l"/>
            <a:r>
              <a:rPr sz="1000" b="1">
                <a:solidFill>
                  <a:srgbClr val="FFFFFF"/>
                </a:solidFill>
                <a:latin typeface="Meiryo"/>
              </a:rPr>
              <a:t>18.37</a:t>
            </a:r>
          </a:p>
        </p:txBody>
      </p:sp>
      <p:sp>
        <p:nvSpPr>
          <p:cNvPr id="27" name="TextBox 26"/>
          <p:cNvSpPr txBox="1"/>
          <p:nvPr/>
        </p:nvSpPr>
        <p:spPr>
          <a:xfrm>
            <a:off x="9317736" y="2606040"/>
            <a:ext cx="2651760" cy="685800"/>
          </a:xfrm>
          <a:prstGeom prst="rect">
            <a:avLst/>
          </a:prstGeom>
          <a:noFill/>
        </p:spPr>
        <p:txBody>
          <a:bodyPr wrap="square">
            <a:spAutoFit/>
          </a:bodyPr>
          <a:lstStyle/>
          <a:p>
            <a:pPr algn="ctr"/>
            <a:r>
              <a:rPr sz="1200" b="1">
                <a:solidFill>
                  <a:srgbClr val="1A3A5C"/>
                </a:solidFill>
                <a:latin typeface="Meiryo"/>
              </a:rPr>
              <a:t>スクワット
デプスジャンプ</a:t>
            </a:r>
          </a:p>
        </p:txBody>
      </p:sp>
      <p:sp>
        <p:nvSpPr>
          <p:cNvPr id="28" name="TextBox 27"/>
          <p:cNvSpPr txBox="1"/>
          <p:nvPr/>
        </p:nvSpPr>
        <p:spPr>
          <a:xfrm>
            <a:off x="9317736" y="3337560"/>
            <a:ext cx="2651760" cy="777240"/>
          </a:xfrm>
          <a:prstGeom prst="rect">
            <a:avLst/>
          </a:prstGeom>
          <a:noFill/>
        </p:spPr>
        <p:txBody>
          <a:bodyPr wrap="square">
            <a:spAutoFit/>
          </a:bodyPr>
          <a:lstStyle/>
          <a:p>
            <a:pPr algn="ctr"/>
            <a:r>
              <a:rPr sz="1100" b="0">
                <a:solidFill>
                  <a:srgbClr val="7F8C8D"/>
                </a:solidFill>
                <a:latin typeface="Meiryo"/>
              </a:rPr>
              <a:t>着地後スクワット
して最大高さへ</a:t>
            </a:r>
          </a:p>
        </p:txBody>
      </p:sp>
      <p:sp>
        <p:nvSpPr>
          <p:cNvPr id="29" name="Rectangle 28"/>
          <p:cNvSpPr/>
          <p:nvPr/>
        </p:nvSpPr>
        <p:spPr>
          <a:xfrm>
            <a:off x="228600"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8600"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2" y="4626864"/>
            <a:ext cx="731520" cy="292608"/>
          </a:xfrm>
          <a:prstGeom prst="rect">
            <a:avLst/>
          </a:prstGeom>
          <a:noFill/>
        </p:spPr>
        <p:txBody>
          <a:bodyPr wrap="square">
            <a:spAutoFit/>
          </a:bodyPr>
          <a:lstStyle/>
          <a:p>
            <a:pPr algn="l"/>
            <a:r>
              <a:rPr sz="1000" b="1">
                <a:solidFill>
                  <a:srgbClr val="FFFFFF"/>
                </a:solidFill>
                <a:latin typeface="Meiryo"/>
              </a:rPr>
              <a:t>18.38</a:t>
            </a:r>
          </a:p>
        </p:txBody>
      </p:sp>
      <p:sp>
        <p:nvSpPr>
          <p:cNvPr id="32" name="TextBox 31"/>
          <p:cNvSpPr txBox="1"/>
          <p:nvPr/>
        </p:nvSpPr>
        <p:spPr>
          <a:xfrm>
            <a:off x="320040" y="5029200"/>
            <a:ext cx="2651760" cy="685800"/>
          </a:xfrm>
          <a:prstGeom prst="rect">
            <a:avLst/>
          </a:prstGeom>
          <a:noFill/>
        </p:spPr>
        <p:txBody>
          <a:bodyPr wrap="square">
            <a:spAutoFit/>
          </a:bodyPr>
          <a:lstStyle/>
          <a:p>
            <a:pPr algn="ctr"/>
            <a:r>
              <a:rPr sz="1200" b="1">
                <a:solidFill>
                  <a:srgbClr val="1A3A5C"/>
                </a:solidFill>
                <a:latin typeface="Meiryo"/>
              </a:rPr>
              <a:t>側方動作を伴う
デプスジャンプ</a:t>
            </a:r>
          </a:p>
        </p:txBody>
      </p:sp>
      <p:sp>
        <p:nvSpPr>
          <p:cNvPr id="33" name="TextBox 32"/>
          <p:cNvSpPr txBox="1"/>
          <p:nvPr/>
        </p:nvSpPr>
        <p:spPr>
          <a:xfrm>
            <a:off x="320040" y="5760720"/>
            <a:ext cx="2651760" cy="777240"/>
          </a:xfrm>
          <a:prstGeom prst="rect">
            <a:avLst/>
          </a:prstGeom>
          <a:noFill/>
        </p:spPr>
        <p:txBody>
          <a:bodyPr wrap="square">
            <a:spAutoFit/>
          </a:bodyPr>
          <a:lstStyle/>
          <a:p>
            <a:pPr algn="ctr"/>
            <a:r>
              <a:rPr sz="1100" b="0">
                <a:solidFill>
                  <a:srgbClr val="7F8C8D"/>
                </a:solidFill>
                <a:latin typeface="Meiryo"/>
              </a:rPr>
              <a:t>パートナーの合図で
方向を変えて跳ぶ</a:t>
            </a:r>
          </a:p>
        </p:txBody>
      </p:sp>
      <p:sp>
        <p:nvSpPr>
          <p:cNvPr id="34" name="Rectangle 33"/>
          <p:cNvSpPr/>
          <p:nvPr/>
        </p:nvSpPr>
        <p:spPr>
          <a:xfrm>
            <a:off x="3227832"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227832"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00984" y="4626864"/>
            <a:ext cx="731520" cy="292608"/>
          </a:xfrm>
          <a:prstGeom prst="rect">
            <a:avLst/>
          </a:prstGeom>
          <a:noFill/>
        </p:spPr>
        <p:txBody>
          <a:bodyPr wrap="square">
            <a:spAutoFit/>
          </a:bodyPr>
          <a:lstStyle/>
          <a:p>
            <a:pPr algn="l"/>
            <a:r>
              <a:rPr sz="1000" b="1">
                <a:solidFill>
                  <a:srgbClr val="FFFFFF"/>
                </a:solidFill>
                <a:latin typeface="Meiryo"/>
              </a:rPr>
              <a:t>18.39</a:t>
            </a:r>
          </a:p>
        </p:txBody>
      </p:sp>
      <p:sp>
        <p:nvSpPr>
          <p:cNvPr id="37" name="TextBox 36"/>
          <p:cNvSpPr txBox="1"/>
          <p:nvPr/>
        </p:nvSpPr>
        <p:spPr>
          <a:xfrm>
            <a:off x="3319272" y="5029200"/>
            <a:ext cx="2651760" cy="685800"/>
          </a:xfrm>
          <a:prstGeom prst="rect">
            <a:avLst/>
          </a:prstGeom>
          <a:noFill/>
        </p:spPr>
        <p:txBody>
          <a:bodyPr wrap="square">
            <a:spAutoFit/>
          </a:bodyPr>
          <a:lstStyle/>
          <a:p>
            <a:pPr algn="ctr"/>
            <a:r>
              <a:rPr sz="1200" b="1">
                <a:solidFill>
                  <a:srgbClr val="1A3A5C"/>
                </a:solidFill>
                <a:latin typeface="Meiryo"/>
              </a:rPr>
              <a:t>立ち幅跳びを伴う
デプスジャンプ</a:t>
            </a:r>
          </a:p>
        </p:txBody>
      </p:sp>
      <p:sp>
        <p:nvSpPr>
          <p:cNvPr id="38" name="TextBox 37"/>
          <p:cNvSpPr txBox="1"/>
          <p:nvPr/>
        </p:nvSpPr>
        <p:spPr>
          <a:xfrm>
            <a:off x="3319272" y="5760720"/>
            <a:ext cx="2651760" cy="777240"/>
          </a:xfrm>
          <a:prstGeom prst="rect">
            <a:avLst/>
          </a:prstGeom>
          <a:noFill/>
        </p:spPr>
        <p:txBody>
          <a:bodyPr wrap="square">
            <a:spAutoFit/>
          </a:bodyPr>
          <a:lstStyle/>
          <a:p>
            <a:pPr algn="ctr"/>
            <a:r>
              <a:rPr sz="1100" b="0">
                <a:solidFill>
                  <a:srgbClr val="7F8C8D"/>
                </a:solidFill>
                <a:latin typeface="Meiryo"/>
              </a:rPr>
              <a:t>降りた後に最大距離
で前方ジャンプ</a:t>
            </a:r>
          </a:p>
        </p:txBody>
      </p:sp>
      <p:sp>
        <p:nvSpPr>
          <p:cNvPr id="39" name="Rectangle 38"/>
          <p:cNvSpPr/>
          <p:nvPr/>
        </p:nvSpPr>
        <p:spPr>
          <a:xfrm>
            <a:off x="6227064"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27064"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0216" y="4626864"/>
            <a:ext cx="731520" cy="292608"/>
          </a:xfrm>
          <a:prstGeom prst="rect">
            <a:avLst/>
          </a:prstGeom>
          <a:noFill/>
        </p:spPr>
        <p:txBody>
          <a:bodyPr wrap="square">
            <a:spAutoFit/>
          </a:bodyPr>
          <a:lstStyle/>
          <a:p>
            <a:pPr algn="l"/>
            <a:r>
              <a:rPr sz="1000" b="1">
                <a:solidFill>
                  <a:srgbClr val="FFFFFF"/>
                </a:solidFill>
                <a:latin typeface="Meiryo"/>
              </a:rPr>
              <a:t>18.40</a:t>
            </a:r>
          </a:p>
        </p:txBody>
      </p:sp>
      <p:sp>
        <p:nvSpPr>
          <p:cNvPr id="42" name="TextBox 41"/>
          <p:cNvSpPr txBox="1"/>
          <p:nvPr/>
        </p:nvSpPr>
        <p:spPr>
          <a:xfrm>
            <a:off x="6318503" y="5029200"/>
            <a:ext cx="2651760" cy="685800"/>
          </a:xfrm>
          <a:prstGeom prst="rect">
            <a:avLst/>
          </a:prstGeom>
          <a:noFill/>
        </p:spPr>
        <p:txBody>
          <a:bodyPr wrap="square">
            <a:spAutoFit/>
          </a:bodyPr>
          <a:lstStyle/>
          <a:p>
            <a:pPr algn="ctr"/>
            <a:r>
              <a:rPr sz="1200" b="1">
                <a:solidFill>
                  <a:srgbClr val="1A3A5C"/>
                </a:solidFill>
                <a:latin typeface="Meiryo"/>
              </a:rPr>
              <a:t>デプスジャンプ
180°ターン</a:t>
            </a:r>
          </a:p>
        </p:txBody>
      </p:sp>
      <p:sp>
        <p:nvSpPr>
          <p:cNvPr id="43" name="TextBox 42"/>
          <p:cNvSpPr txBox="1"/>
          <p:nvPr/>
        </p:nvSpPr>
        <p:spPr>
          <a:xfrm>
            <a:off x="6318503" y="5760720"/>
            <a:ext cx="2651760" cy="777240"/>
          </a:xfrm>
          <a:prstGeom prst="rect">
            <a:avLst/>
          </a:prstGeom>
          <a:noFill/>
        </p:spPr>
        <p:txBody>
          <a:bodyPr wrap="square">
            <a:spAutoFit/>
          </a:bodyPr>
          <a:lstStyle/>
          <a:p>
            <a:pPr algn="ctr"/>
            <a:r>
              <a:rPr sz="1100" b="0">
                <a:solidFill>
                  <a:srgbClr val="7F8C8D"/>
                </a:solidFill>
                <a:latin typeface="Meiryo"/>
              </a:rPr>
              <a:t>空中で180°回転
高い協調性が必要</a:t>
            </a:r>
          </a:p>
        </p:txBody>
      </p:sp>
      <p:sp>
        <p:nvSpPr>
          <p:cNvPr id="44" name="Rectangle 43"/>
          <p:cNvSpPr/>
          <p:nvPr/>
        </p:nvSpPr>
        <p:spPr>
          <a:xfrm>
            <a:off x="9226296"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226296"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99448" y="4626864"/>
            <a:ext cx="731520" cy="292608"/>
          </a:xfrm>
          <a:prstGeom prst="rect">
            <a:avLst/>
          </a:prstGeom>
          <a:noFill/>
        </p:spPr>
        <p:txBody>
          <a:bodyPr wrap="square">
            <a:spAutoFit/>
          </a:bodyPr>
          <a:lstStyle/>
          <a:p>
            <a:pPr algn="l"/>
            <a:r>
              <a:rPr sz="1000" b="1">
                <a:solidFill>
                  <a:srgbClr val="FFFFFF"/>
                </a:solidFill>
                <a:latin typeface="Meiryo"/>
              </a:rPr>
              <a:t>18.41</a:t>
            </a:r>
          </a:p>
        </p:txBody>
      </p:sp>
      <p:sp>
        <p:nvSpPr>
          <p:cNvPr id="47" name="TextBox 46"/>
          <p:cNvSpPr txBox="1"/>
          <p:nvPr/>
        </p:nvSpPr>
        <p:spPr>
          <a:xfrm>
            <a:off x="9317736" y="5029200"/>
            <a:ext cx="2651760" cy="685800"/>
          </a:xfrm>
          <a:prstGeom prst="rect">
            <a:avLst/>
          </a:prstGeom>
          <a:noFill/>
        </p:spPr>
        <p:txBody>
          <a:bodyPr wrap="square">
            <a:spAutoFit/>
          </a:bodyPr>
          <a:lstStyle/>
          <a:p>
            <a:pPr algn="ctr"/>
            <a:r>
              <a:rPr sz="1200" b="1">
                <a:solidFill>
                  <a:srgbClr val="1A3A5C"/>
                </a:solidFill>
                <a:latin typeface="Meiryo"/>
              </a:rPr>
              <a:t>シングルレッグ
デプスジャンプ</a:t>
            </a:r>
          </a:p>
        </p:txBody>
      </p:sp>
      <p:sp>
        <p:nvSpPr>
          <p:cNvPr id="48" name="TextBox 47"/>
          <p:cNvSpPr txBox="1"/>
          <p:nvPr/>
        </p:nvSpPr>
        <p:spPr>
          <a:xfrm>
            <a:off x="9317736" y="5760720"/>
            <a:ext cx="2651760" cy="777240"/>
          </a:xfrm>
          <a:prstGeom prst="rect">
            <a:avLst/>
          </a:prstGeom>
          <a:noFill/>
        </p:spPr>
        <p:txBody>
          <a:bodyPr wrap="square">
            <a:spAutoFit/>
          </a:bodyPr>
          <a:lstStyle/>
          <a:p>
            <a:pPr algn="ctr"/>
            <a:r>
              <a:rPr sz="1100" b="0">
                <a:solidFill>
                  <a:srgbClr val="7F8C8D"/>
                </a:solidFill>
                <a:latin typeface="Meiryo"/>
              </a:rPr>
              <a:t>片脚でのデプスジャンプ
最も高難度</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上半身・体幹のプライオメトリクス</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Upper Body &amp; Core Plyometrics</a:t>
            </a:r>
          </a:p>
        </p:txBody>
      </p:sp>
      <p:sp>
        <p:nvSpPr>
          <p:cNvPr id="7" name="Rectangle 6"/>
          <p:cNvSpPr/>
          <p:nvPr/>
        </p:nvSpPr>
        <p:spPr>
          <a:xfrm>
            <a:off x="274320"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417320"/>
            <a:ext cx="2834640" cy="38404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481328"/>
            <a:ext cx="731520" cy="292608"/>
          </a:xfrm>
          <a:prstGeom prst="rect">
            <a:avLst/>
          </a:prstGeom>
          <a:noFill/>
        </p:spPr>
        <p:txBody>
          <a:bodyPr wrap="square">
            <a:spAutoFit/>
          </a:bodyPr>
          <a:lstStyle/>
          <a:p>
            <a:pPr algn="l"/>
            <a:r>
              <a:rPr sz="1000" b="1">
                <a:solidFill>
                  <a:srgbClr val="FFFFFF"/>
                </a:solidFill>
                <a:latin typeface="Meiryo"/>
              </a:rPr>
              <a:t>18.42</a:t>
            </a:r>
          </a:p>
        </p:txBody>
      </p:sp>
      <p:sp>
        <p:nvSpPr>
          <p:cNvPr id="10" name="TextBox 9"/>
          <p:cNvSpPr txBox="1"/>
          <p:nvPr/>
        </p:nvSpPr>
        <p:spPr>
          <a:xfrm>
            <a:off x="2286000" y="1481328"/>
            <a:ext cx="777240" cy="292608"/>
          </a:xfrm>
          <a:prstGeom prst="rect">
            <a:avLst/>
          </a:prstGeom>
          <a:noFill/>
        </p:spPr>
        <p:txBody>
          <a:bodyPr wrap="square">
            <a:spAutoFit/>
          </a:bodyPr>
          <a:lstStyle/>
          <a:p>
            <a:pPr algn="r"/>
            <a:r>
              <a:rPr sz="1000" b="1">
                <a:solidFill>
                  <a:srgbClr val="FFFFFF"/>
                </a:solidFill>
                <a:latin typeface="Meiryo"/>
              </a:rPr>
              <a:t>低</a:t>
            </a:r>
          </a:p>
        </p:txBody>
      </p:sp>
      <p:sp>
        <p:nvSpPr>
          <p:cNvPr id="11" name="TextBox 10"/>
          <p:cNvSpPr txBox="1"/>
          <p:nvPr/>
        </p:nvSpPr>
        <p:spPr>
          <a:xfrm>
            <a:off x="365760" y="1892808"/>
            <a:ext cx="2651760" cy="685800"/>
          </a:xfrm>
          <a:prstGeom prst="rect">
            <a:avLst/>
          </a:prstGeom>
          <a:noFill/>
        </p:spPr>
        <p:txBody>
          <a:bodyPr wrap="square">
            <a:spAutoFit/>
          </a:bodyPr>
          <a:lstStyle/>
          <a:p>
            <a:pPr algn="ctr"/>
            <a:r>
              <a:rPr sz="1200" b="1">
                <a:solidFill>
                  <a:srgbClr val="1A3A5C"/>
                </a:solidFill>
                <a:latin typeface="Meiryo"/>
              </a:rPr>
              <a:t>チェストパス</a:t>
            </a:r>
          </a:p>
        </p:txBody>
      </p:sp>
      <p:sp>
        <p:nvSpPr>
          <p:cNvPr id="12" name="TextBox 11"/>
          <p:cNvSpPr txBox="1"/>
          <p:nvPr/>
        </p:nvSpPr>
        <p:spPr>
          <a:xfrm>
            <a:off x="365760" y="26060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13" name="TextBox 12"/>
          <p:cNvSpPr txBox="1"/>
          <p:nvPr/>
        </p:nvSpPr>
        <p:spPr>
          <a:xfrm>
            <a:off x="365760" y="3017520"/>
            <a:ext cx="2651760" cy="914400"/>
          </a:xfrm>
          <a:prstGeom prst="rect">
            <a:avLst/>
          </a:prstGeom>
          <a:noFill/>
        </p:spPr>
        <p:txBody>
          <a:bodyPr wrap="square">
            <a:spAutoFit/>
          </a:bodyPr>
          <a:lstStyle/>
          <a:p>
            <a:pPr algn="ctr"/>
            <a:r>
              <a:rPr sz="1100" b="0">
                <a:solidFill>
                  <a:srgbClr val="7F8C8D"/>
                </a:solidFill>
                <a:latin typeface="Meiryo"/>
              </a:rPr>
              <a:t>胸からパートナーに
素早くパス</a:t>
            </a:r>
          </a:p>
        </p:txBody>
      </p:sp>
      <p:sp>
        <p:nvSpPr>
          <p:cNvPr id="14" name="Rectangle 13"/>
          <p:cNvSpPr/>
          <p:nvPr/>
        </p:nvSpPr>
        <p:spPr>
          <a:xfrm>
            <a:off x="3273551"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73551" y="1417320"/>
            <a:ext cx="2834640" cy="38404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6703" y="1481328"/>
            <a:ext cx="731520" cy="292608"/>
          </a:xfrm>
          <a:prstGeom prst="rect">
            <a:avLst/>
          </a:prstGeom>
          <a:noFill/>
        </p:spPr>
        <p:txBody>
          <a:bodyPr wrap="square">
            <a:spAutoFit/>
          </a:bodyPr>
          <a:lstStyle/>
          <a:p>
            <a:pPr algn="l"/>
            <a:r>
              <a:rPr sz="1000" b="1">
                <a:solidFill>
                  <a:srgbClr val="FFFFFF"/>
                </a:solidFill>
                <a:latin typeface="Meiryo"/>
              </a:rPr>
              <a:t>18.43</a:t>
            </a:r>
          </a:p>
        </p:txBody>
      </p:sp>
      <p:sp>
        <p:nvSpPr>
          <p:cNvPr id="17" name="TextBox 16"/>
          <p:cNvSpPr txBox="1"/>
          <p:nvPr/>
        </p:nvSpPr>
        <p:spPr>
          <a:xfrm>
            <a:off x="5285231" y="1481328"/>
            <a:ext cx="777240" cy="292608"/>
          </a:xfrm>
          <a:prstGeom prst="rect">
            <a:avLst/>
          </a:prstGeom>
          <a:noFill/>
        </p:spPr>
        <p:txBody>
          <a:bodyPr wrap="square">
            <a:spAutoFit/>
          </a:bodyPr>
          <a:lstStyle/>
          <a:p>
            <a:pPr algn="r"/>
            <a:r>
              <a:rPr sz="1000" b="1">
                <a:solidFill>
                  <a:srgbClr val="FFFFFF"/>
                </a:solidFill>
                <a:latin typeface="Meiryo"/>
              </a:rPr>
              <a:t>低</a:t>
            </a:r>
          </a:p>
        </p:txBody>
      </p:sp>
      <p:sp>
        <p:nvSpPr>
          <p:cNvPr id="18" name="TextBox 17"/>
          <p:cNvSpPr txBox="1"/>
          <p:nvPr/>
        </p:nvSpPr>
        <p:spPr>
          <a:xfrm>
            <a:off x="3364991" y="1892808"/>
            <a:ext cx="2651760" cy="685800"/>
          </a:xfrm>
          <a:prstGeom prst="rect">
            <a:avLst/>
          </a:prstGeom>
          <a:noFill/>
        </p:spPr>
        <p:txBody>
          <a:bodyPr wrap="square">
            <a:spAutoFit/>
          </a:bodyPr>
          <a:lstStyle/>
          <a:p>
            <a:pPr algn="ctr"/>
            <a:r>
              <a:rPr sz="1200" b="1">
                <a:solidFill>
                  <a:srgbClr val="1A3A5C"/>
                </a:solidFill>
                <a:latin typeface="Meiryo"/>
              </a:rPr>
              <a:t>オーバーヘッド
スロー</a:t>
            </a:r>
          </a:p>
        </p:txBody>
      </p:sp>
      <p:sp>
        <p:nvSpPr>
          <p:cNvPr id="19" name="TextBox 18"/>
          <p:cNvSpPr txBox="1"/>
          <p:nvPr/>
        </p:nvSpPr>
        <p:spPr>
          <a:xfrm>
            <a:off x="3364991" y="26060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20" name="TextBox 19"/>
          <p:cNvSpPr txBox="1"/>
          <p:nvPr/>
        </p:nvSpPr>
        <p:spPr>
          <a:xfrm>
            <a:off x="3364991" y="3017520"/>
            <a:ext cx="2651760" cy="914400"/>
          </a:xfrm>
          <a:prstGeom prst="rect">
            <a:avLst/>
          </a:prstGeom>
          <a:noFill/>
        </p:spPr>
        <p:txBody>
          <a:bodyPr wrap="square">
            <a:spAutoFit/>
          </a:bodyPr>
          <a:lstStyle/>
          <a:p>
            <a:pPr algn="ctr"/>
            <a:r>
              <a:rPr sz="1100" b="0">
                <a:solidFill>
                  <a:srgbClr val="7F8C8D"/>
                </a:solidFill>
                <a:latin typeface="Meiryo"/>
              </a:rPr>
              <a:t>頭上から両手で
前方に投げる</a:t>
            </a:r>
          </a:p>
        </p:txBody>
      </p:sp>
      <p:sp>
        <p:nvSpPr>
          <p:cNvPr id="21" name="Rectangle 20"/>
          <p:cNvSpPr/>
          <p:nvPr/>
        </p:nvSpPr>
        <p:spPr>
          <a:xfrm>
            <a:off x="6272783"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72783"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5936" y="1481328"/>
            <a:ext cx="731520" cy="292608"/>
          </a:xfrm>
          <a:prstGeom prst="rect">
            <a:avLst/>
          </a:prstGeom>
          <a:noFill/>
        </p:spPr>
        <p:txBody>
          <a:bodyPr wrap="square">
            <a:spAutoFit/>
          </a:bodyPr>
          <a:lstStyle/>
          <a:p>
            <a:pPr algn="l"/>
            <a:r>
              <a:rPr sz="1000" b="1">
                <a:solidFill>
                  <a:srgbClr val="FFFFFF"/>
                </a:solidFill>
                <a:latin typeface="Meiryo"/>
              </a:rPr>
              <a:t>18.44</a:t>
            </a:r>
          </a:p>
        </p:txBody>
      </p:sp>
      <p:sp>
        <p:nvSpPr>
          <p:cNvPr id="24" name="TextBox 23"/>
          <p:cNvSpPr txBox="1"/>
          <p:nvPr/>
        </p:nvSpPr>
        <p:spPr>
          <a:xfrm>
            <a:off x="8284463"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25" name="TextBox 24"/>
          <p:cNvSpPr txBox="1"/>
          <p:nvPr/>
        </p:nvSpPr>
        <p:spPr>
          <a:xfrm>
            <a:off x="6364223" y="1892808"/>
            <a:ext cx="2651760" cy="685800"/>
          </a:xfrm>
          <a:prstGeom prst="rect">
            <a:avLst/>
          </a:prstGeom>
          <a:noFill/>
        </p:spPr>
        <p:txBody>
          <a:bodyPr wrap="square">
            <a:spAutoFit/>
          </a:bodyPr>
          <a:lstStyle/>
          <a:p>
            <a:pPr algn="ctr"/>
            <a:r>
              <a:rPr sz="1200" b="1">
                <a:solidFill>
                  <a:srgbClr val="1A3A5C"/>
                </a:solidFill>
                <a:latin typeface="Meiryo"/>
              </a:rPr>
              <a:t>サイドトゥーサイド
スロー</a:t>
            </a:r>
          </a:p>
        </p:txBody>
      </p:sp>
      <p:sp>
        <p:nvSpPr>
          <p:cNvPr id="26" name="TextBox 25"/>
          <p:cNvSpPr txBox="1"/>
          <p:nvPr/>
        </p:nvSpPr>
        <p:spPr>
          <a:xfrm>
            <a:off x="6364223" y="26060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27" name="TextBox 26"/>
          <p:cNvSpPr txBox="1"/>
          <p:nvPr/>
        </p:nvSpPr>
        <p:spPr>
          <a:xfrm>
            <a:off x="6364223" y="3017520"/>
            <a:ext cx="2651760" cy="914400"/>
          </a:xfrm>
          <a:prstGeom prst="rect">
            <a:avLst/>
          </a:prstGeom>
          <a:noFill/>
        </p:spPr>
        <p:txBody>
          <a:bodyPr wrap="square">
            <a:spAutoFit/>
          </a:bodyPr>
          <a:lstStyle/>
          <a:p>
            <a:pPr algn="ctr"/>
            <a:r>
              <a:rPr sz="1100" b="0">
                <a:solidFill>
                  <a:srgbClr val="7F8C8D"/>
                </a:solidFill>
                <a:latin typeface="Meiryo"/>
              </a:rPr>
              <a:t>体を回旋させながら
サイドに投げる</a:t>
            </a:r>
          </a:p>
        </p:txBody>
      </p:sp>
      <p:sp>
        <p:nvSpPr>
          <p:cNvPr id="28" name="Rectangle 27"/>
          <p:cNvSpPr/>
          <p:nvPr/>
        </p:nvSpPr>
        <p:spPr>
          <a:xfrm>
            <a:off x="9272016"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72016"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45168" y="1481328"/>
            <a:ext cx="731520" cy="292608"/>
          </a:xfrm>
          <a:prstGeom prst="rect">
            <a:avLst/>
          </a:prstGeom>
          <a:noFill/>
        </p:spPr>
        <p:txBody>
          <a:bodyPr wrap="square">
            <a:spAutoFit/>
          </a:bodyPr>
          <a:lstStyle/>
          <a:p>
            <a:pPr algn="l"/>
            <a:r>
              <a:rPr sz="1000" b="1">
                <a:solidFill>
                  <a:srgbClr val="FFFFFF"/>
                </a:solidFill>
                <a:latin typeface="Meiryo"/>
              </a:rPr>
              <a:t>18.45</a:t>
            </a:r>
          </a:p>
        </p:txBody>
      </p:sp>
      <p:sp>
        <p:nvSpPr>
          <p:cNvPr id="31" name="TextBox 30"/>
          <p:cNvSpPr txBox="1"/>
          <p:nvPr/>
        </p:nvSpPr>
        <p:spPr>
          <a:xfrm>
            <a:off x="11283696"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32" name="TextBox 31"/>
          <p:cNvSpPr txBox="1"/>
          <p:nvPr/>
        </p:nvSpPr>
        <p:spPr>
          <a:xfrm>
            <a:off x="9363456" y="1892808"/>
            <a:ext cx="2651760" cy="685800"/>
          </a:xfrm>
          <a:prstGeom prst="rect">
            <a:avLst/>
          </a:prstGeom>
          <a:noFill/>
        </p:spPr>
        <p:txBody>
          <a:bodyPr wrap="square">
            <a:spAutoFit/>
          </a:bodyPr>
          <a:lstStyle/>
          <a:p>
            <a:pPr algn="ctr"/>
            <a:r>
              <a:rPr sz="1200" b="1">
                <a:solidFill>
                  <a:srgbClr val="1A3A5C"/>
                </a:solidFill>
                <a:latin typeface="Meiryo"/>
              </a:rPr>
              <a:t>シングルアーム
スロー</a:t>
            </a:r>
          </a:p>
        </p:txBody>
      </p:sp>
      <p:sp>
        <p:nvSpPr>
          <p:cNvPr id="33" name="TextBox 32"/>
          <p:cNvSpPr txBox="1"/>
          <p:nvPr/>
        </p:nvSpPr>
        <p:spPr>
          <a:xfrm>
            <a:off x="9363456" y="2606040"/>
            <a:ext cx="2651760" cy="365760"/>
          </a:xfrm>
          <a:prstGeom prst="rect">
            <a:avLst/>
          </a:prstGeom>
          <a:noFill/>
        </p:spPr>
        <p:txBody>
          <a:bodyPr wrap="square">
            <a:spAutoFit/>
          </a:bodyPr>
          <a:lstStyle/>
          <a:p>
            <a:pPr algn="ctr"/>
            <a:r>
              <a:rPr sz="1000" b="0">
                <a:solidFill>
                  <a:srgbClr val="2E86C1"/>
                </a:solidFill>
                <a:latin typeface="Meiryo"/>
              </a:rPr>
              <a:t>MB 0.5-1.5kg</a:t>
            </a:r>
          </a:p>
        </p:txBody>
      </p:sp>
      <p:sp>
        <p:nvSpPr>
          <p:cNvPr id="34" name="TextBox 33"/>
          <p:cNvSpPr txBox="1"/>
          <p:nvPr/>
        </p:nvSpPr>
        <p:spPr>
          <a:xfrm>
            <a:off x="9363456" y="3017520"/>
            <a:ext cx="2651760" cy="914400"/>
          </a:xfrm>
          <a:prstGeom prst="rect">
            <a:avLst/>
          </a:prstGeom>
          <a:noFill/>
        </p:spPr>
        <p:txBody>
          <a:bodyPr wrap="square">
            <a:spAutoFit/>
          </a:bodyPr>
          <a:lstStyle/>
          <a:p>
            <a:pPr algn="ctr"/>
            <a:r>
              <a:rPr sz="1100" b="0">
                <a:solidFill>
                  <a:srgbClr val="7F8C8D"/>
                </a:solidFill>
                <a:latin typeface="Meiryo"/>
              </a:rPr>
              <a:t>片腕で投げる
体幹回旋も使う</a:t>
            </a:r>
          </a:p>
        </p:txBody>
      </p:sp>
      <p:sp>
        <p:nvSpPr>
          <p:cNvPr id="35" name="Rectangle 34"/>
          <p:cNvSpPr/>
          <p:nvPr/>
        </p:nvSpPr>
        <p:spPr>
          <a:xfrm>
            <a:off x="1691640" y="39319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691640" y="3931920"/>
            <a:ext cx="2834640" cy="384048"/>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64792" y="3995928"/>
            <a:ext cx="731520" cy="292608"/>
          </a:xfrm>
          <a:prstGeom prst="rect">
            <a:avLst/>
          </a:prstGeom>
          <a:noFill/>
        </p:spPr>
        <p:txBody>
          <a:bodyPr wrap="square">
            <a:spAutoFit/>
          </a:bodyPr>
          <a:lstStyle/>
          <a:p>
            <a:pPr algn="l"/>
            <a:r>
              <a:rPr sz="1000" b="1">
                <a:solidFill>
                  <a:srgbClr val="FFFFFF"/>
                </a:solidFill>
                <a:latin typeface="Meiryo"/>
              </a:rPr>
              <a:t>18.46</a:t>
            </a:r>
          </a:p>
        </p:txBody>
      </p:sp>
      <p:sp>
        <p:nvSpPr>
          <p:cNvPr id="38" name="TextBox 37"/>
          <p:cNvSpPr txBox="1"/>
          <p:nvPr/>
        </p:nvSpPr>
        <p:spPr>
          <a:xfrm>
            <a:off x="3703320" y="3995928"/>
            <a:ext cx="777240" cy="292608"/>
          </a:xfrm>
          <a:prstGeom prst="rect">
            <a:avLst/>
          </a:prstGeom>
          <a:noFill/>
        </p:spPr>
        <p:txBody>
          <a:bodyPr wrap="square">
            <a:spAutoFit/>
          </a:bodyPr>
          <a:lstStyle/>
          <a:p>
            <a:pPr algn="r"/>
            <a:r>
              <a:rPr sz="1000" b="1">
                <a:solidFill>
                  <a:srgbClr val="FFFFFF"/>
                </a:solidFill>
                <a:latin typeface="Meiryo"/>
              </a:rPr>
              <a:t>高</a:t>
            </a:r>
          </a:p>
        </p:txBody>
      </p:sp>
      <p:sp>
        <p:nvSpPr>
          <p:cNvPr id="39" name="TextBox 38"/>
          <p:cNvSpPr txBox="1"/>
          <p:nvPr/>
        </p:nvSpPr>
        <p:spPr>
          <a:xfrm>
            <a:off x="1783080" y="4407408"/>
            <a:ext cx="2651760" cy="685800"/>
          </a:xfrm>
          <a:prstGeom prst="rect">
            <a:avLst/>
          </a:prstGeom>
          <a:noFill/>
        </p:spPr>
        <p:txBody>
          <a:bodyPr wrap="square">
            <a:spAutoFit/>
          </a:bodyPr>
          <a:lstStyle/>
          <a:p>
            <a:pPr algn="ctr"/>
            <a:r>
              <a:rPr sz="1200" b="1">
                <a:solidFill>
                  <a:srgbClr val="1A3A5C"/>
                </a:solidFill>
                <a:latin typeface="Meiryo"/>
              </a:rPr>
              <a:t>パワー
ドロップ</a:t>
            </a:r>
          </a:p>
        </p:txBody>
      </p:sp>
      <p:sp>
        <p:nvSpPr>
          <p:cNvPr id="40" name="TextBox 39"/>
          <p:cNvSpPr txBox="1"/>
          <p:nvPr/>
        </p:nvSpPr>
        <p:spPr>
          <a:xfrm>
            <a:off x="1783080" y="51206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41" name="TextBox 40"/>
          <p:cNvSpPr txBox="1"/>
          <p:nvPr/>
        </p:nvSpPr>
        <p:spPr>
          <a:xfrm>
            <a:off x="1783080" y="5532120"/>
            <a:ext cx="2651760" cy="914400"/>
          </a:xfrm>
          <a:prstGeom prst="rect">
            <a:avLst/>
          </a:prstGeom>
          <a:noFill/>
        </p:spPr>
        <p:txBody>
          <a:bodyPr wrap="square">
            <a:spAutoFit/>
          </a:bodyPr>
          <a:lstStyle/>
          <a:p>
            <a:pPr algn="ctr"/>
            <a:r>
              <a:rPr sz="1100" b="0">
                <a:solidFill>
                  <a:srgbClr val="7F8C8D"/>
                </a:solidFill>
                <a:latin typeface="Meiryo"/>
              </a:rPr>
              <a:t>パートナーが落とした
ボールを瞬時に返す</a:t>
            </a:r>
          </a:p>
        </p:txBody>
      </p:sp>
      <p:sp>
        <p:nvSpPr>
          <p:cNvPr id="42" name="Rectangle 41"/>
          <p:cNvSpPr/>
          <p:nvPr/>
        </p:nvSpPr>
        <p:spPr>
          <a:xfrm>
            <a:off x="4690872" y="39319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690872" y="39319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64024" y="3995928"/>
            <a:ext cx="731520" cy="292608"/>
          </a:xfrm>
          <a:prstGeom prst="rect">
            <a:avLst/>
          </a:prstGeom>
          <a:noFill/>
        </p:spPr>
        <p:txBody>
          <a:bodyPr wrap="square">
            <a:spAutoFit/>
          </a:bodyPr>
          <a:lstStyle/>
          <a:p>
            <a:pPr algn="l"/>
            <a:r>
              <a:rPr sz="1000" b="1">
                <a:solidFill>
                  <a:srgbClr val="FFFFFF"/>
                </a:solidFill>
                <a:latin typeface="Meiryo"/>
              </a:rPr>
              <a:t>18.47</a:t>
            </a:r>
          </a:p>
        </p:txBody>
      </p:sp>
      <p:sp>
        <p:nvSpPr>
          <p:cNvPr id="45" name="TextBox 44"/>
          <p:cNvSpPr txBox="1"/>
          <p:nvPr/>
        </p:nvSpPr>
        <p:spPr>
          <a:xfrm>
            <a:off x="6702552" y="39959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46" name="TextBox 45"/>
          <p:cNvSpPr txBox="1"/>
          <p:nvPr/>
        </p:nvSpPr>
        <p:spPr>
          <a:xfrm>
            <a:off x="4782312" y="4407408"/>
            <a:ext cx="2651760" cy="685800"/>
          </a:xfrm>
          <a:prstGeom prst="rect">
            <a:avLst/>
          </a:prstGeom>
          <a:noFill/>
        </p:spPr>
        <p:txBody>
          <a:bodyPr wrap="square">
            <a:spAutoFit/>
          </a:bodyPr>
          <a:lstStyle/>
          <a:p>
            <a:pPr algn="ctr"/>
            <a:r>
              <a:rPr sz="1200" b="1">
                <a:solidFill>
                  <a:srgbClr val="1A3A5C"/>
                </a:solidFill>
                <a:latin typeface="Meiryo"/>
              </a:rPr>
              <a:t>デプス
プッシュアップ</a:t>
            </a:r>
          </a:p>
        </p:txBody>
      </p:sp>
      <p:sp>
        <p:nvSpPr>
          <p:cNvPr id="47" name="TextBox 46"/>
          <p:cNvSpPr txBox="1"/>
          <p:nvPr/>
        </p:nvSpPr>
        <p:spPr>
          <a:xfrm>
            <a:off x="4782312" y="5120640"/>
            <a:ext cx="2651760" cy="365760"/>
          </a:xfrm>
          <a:prstGeom prst="rect">
            <a:avLst/>
          </a:prstGeom>
          <a:noFill/>
        </p:spPr>
        <p:txBody>
          <a:bodyPr wrap="square">
            <a:spAutoFit/>
          </a:bodyPr>
          <a:lstStyle/>
          <a:p>
            <a:pPr algn="ctr"/>
            <a:r>
              <a:rPr sz="1000" b="0">
                <a:solidFill>
                  <a:srgbClr val="2E86C1"/>
                </a:solidFill>
                <a:latin typeface="Meiryo"/>
              </a:rPr>
              <a:t>MB 2.3-3.6kg</a:t>
            </a:r>
          </a:p>
        </p:txBody>
      </p:sp>
      <p:sp>
        <p:nvSpPr>
          <p:cNvPr id="48" name="TextBox 47"/>
          <p:cNvSpPr txBox="1"/>
          <p:nvPr/>
        </p:nvSpPr>
        <p:spPr>
          <a:xfrm>
            <a:off x="4782312" y="5532120"/>
            <a:ext cx="2651760" cy="914400"/>
          </a:xfrm>
          <a:prstGeom prst="rect">
            <a:avLst/>
          </a:prstGeom>
          <a:noFill/>
        </p:spPr>
        <p:txBody>
          <a:bodyPr wrap="square">
            <a:spAutoFit/>
          </a:bodyPr>
          <a:lstStyle/>
          <a:p>
            <a:pPr algn="ctr"/>
            <a:r>
              <a:rPr sz="1100" b="0">
                <a:solidFill>
                  <a:srgbClr val="7F8C8D"/>
                </a:solidFill>
                <a:latin typeface="Meiryo"/>
              </a:rPr>
              <a:t>腕立てのプライオ
メトリック版</a:t>
            </a:r>
          </a:p>
        </p:txBody>
      </p:sp>
      <p:sp>
        <p:nvSpPr>
          <p:cNvPr id="49" name="Rectangle 48"/>
          <p:cNvSpPr/>
          <p:nvPr/>
        </p:nvSpPr>
        <p:spPr>
          <a:xfrm>
            <a:off x="7690104" y="39319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690104" y="39319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63256" y="3995928"/>
            <a:ext cx="731520" cy="292608"/>
          </a:xfrm>
          <a:prstGeom prst="rect">
            <a:avLst/>
          </a:prstGeom>
          <a:noFill/>
        </p:spPr>
        <p:txBody>
          <a:bodyPr wrap="square">
            <a:spAutoFit/>
          </a:bodyPr>
          <a:lstStyle/>
          <a:p>
            <a:pPr algn="l"/>
            <a:r>
              <a:rPr sz="1000" b="1">
                <a:solidFill>
                  <a:srgbClr val="FFFFFF"/>
                </a:solidFill>
                <a:latin typeface="Meiryo"/>
              </a:rPr>
              <a:t>18.48</a:t>
            </a:r>
          </a:p>
        </p:txBody>
      </p:sp>
      <p:sp>
        <p:nvSpPr>
          <p:cNvPr id="52" name="TextBox 51"/>
          <p:cNvSpPr txBox="1"/>
          <p:nvPr/>
        </p:nvSpPr>
        <p:spPr>
          <a:xfrm>
            <a:off x="9701784" y="39959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53" name="TextBox 52"/>
          <p:cNvSpPr txBox="1"/>
          <p:nvPr/>
        </p:nvSpPr>
        <p:spPr>
          <a:xfrm>
            <a:off x="7781544" y="4407408"/>
            <a:ext cx="2651760" cy="685800"/>
          </a:xfrm>
          <a:prstGeom prst="rect">
            <a:avLst/>
          </a:prstGeom>
          <a:noFill/>
        </p:spPr>
        <p:txBody>
          <a:bodyPr wrap="square">
            <a:spAutoFit/>
          </a:bodyPr>
          <a:lstStyle/>
          <a:p>
            <a:pPr algn="ctr"/>
            <a:r>
              <a:rPr sz="1200" b="1">
                <a:solidFill>
                  <a:srgbClr val="1A3A5C"/>
                </a:solidFill>
                <a:latin typeface="Meiryo"/>
              </a:rPr>
              <a:t>45°
シットアップ</a:t>
            </a:r>
          </a:p>
        </p:txBody>
      </p:sp>
      <p:sp>
        <p:nvSpPr>
          <p:cNvPr id="54" name="TextBox 53"/>
          <p:cNvSpPr txBox="1"/>
          <p:nvPr/>
        </p:nvSpPr>
        <p:spPr>
          <a:xfrm>
            <a:off x="7781544" y="51206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55" name="TextBox 54"/>
          <p:cNvSpPr txBox="1"/>
          <p:nvPr/>
        </p:nvSpPr>
        <p:spPr>
          <a:xfrm>
            <a:off x="7781544" y="5532120"/>
            <a:ext cx="2651760" cy="914400"/>
          </a:xfrm>
          <a:prstGeom prst="rect">
            <a:avLst/>
          </a:prstGeom>
          <a:noFill/>
        </p:spPr>
        <p:txBody>
          <a:bodyPr wrap="square">
            <a:spAutoFit/>
          </a:bodyPr>
          <a:lstStyle/>
          <a:p>
            <a:pPr algn="ctr"/>
            <a:r>
              <a:rPr sz="1100" b="0">
                <a:solidFill>
                  <a:srgbClr val="7F8C8D"/>
                </a:solidFill>
                <a:latin typeface="Meiryo"/>
              </a:rPr>
              <a:t>体幹回旋力の
爆発的な発揮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安全配慮 ─ トレーニング前の評価</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Safety — Pre-Training Assessment</a:t>
            </a:r>
          </a:p>
        </p:txBody>
      </p:sp>
      <p:sp>
        <p:nvSpPr>
          <p:cNvPr id="7" name="Rectangle 6"/>
          <p:cNvSpPr/>
          <p:nvPr/>
        </p:nvSpPr>
        <p:spPr>
          <a:xfrm>
            <a:off x="274320" y="1371600"/>
            <a:ext cx="5760720"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5760720" cy="41148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5486400" cy="347472"/>
          </a:xfrm>
          <a:prstGeom prst="rect">
            <a:avLst/>
          </a:prstGeom>
          <a:noFill/>
        </p:spPr>
        <p:txBody>
          <a:bodyPr wrap="square">
            <a:spAutoFit/>
          </a:bodyPr>
          <a:lstStyle/>
          <a:p>
            <a:pPr algn="l"/>
            <a:r>
              <a:rPr sz="1300" b="1">
                <a:solidFill>
                  <a:srgbClr val="FFFFFF"/>
                </a:solidFill>
                <a:latin typeface="Meiryo"/>
              </a:rPr>
              <a:t>選手評価基準</a:t>
            </a:r>
          </a:p>
        </p:txBody>
      </p:sp>
      <p:sp>
        <p:nvSpPr>
          <p:cNvPr id="10" name="Rectangle 9"/>
          <p:cNvSpPr/>
          <p:nvPr/>
        </p:nvSpPr>
        <p:spPr>
          <a:xfrm>
            <a:off x="411480" y="19202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029968"/>
            <a:ext cx="1463040" cy="502920"/>
          </a:xfrm>
          <a:prstGeom prst="rect">
            <a:avLst/>
          </a:prstGeom>
          <a:noFill/>
        </p:spPr>
        <p:txBody>
          <a:bodyPr wrap="square">
            <a:spAutoFit/>
          </a:bodyPr>
          <a:lstStyle/>
          <a:p>
            <a:pPr algn="ctr"/>
            <a:r>
              <a:rPr sz="1100" b="1">
                <a:solidFill>
                  <a:srgbClr val="FFFFFF"/>
                </a:solidFill>
                <a:latin typeface="Meiryo"/>
              </a:rPr>
              <a:t>テクニック</a:t>
            </a:r>
          </a:p>
        </p:txBody>
      </p:sp>
      <p:sp>
        <p:nvSpPr>
          <p:cNvPr id="12" name="Rectangle 11"/>
          <p:cNvSpPr/>
          <p:nvPr/>
        </p:nvSpPr>
        <p:spPr>
          <a:xfrm>
            <a:off x="2011680" y="19202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011680"/>
            <a:ext cx="3657600" cy="530352"/>
          </a:xfrm>
          <a:prstGeom prst="rect">
            <a:avLst/>
          </a:prstGeom>
          <a:noFill/>
        </p:spPr>
        <p:txBody>
          <a:bodyPr wrap="square">
            <a:spAutoFit/>
          </a:bodyPr>
          <a:lstStyle/>
          <a:p>
            <a:pPr algn="l"/>
            <a:r>
              <a:rPr sz="1200" b="0">
                <a:solidFill>
                  <a:srgbClr val="1A3A5C"/>
                </a:solidFill>
                <a:latin typeface="Meiryo"/>
              </a:rPr>
              <a:t>スクワット等の基本動作を正しく行える</a:t>
            </a:r>
          </a:p>
        </p:txBody>
      </p:sp>
      <p:sp>
        <p:nvSpPr>
          <p:cNvPr id="14" name="Rectangle 13"/>
          <p:cNvSpPr/>
          <p:nvPr/>
        </p:nvSpPr>
        <p:spPr>
          <a:xfrm>
            <a:off x="411480" y="28346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44368"/>
            <a:ext cx="1463040" cy="502920"/>
          </a:xfrm>
          <a:prstGeom prst="rect">
            <a:avLst/>
          </a:prstGeom>
          <a:noFill/>
        </p:spPr>
        <p:txBody>
          <a:bodyPr wrap="square">
            <a:spAutoFit/>
          </a:bodyPr>
          <a:lstStyle/>
          <a:p>
            <a:pPr algn="ctr"/>
            <a:r>
              <a:rPr sz="1100" b="1">
                <a:solidFill>
                  <a:srgbClr val="FFFFFF"/>
                </a:solidFill>
                <a:latin typeface="Meiryo"/>
              </a:rPr>
              <a:t>筋力（下半身）</a:t>
            </a:r>
          </a:p>
        </p:txBody>
      </p:sp>
      <p:sp>
        <p:nvSpPr>
          <p:cNvPr id="16" name="Rectangle 15"/>
          <p:cNvSpPr/>
          <p:nvPr/>
        </p:nvSpPr>
        <p:spPr>
          <a:xfrm>
            <a:off x="2011680" y="28346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3120" y="2926080"/>
            <a:ext cx="3657600" cy="530352"/>
          </a:xfrm>
          <a:prstGeom prst="rect">
            <a:avLst/>
          </a:prstGeom>
          <a:noFill/>
        </p:spPr>
        <p:txBody>
          <a:bodyPr wrap="square">
            <a:spAutoFit/>
          </a:bodyPr>
          <a:lstStyle/>
          <a:p>
            <a:pPr algn="l"/>
            <a:r>
              <a:rPr sz="1200" b="0">
                <a:solidFill>
                  <a:srgbClr val="1A3A5C"/>
                </a:solidFill>
                <a:latin typeface="Meiryo"/>
              </a:rPr>
              <a:t>体重×1.5倍のバーベルスクワット</a:t>
            </a:r>
          </a:p>
        </p:txBody>
      </p:sp>
      <p:sp>
        <p:nvSpPr>
          <p:cNvPr id="18" name="Rectangle 17"/>
          <p:cNvSpPr/>
          <p:nvPr/>
        </p:nvSpPr>
        <p:spPr>
          <a:xfrm>
            <a:off x="411480" y="3749039"/>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858768"/>
            <a:ext cx="1463040" cy="502920"/>
          </a:xfrm>
          <a:prstGeom prst="rect">
            <a:avLst/>
          </a:prstGeom>
          <a:noFill/>
        </p:spPr>
        <p:txBody>
          <a:bodyPr wrap="square">
            <a:spAutoFit/>
          </a:bodyPr>
          <a:lstStyle/>
          <a:p>
            <a:pPr algn="ctr"/>
            <a:r>
              <a:rPr sz="1100" b="1">
                <a:solidFill>
                  <a:srgbClr val="FFFFFF"/>
                </a:solidFill>
                <a:latin typeface="Meiryo"/>
              </a:rPr>
              <a:t>筋力（上半身）</a:t>
            </a:r>
          </a:p>
        </p:txBody>
      </p:sp>
      <p:sp>
        <p:nvSpPr>
          <p:cNvPr id="20" name="Rectangle 19"/>
          <p:cNvSpPr/>
          <p:nvPr/>
        </p:nvSpPr>
        <p:spPr>
          <a:xfrm>
            <a:off x="2011680" y="3749039"/>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840479"/>
            <a:ext cx="3657600" cy="530352"/>
          </a:xfrm>
          <a:prstGeom prst="rect">
            <a:avLst/>
          </a:prstGeom>
          <a:noFill/>
        </p:spPr>
        <p:txBody>
          <a:bodyPr wrap="square">
            <a:spAutoFit/>
          </a:bodyPr>
          <a:lstStyle/>
          <a:p>
            <a:pPr algn="l"/>
            <a:r>
              <a:rPr sz="1200" b="0">
                <a:solidFill>
                  <a:srgbClr val="1A3A5C"/>
                </a:solidFill>
                <a:latin typeface="Meiryo"/>
              </a:rPr>
              <a:t>体重×60%のパワークリーン</a:t>
            </a:r>
          </a:p>
        </p:txBody>
      </p:sp>
      <p:sp>
        <p:nvSpPr>
          <p:cNvPr id="22" name="Rectangle 21"/>
          <p:cNvSpPr/>
          <p:nvPr/>
        </p:nvSpPr>
        <p:spPr>
          <a:xfrm>
            <a:off x="411480" y="46634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773168"/>
            <a:ext cx="1463040" cy="502920"/>
          </a:xfrm>
          <a:prstGeom prst="rect">
            <a:avLst/>
          </a:prstGeom>
          <a:noFill/>
        </p:spPr>
        <p:txBody>
          <a:bodyPr wrap="square">
            <a:spAutoFit/>
          </a:bodyPr>
          <a:lstStyle/>
          <a:p>
            <a:pPr algn="ctr"/>
            <a:r>
              <a:rPr sz="1100" b="1">
                <a:solidFill>
                  <a:srgbClr val="FFFFFF"/>
                </a:solidFill>
                <a:latin typeface="Meiryo"/>
              </a:rPr>
              <a:t>バランス（中級）</a:t>
            </a:r>
          </a:p>
        </p:txBody>
      </p:sp>
      <p:sp>
        <p:nvSpPr>
          <p:cNvPr id="24" name="Rectangle 23"/>
          <p:cNvSpPr/>
          <p:nvPr/>
        </p:nvSpPr>
        <p:spPr>
          <a:xfrm>
            <a:off x="2011680" y="46634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20" y="4754879"/>
            <a:ext cx="3657600" cy="530352"/>
          </a:xfrm>
          <a:prstGeom prst="rect">
            <a:avLst/>
          </a:prstGeom>
          <a:noFill/>
        </p:spPr>
        <p:txBody>
          <a:bodyPr wrap="square">
            <a:spAutoFit/>
          </a:bodyPr>
          <a:lstStyle/>
          <a:p>
            <a:pPr algn="l"/>
            <a:r>
              <a:rPr sz="1200" b="0">
                <a:solidFill>
                  <a:srgbClr val="1A3A5C"/>
                </a:solidFill>
                <a:latin typeface="Meiryo"/>
              </a:rPr>
              <a:t>スタンディング・クォータースクワット片脚</a:t>
            </a:r>
          </a:p>
        </p:txBody>
      </p:sp>
      <p:sp>
        <p:nvSpPr>
          <p:cNvPr id="26" name="Rectangle 25"/>
          <p:cNvSpPr/>
          <p:nvPr/>
        </p:nvSpPr>
        <p:spPr>
          <a:xfrm>
            <a:off x="411480" y="55778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687568"/>
            <a:ext cx="1463040" cy="502920"/>
          </a:xfrm>
          <a:prstGeom prst="rect">
            <a:avLst/>
          </a:prstGeom>
          <a:noFill/>
        </p:spPr>
        <p:txBody>
          <a:bodyPr wrap="square">
            <a:spAutoFit/>
          </a:bodyPr>
          <a:lstStyle/>
          <a:p>
            <a:pPr algn="ctr"/>
            <a:r>
              <a:rPr sz="1100" b="1">
                <a:solidFill>
                  <a:srgbClr val="FFFFFF"/>
                </a:solidFill>
                <a:latin typeface="Meiryo"/>
              </a:rPr>
              <a:t>バランス（上級）</a:t>
            </a:r>
          </a:p>
        </p:txBody>
      </p:sp>
      <p:sp>
        <p:nvSpPr>
          <p:cNvPr id="28" name="Rectangle 27"/>
          <p:cNvSpPr/>
          <p:nvPr/>
        </p:nvSpPr>
        <p:spPr>
          <a:xfrm>
            <a:off x="2011680" y="55778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103120" y="5669279"/>
            <a:ext cx="3657600" cy="530352"/>
          </a:xfrm>
          <a:prstGeom prst="rect">
            <a:avLst/>
          </a:prstGeom>
          <a:noFill/>
        </p:spPr>
        <p:txBody>
          <a:bodyPr wrap="square">
            <a:spAutoFit/>
          </a:bodyPr>
          <a:lstStyle/>
          <a:p>
            <a:pPr algn="l"/>
            <a:r>
              <a:rPr sz="1200" b="0">
                <a:solidFill>
                  <a:srgbClr val="1A3A5C"/>
                </a:solidFill>
                <a:latin typeface="Meiryo"/>
              </a:rPr>
              <a:t>ハーフスクワット片脚バランス</a:t>
            </a:r>
          </a:p>
        </p:txBody>
      </p:sp>
      <p:sp>
        <p:nvSpPr>
          <p:cNvPr id="30" name="Rectangle 29"/>
          <p:cNvSpPr/>
          <p:nvPr/>
        </p:nvSpPr>
        <p:spPr>
          <a:xfrm>
            <a:off x="6217920" y="1371600"/>
            <a:ext cx="569671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17920" y="1371600"/>
            <a:ext cx="5696712"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417320"/>
            <a:ext cx="5394960" cy="347472"/>
          </a:xfrm>
          <a:prstGeom prst="rect">
            <a:avLst/>
          </a:prstGeom>
          <a:noFill/>
        </p:spPr>
        <p:txBody>
          <a:bodyPr wrap="square">
            <a:spAutoFit/>
          </a:bodyPr>
          <a:lstStyle/>
          <a:p>
            <a:pPr algn="l"/>
            <a:r>
              <a:rPr sz="1300" b="1">
                <a:solidFill>
                  <a:srgbClr val="FFFFFF"/>
                </a:solidFill>
                <a:latin typeface="Meiryo"/>
              </a:rPr>
              <a:t>施設・用具の安全基準</a:t>
            </a:r>
          </a:p>
        </p:txBody>
      </p:sp>
      <p:sp>
        <p:nvSpPr>
          <p:cNvPr id="33" name="Rectangle 32"/>
          <p:cNvSpPr/>
          <p:nvPr/>
        </p:nvSpPr>
        <p:spPr>
          <a:xfrm>
            <a:off x="6355080" y="19202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2029968"/>
            <a:ext cx="1280160" cy="502920"/>
          </a:xfrm>
          <a:prstGeom prst="rect">
            <a:avLst/>
          </a:prstGeom>
          <a:noFill/>
        </p:spPr>
        <p:txBody>
          <a:bodyPr wrap="square">
            <a:spAutoFit/>
          </a:bodyPr>
          <a:lstStyle/>
          <a:p>
            <a:pPr algn="ctr"/>
            <a:r>
              <a:rPr sz="1100" b="1">
                <a:solidFill>
                  <a:srgbClr val="FFFFFF"/>
                </a:solidFill>
                <a:latin typeface="Meiryo"/>
              </a:rPr>
              <a:t>床面</a:t>
            </a:r>
          </a:p>
        </p:txBody>
      </p:sp>
      <p:sp>
        <p:nvSpPr>
          <p:cNvPr id="35" name="Rectangle 34"/>
          <p:cNvSpPr/>
          <p:nvPr/>
        </p:nvSpPr>
        <p:spPr>
          <a:xfrm>
            <a:off x="7772400" y="19202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1984248"/>
            <a:ext cx="3749039" cy="594360"/>
          </a:xfrm>
          <a:prstGeom prst="rect">
            <a:avLst/>
          </a:prstGeom>
          <a:noFill/>
        </p:spPr>
        <p:txBody>
          <a:bodyPr wrap="square">
            <a:spAutoFit/>
          </a:bodyPr>
          <a:lstStyle/>
          <a:p>
            <a:pPr algn="l"/>
            <a:r>
              <a:rPr sz="1100" b="0">
                <a:solidFill>
                  <a:srgbClr val="1A3A5C"/>
                </a:solidFill>
                <a:latin typeface="Meiryo"/>
              </a:rPr>
              <a:t>芝生・木製フロア・マット
（コンクリート不可）</a:t>
            </a:r>
          </a:p>
        </p:txBody>
      </p:sp>
      <p:sp>
        <p:nvSpPr>
          <p:cNvPr id="37" name="Rectangle 36"/>
          <p:cNvSpPr/>
          <p:nvPr/>
        </p:nvSpPr>
        <p:spPr>
          <a:xfrm>
            <a:off x="6355080" y="28346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2944368"/>
            <a:ext cx="1280160" cy="502920"/>
          </a:xfrm>
          <a:prstGeom prst="rect">
            <a:avLst/>
          </a:prstGeom>
          <a:noFill/>
        </p:spPr>
        <p:txBody>
          <a:bodyPr wrap="square">
            <a:spAutoFit/>
          </a:bodyPr>
          <a:lstStyle/>
          <a:p>
            <a:pPr algn="ctr"/>
            <a:r>
              <a:rPr sz="1100" b="1">
                <a:solidFill>
                  <a:srgbClr val="FFFFFF"/>
                </a:solidFill>
                <a:latin typeface="Meiryo"/>
              </a:rPr>
              <a:t>天井高</a:t>
            </a:r>
          </a:p>
        </p:txBody>
      </p:sp>
      <p:sp>
        <p:nvSpPr>
          <p:cNvPr id="39" name="Rectangle 38"/>
          <p:cNvSpPr/>
          <p:nvPr/>
        </p:nvSpPr>
        <p:spPr>
          <a:xfrm>
            <a:off x="7772400" y="28346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0" y="2898648"/>
            <a:ext cx="3749039" cy="594360"/>
          </a:xfrm>
          <a:prstGeom prst="rect">
            <a:avLst/>
          </a:prstGeom>
          <a:noFill/>
        </p:spPr>
        <p:txBody>
          <a:bodyPr wrap="square">
            <a:spAutoFit/>
          </a:bodyPr>
          <a:lstStyle/>
          <a:p>
            <a:pPr algn="l"/>
            <a:r>
              <a:rPr sz="1100" b="0">
                <a:solidFill>
                  <a:srgbClr val="1A3A5C"/>
                </a:solidFill>
                <a:latin typeface="Meiryo"/>
              </a:rPr>
              <a:t>4m以上推奨</a:t>
            </a:r>
          </a:p>
        </p:txBody>
      </p:sp>
      <p:sp>
        <p:nvSpPr>
          <p:cNvPr id="41" name="Rectangle 40"/>
          <p:cNvSpPr/>
          <p:nvPr/>
        </p:nvSpPr>
        <p:spPr>
          <a:xfrm>
            <a:off x="6355080" y="3749039"/>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0" y="3858768"/>
            <a:ext cx="1280160" cy="502920"/>
          </a:xfrm>
          <a:prstGeom prst="rect">
            <a:avLst/>
          </a:prstGeom>
          <a:noFill/>
        </p:spPr>
        <p:txBody>
          <a:bodyPr wrap="square">
            <a:spAutoFit/>
          </a:bodyPr>
          <a:lstStyle/>
          <a:p>
            <a:pPr algn="ctr"/>
            <a:r>
              <a:rPr sz="1100" b="1">
                <a:solidFill>
                  <a:srgbClr val="FFFFFF"/>
                </a:solidFill>
                <a:latin typeface="Meiryo"/>
              </a:rPr>
              <a:t>ボックス高さ</a:t>
            </a:r>
          </a:p>
        </p:txBody>
      </p:sp>
      <p:sp>
        <p:nvSpPr>
          <p:cNvPr id="43" name="Rectangle 42"/>
          <p:cNvSpPr/>
          <p:nvPr/>
        </p:nvSpPr>
        <p:spPr>
          <a:xfrm>
            <a:off x="7772400" y="3749039"/>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0" y="3813048"/>
            <a:ext cx="3749039" cy="594360"/>
          </a:xfrm>
          <a:prstGeom prst="rect">
            <a:avLst/>
          </a:prstGeom>
          <a:noFill/>
        </p:spPr>
        <p:txBody>
          <a:bodyPr wrap="square">
            <a:spAutoFit/>
          </a:bodyPr>
          <a:lstStyle/>
          <a:p>
            <a:pPr algn="l"/>
            <a:r>
              <a:rPr sz="1100" b="0">
                <a:solidFill>
                  <a:srgbClr val="1A3A5C"/>
                </a:solidFill>
                <a:latin typeface="Meiryo"/>
              </a:rPr>
              <a:t>最大1.2m（100kg超：46cm以下）</a:t>
            </a:r>
          </a:p>
        </p:txBody>
      </p:sp>
      <p:sp>
        <p:nvSpPr>
          <p:cNvPr id="45" name="Rectangle 44"/>
          <p:cNvSpPr/>
          <p:nvPr/>
        </p:nvSpPr>
        <p:spPr>
          <a:xfrm>
            <a:off x="6355080" y="46634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4773168"/>
            <a:ext cx="1280160" cy="502920"/>
          </a:xfrm>
          <a:prstGeom prst="rect">
            <a:avLst/>
          </a:prstGeom>
          <a:noFill/>
        </p:spPr>
        <p:txBody>
          <a:bodyPr wrap="square">
            <a:spAutoFit/>
          </a:bodyPr>
          <a:lstStyle/>
          <a:p>
            <a:pPr algn="ctr"/>
            <a:r>
              <a:rPr sz="1100" b="1">
                <a:solidFill>
                  <a:srgbClr val="FFFFFF"/>
                </a:solidFill>
                <a:latin typeface="Meiryo"/>
              </a:rPr>
              <a:t>シューズ</a:t>
            </a:r>
          </a:p>
        </p:txBody>
      </p:sp>
      <p:sp>
        <p:nvSpPr>
          <p:cNvPr id="47" name="Rectangle 46"/>
          <p:cNvSpPr/>
          <p:nvPr/>
        </p:nvSpPr>
        <p:spPr>
          <a:xfrm>
            <a:off x="7772400" y="46634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0" y="4727448"/>
            <a:ext cx="3749039" cy="594360"/>
          </a:xfrm>
          <a:prstGeom prst="rect">
            <a:avLst/>
          </a:prstGeom>
          <a:noFill/>
        </p:spPr>
        <p:txBody>
          <a:bodyPr wrap="square">
            <a:spAutoFit/>
          </a:bodyPr>
          <a:lstStyle/>
          <a:p>
            <a:pPr algn="l"/>
            <a:r>
              <a:rPr sz="1100" b="0">
                <a:solidFill>
                  <a:srgbClr val="1A3A5C"/>
                </a:solidFill>
                <a:latin typeface="Meiryo"/>
              </a:rPr>
              <a:t>足首サポート・横安定性重視
（テニス・バスケ用が最適）</a:t>
            </a:r>
          </a:p>
        </p:txBody>
      </p:sp>
      <p:sp>
        <p:nvSpPr>
          <p:cNvPr id="49" name="Rectangle 48"/>
          <p:cNvSpPr/>
          <p:nvPr/>
        </p:nvSpPr>
        <p:spPr>
          <a:xfrm>
            <a:off x="6355080" y="55778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5687568"/>
            <a:ext cx="1280160" cy="502920"/>
          </a:xfrm>
          <a:prstGeom prst="rect">
            <a:avLst/>
          </a:prstGeom>
          <a:noFill/>
        </p:spPr>
        <p:txBody>
          <a:bodyPr wrap="square">
            <a:spAutoFit/>
          </a:bodyPr>
          <a:lstStyle/>
          <a:p>
            <a:pPr algn="ctr"/>
            <a:r>
              <a:rPr sz="1100" b="1">
                <a:solidFill>
                  <a:srgbClr val="FFFFFF"/>
                </a:solidFill>
                <a:latin typeface="Meiryo"/>
              </a:rPr>
              <a:t>監視</a:t>
            </a:r>
          </a:p>
        </p:txBody>
      </p:sp>
      <p:sp>
        <p:nvSpPr>
          <p:cNvPr id="51" name="Rectangle 50"/>
          <p:cNvSpPr/>
          <p:nvPr/>
        </p:nvSpPr>
        <p:spPr>
          <a:xfrm>
            <a:off x="7772400" y="55778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63840" y="5641848"/>
            <a:ext cx="3749039" cy="594360"/>
          </a:xfrm>
          <a:prstGeom prst="rect">
            <a:avLst/>
          </a:prstGeom>
          <a:noFill/>
        </p:spPr>
        <p:txBody>
          <a:bodyPr wrap="square">
            <a:spAutoFit/>
          </a:bodyPr>
          <a:lstStyle/>
          <a:p>
            <a:pPr algn="l"/>
            <a:r>
              <a:rPr sz="1100" b="0">
                <a:solidFill>
                  <a:srgbClr val="1A3A5C"/>
                </a:solidFill>
                <a:latin typeface="Meiryo"/>
              </a:rPr>
              <a:t>常時指導者が監視</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対象者別の配慮</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Special Considerations by Population</a:t>
            </a:r>
          </a:p>
        </p:txBody>
      </p:sp>
      <p:sp>
        <p:nvSpPr>
          <p:cNvPr id="7" name="Rectangle 6"/>
          <p:cNvSpPr/>
          <p:nvPr/>
        </p:nvSpPr>
        <p:spPr>
          <a:xfrm>
            <a:off x="27432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3749039" cy="5486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17320"/>
            <a:ext cx="3566160" cy="457200"/>
          </a:xfrm>
          <a:prstGeom prst="rect">
            <a:avLst/>
          </a:prstGeom>
          <a:noFill/>
        </p:spPr>
        <p:txBody>
          <a:bodyPr wrap="square">
            <a:spAutoFit/>
          </a:bodyPr>
          <a:lstStyle/>
          <a:p>
            <a:pPr algn="ctr"/>
            <a:r>
              <a:rPr sz="1700" b="1">
                <a:solidFill>
                  <a:srgbClr val="FFFFFF"/>
                </a:solidFill>
                <a:latin typeface="Meiryo"/>
              </a:rPr>
              <a:t>青年期
（中高生）</a:t>
            </a:r>
          </a:p>
        </p:txBody>
      </p:sp>
      <p:sp>
        <p:nvSpPr>
          <p:cNvPr id="10" name="Rectangle 9"/>
          <p:cNvSpPr/>
          <p:nvPr/>
        </p:nvSpPr>
        <p:spPr>
          <a:xfrm>
            <a:off x="365760" y="2057400"/>
            <a:ext cx="3566160" cy="118872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3383280" cy="1005840"/>
          </a:xfrm>
          <a:prstGeom prst="rect">
            <a:avLst/>
          </a:prstGeom>
          <a:noFill/>
        </p:spPr>
        <p:txBody>
          <a:bodyPr wrap="square">
            <a:spAutoFit/>
          </a:bodyPr>
          <a:lstStyle/>
          <a:p>
            <a:pPr algn="ctr"/>
            <a:r>
              <a:rPr sz="1300" b="0">
                <a:solidFill>
                  <a:srgbClr val="1F5C8B"/>
                </a:solidFill>
                <a:latin typeface="Meiryo"/>
              </a:rPr>
              <a:t>低〜中強度を推奨
デプスジャンプ非推奨
テクニック最優先</a:t>
            </a:r>
          </a:p>
        </p:txBody>
      </p:sp>
      <p:sp>
        <p:nvSpPr>
          <p:cNvPr id="12" name="TextBox 11"/>
          <p:cNvSpPr txBox="1"/>
          <p:nvPr/>
        </p:nvSpPr>
        <p:spPr>
          <a:xfrm>
            <a:off x="457200" y="3383280"/>
            <a:ext cx="3474720" cy="3017520"/>
          </a:xfrm>
          <a:prstGeom prst="rect">
            <a:avLst/>
          </a:prstGeom>
          <a:noFill/>
        </p:spPr>
        <p:txBody>
          <a:bodyPr wrap="square">
            <a:spAutoFit/>
          </a:bodyPr>
          <a:lstStyle/>
          <a:p>
            <a:pPr algn="l"/>
            <a:r>
              <a:rPr sz="1300" b="0">
                <a:solidFill>
                  <a:srgbClr val="1A3A5C"/>
                </a:solidFill>
                <a:latin typeface="Meiryo"/>
              </a:rPr>
              <a:t>● 大人と同じドリルは実施可能
● ただし高強度下半身は避ける
● 骨端板への配慮が必要</a:t>
            </a:r>
          </a:p>
        </p:txBody>
      </p:sp>
      <p:sp>
        <p:nvSpPr>
          <p:cNvPr id="13" name="Rectangle 12"/>
          <p:cNvSpPr/>
          <p:nvPr/>
        </p:nvSpPr>
        <p:spPr>
          <a:xfrm>
            <a:off x="429768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371600"/>
            <a:ext cx="3749039" cy="5486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417320"/>
            <a:ext cx="3566160" cy="457200"/>
          </a:xfrm>
          <a:prstGeom prst="rect">
            <a:avLst/>
          </a:prstGeom>
          <a:noFill/>
        </p:spPr>
        <p:txBody>
          <a:bodyPr wrap="square">
            <a:spAutoFit/>
          </a:bodyPr>
          <a:lstStyle/>
          <a:p>
            <a:pPr algn="ctr"/>
            <a:r>
              <a:rPr sz="1700" b="1">
                <a:solidFill>
                  <a:srgbClr val="FFFFFF"/>
                </a:solidFill>
                <a:latin typeface="Meiryo"/>
              </a:rPr>
              <a:t>成人
（通常）</a:t>
            </a:r>
          </a:p>
        </p:txBody>
      </p:sp>
      <p:sp>
        <p:nvSpPr>
          <p:cNvPr id="16" name="Rectangle 15"/>
          <p:cNvSpPr/>
          <p:nvPr/>
        </p:nvSpPr>
        <p:spPr>
          <a:xfrm>
            <a:off x="4389120" y="2057400"/>
            <a:ext cx="3566160" cy="118872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48840"/>
            <a:ext cx="3383280" cy="1005840"/>
          </a:xfrm>
          <a:prstGeom prst="rect">
            <a:avLst/>
          </a:prstGeom>
          <a:noFill/>
        </p:spPr>
        <p:txBody>
          <a:bodyPr wrap="square">
            <a:spAutoFit/>
          </a:bodyPr>
          <a:lstStyle/>
          <a:p>
            <a:pPr algn="ctr"/>
            <a:r>
              <a:rPr sz="1300" b="0">
                <a:solidFill>
                  <a:srgbClr val="1F5C8B"/>
                </a:solidFill>
                <a:latin typeface="Meiryo"/>
              </a:rPr>
              <a:t>段階的なプログラムを実施
ニーズ分析に基づく</a:t>
            </a:r>
          </a:p>
        </p:txBody>
      </p:sp>
      <p:sp>
        <p:nvSpPr>
          <p:cNvPr id="18" name="TextBox 17"/>
          <p:cNvSpPr txBox="1"/>
          <p:nvPr/>
        </p:nvSpPr>
        <p:spPr>
          <a:xfrm>
            <a:off x="4480560" y="3383280"/>
            <a:ext cx="3474720" cy="3017520"/>
          </a:xfrm>
          <a:prstGeom prst="rect">
            <a:avLst/>
          </a:prstGeom>
          <a:noFill/>
        </p:spPr>
        <p:txBody>
          <a:bodyPr wrap="square">
            <a:spAutoFit/>
          </a:bodyPr>
          <a:lstStyle/>
          <a:p>
            <a:pPr algn="l"/>
            <a:r>
              <a:rPr sz="1300" b="0">
                <a:solidFill>
                  <a:srgbClr val="1A3A5C"/>
                </a:solidFill>
                <a:latin typeface="Meiryo"/>
              </a:rPr>
              <a:t>● 漸進性の原則を適用
● 定期的な評価と更新
● レジスタンスと組み合わせる</a:t>
            </a:r>
          </a:p>
        </p:txBody>
      </p:sp>
      <p:sp>
        <p:nvSpPr>
          <p:cNvPr id="19" name="Rectangle 18"/>
          <p:cNvSpPr/>
          <p:nvPr/>
        </p:nvSpPr>
        <p:spPr>
          <a:xfrm>
            <a:off x="832104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1371600"/>
            <a:ext cx="3749039" cy="54864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417320"/>
            <a:ext cx="3566160" cy="457200"/>
          </a:xfrm>
          <a:prstGeom prst="rect">
            <a:avLst/>
          </a:prstGeom>
          <a:noFill/>
        </p:spPr>
        <p:txBody>
          <a:bodyPr wrap="square">
            <a:spAutoFit/>
          </a:bodyPr>
          <a:lstStyle/>
          <a:p>
            <a:pPr algn="ctr"/>
            <a:r>
              <a:rPr sz="1700" b="1">
                <a:solidFill>
                  <a:srgbClr val="FFFFFF"/>
                </a:solidFill>
                <a:latin typeface="Meiryo"/>
              </a:rPr>
              <a:t>マスターズ
（高齢者）</a:t>
            </a:r>
          </a:p>
        </p:txBody>
      </p:sp>
      <p:sp>
        <p:nvSpPr>
          <p:cNvPr id="22" name="Rectangle 21"/>
          <p:cNvSpPr/>
          <p:nvPr/>
        </p:nvSpPr>
        <p:spPr>
          <a:xfrm>
            <a:off x="8412480" y="2057400"/>
            <a:ext cx="3566160" cy="118872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2148840"/>
            <a:ext cx="3383280" cy="1005840"/>
          </a:xfrm>
          <a:prstGeom prst="rect">
            <a:avLst/>
          </a:prstGeom>
          <a:noFill/>
        </p:spPr>
        <p:txBody>
          <a:bodyPr wrap="square">
            <a:spAutoFit/>
          </a:bodyPr>
          <a:lstStyle/>
          <a:p>
            <a:pPr algn="ctr"/>
            <a:r>
              <a:rPr sz="1300" b="0">
                <a:solidFill>
                  <a:srgbClr val="1F5C8B"/>
                </a:solidFill>
                <a:latin typeface="Meiryo"/>
              </a:rPr>
              <a:t>強度・量を下げる
ウォームアップを充実</a:t>
            </a:r>
          </a:p>
        </p:txBody>
      </p:sp>
      <p:sp>
        <p:nvSpPr>
          <p:cNvPr id="24" name="TextBox 23"/>
          <p:cNvSpPr txBox="1"/>
          <p:nvPr/>
        </p:nvSpPr>
        <p:spPr>
          <a:xfrm>
            <a:off x="8503920" y="3383280"/>
            <a:ext cx="3474720" cy="3017520"/>
          </a:xfrm>
          <a:prstGeom prst="rect">
            <a:avLst/>
          </a:prstGeom>
          <a:noFill/>
        </p:spPr>
        <p:txBody>
          <a:bodyPr wrap="square">
            <a:spAutoFit/>
          </a:bodyPr>
          <a:lstStyle/>
          <a:p>
            <a:pPr algn="l"/>
            <a:r>
              <a:rPr sz="1300" b="0">
                <a:solidFill>
                  <a:srgbClr val="1A3A5C"/>
                </a:solidFill>
                <a:latin typeface="Meiryo"/>
              </a:rPr>
              <a:t>● 筋力・骨密度・柔軟性の低下を考慮
● 個人差が大きい
● 転倒リスクの管理が重要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レジスタンストレーニングとの組み合わせ</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Combined Training Schedule</a:t>
            </a:r>
          </a:p>
        </p:txBody>
      </p:sp>
      <p:sp>
        <p:nvSpPr>
          <p:cNvPr id="7" name="Rectangle 6"/>
          <p:cNvSpPr/>
          <p:nvPr/>
        </p:nvSpPr>
        <p:spPr>
          <a:xfrm>
            <a:off x="274320" y="1371600"/>
            <a:ext cx="1164031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11640312"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11338560" cy="347472"/>
          </a:xfrm>
          <a:prstGeom prst="rect">
            <a:avLst/>
          </a:prstGeom>
          <a:noFill/>
        </p:spPr>
        <p:txBody>
          <a:bodyPr wrap="square">
            <a:spAutoFit/>
          </a:bodyPr>
          <a:lstStyle/>
          <a:p>
            <a:pPr algn="l"/>
            <a:r>
              <a:rPr sz="1400" b="1">
                <a:solidFill>
                  <a:srgbClr val="FFFFFF"/>
                </a:solidFill>
                <a:latin typeface="Meiryo"/>
              </a:rPr>
              <a:t>コンビネーショントレーニング ─ 週スケジュール例</a:t>
            </a:r>
          </a:p>
        </p:txBody>
      </p:sp>
      <p:sp>
        <p:nvSpPr>
          <p:cNvPr id="10" name="Rectangle 9"/>
          <p:cNvSpPr/>
          <p:nvPr/>
        </p:nvSpPr>
        <p:spPr>
          <a:xfrm>
            <a:off x="457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20240"/>
            <a:ext cx="2011680" cy="411480"/>
          </a:xfrm>
          <a:prstGeom prst="rect">
            <a:avLst/>
          </a:prstGeom>
          <a:noFill/>
        </p:spPr>
        <p:txBody>
          <a:bodyPr wrap="square">
            <a:spAutoFit/>
          </a:bodyPr>
          <a:lstStyle/>
          <a:p>
            <a:pPr algn="ctr"/>
            <a:r>
              <a:rPr sz="1400" b="1">
                <a:solidFill>
                  <a:srgbClr val="FFFFFF"/>
                </a:solidFill>
                <a:latin typeface="Meiryo"/>
              </a:rPr>
              <a:t>月曜日</a:t>
            </a:r>
          </a:p>
        </p:txBody>
      </p:sp>
      <p:sp>
        <p:nvSpPr>
          <p:cNvPr id="12" name="Rectangle 11"/>
          <p:cNvSpPr/>
          <p:nvPr/>
        </p:nvSpPr>
        <p:spPr>
          <a:xfrm>
            <a:off x="457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14" name="Rectangle 13"/>
          <p:cNvSpPr/>
          <p:nvPr/>
        </p:nvSpPr>
        <p:spPr>
          <a:xfrm>
            <a:off x="457200" y="288036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926080"/>
            <a:ext cx="2011680" cy="594360"/>
          </a:xfrm>
          <a:prstGeom prst="rect">
            <a:avLst/>
          </a:prstGeom>
          <a:noFill/>
        </p:spPr>
        <p:txBody>
          <a:bodyPr wrap="square">
            <a:spAutoFit/>
          </a:bodyPr>
          <a:lstStyle/>
          <a:p>
            <a:pPr algn="ctr"/>
            <a:r>
              <a:rPr sz="1200" b="1">
                <a:solidFill>
                  <a:srgbClr val="FFFFFF"/>
                </a:solidFill>
                <a:latin typeface="Meiryo"/>
              </a:rPr>
              <a:t>高強度・上半身</a:t>
            </a:r>
          </a:p>
        </p:txBody>
      </p:sp>
      <p:sp>
        <p:nvSpPr>
          <p:cNvPr id="16" name="Rectangle 15"/>
          <p:cNvSpPr/>
          <p:nvPr/>
        </p:nvSpPr>
        <p:spPr>
          <a:xfrm>
            <a:off x="457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18" name="Rectangle 17"/>
          <p:cNvSpPr/>
          <p:nvPr/>
        </p:nvSpPr>
        <p:spPr>
          <a:xfrm>
            <a:off x="457200" y="411480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160520"/>
            <a:ext cx="2011680" cy="594360"/>
          </a:xfrm>
          <a:prstGeom prst="rect">
            <a:avLst/>
          </a:prstGeom>
          <a:noFill/>
        </p:spPr>
        <p:txBody>
          <a:bodyPr wrap="square">
            <a:spAutoFit/>
          </a:bodyPr>
          <a:lstStyle/>
          <a:p>
            <a:pPr algn="ctr"/>
            <a:r>
              <a:rPr sz="1200" b="1">
                <a:solidFill>
                  <a:srgbClr val="FFFFFF"/>
                </a:solidFill>
                <a:latin typeface="Meiryo"/>
              </a:rPr>
              <a:t>低強度・下半身</a:t>
            </a:r>
          </a:p>
        </p:txBody>
      </p:sp>
      <p:sp>
        <p:nvSpPr>
          <p:cNvPr id="20" name="Rectangle 19"/>
          <p:cNvSpPr/>
          <p:nvPr/>
        </p:nvSpPr>
        <p:spPr>
          <a:xfrm>
            <a:off x="2743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88920" y="1920240"/>
            <a:ext cx="2011680" cy="411480"/>
          </a:xfrm>
          <a:prstGeom prst="rect">
            <a:avLst/>
          </a:prstGeom>
          <a:noFill/>
        </p:spPr>
        <p:txBody>
          <a:bodyPr wrap="square">
            <a:spAutoFit/>
          </a:bodyPr>
          <a:lstStyle/>
          <a:p>
            <a:pPr algn="ctr"/>
            <a:r>
              <a:rPr sz="1400" b="1">
                <a:solidFill>
                  <a:srgbClr val="FFFFFF"/>
                </a:solidFill>
                <a:latin typeface="Meiryo"/>
              </a:rPr>
              <a:t>火曜日</a:t>
            </a:r>
          </a:p>
        </p:txBody>
      </p:sp>
      <p:sp>
        <p:nvSpPr>
          <p:cNvPr id="22" name="Rectangle 21"/>
          <p:cNvSpPr/>
          <p:nvPr/>
        </p:nvSpPr>
        <p:spPr>
          <a:xfrm>
            <a:off x="2743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88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24" name="Rectangle 23"/>
          <p:cNvSpPr/>
          <p:nvPr/>
        </p:nvSpPr>
        <p:spPr>
          <a:xfrm>
            <a:off x="2743200" y="288036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2926080"/>
            <a:ext cx="2011680" cy="594360"/>
          </a:xfrm>
          <a:prstGeom prst="rect">
            <a:avLst/>
          </a:prstGeom>
          <a:noFill/>
        </p:spPr>
        <p:txBody>
          <a:bodyPr wrap="square">
            <a:spAutoFit/>
          </a:bodyPr>
          <a:lstStyle/>
          <a:p>
            <a:pPr algn="ctr"/>
            <a:r>
              <a:rPr sz="1200" b="1">
                <a:solidFill>
                  <a:srgbClr val="FFFFFF"/>
                </a:solidFill>
                <a:latin typeface="Meiryo"/>
              </a:rPr>
              <a:t>低強度・上半身</a:t>
            </a:r>
          </a:p>
        </p:txBody>
      </p:sp>
      <p:sp>
        <p:nvSpPr>
          <p:cNvPr id="26" name="Rectangle 25"/>
          <p:cNvSpPr/>
          <p:nvPr/>
        </p:nvSpPr>
        <p:spPr>
          <a:xfrm>
            <a:off x="2743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88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28" name="Rectangle 27"/>
          <p:cNvSpPr/>
          <p:nvPr/>
        </p:nvSpPr>
        <p:spPr>
          <a:xfrm>
            <a:off x="2743200" y="411480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88920" y="4160520"/>
            <a:ext cx="2011680" cy="594360"/>
          </a:xfrm>
          <a:prstGeom prst="rect">
            <a:avLst/>
          </a:prstGeom>
          <a:noFill/>
        </p:spPr>
        <p:txBody>
          <a:bodyPr wrap="square">
            <a:spAutoFit/>
          </a:bodyPr>
          <a:lstStyle/>
          <a:p>
            <a:pPr algn="ctr"/>
            <a:r>
              <a:rPr sz="1200" b="1">
                <a:solidFill>
                  <a:srgbClr val="FFFFFF"/>
                </a:solidFill>
                <a:latin typeface="Meiryo"/>
              </a:rPr>
              <a:t>高強度・下半身</a:t>
            </a:r>
          </a:p>
        </p:txBody>
      </p:sp>
      <p:sp>
        <p:nvSpPr>
          <p:cNvPr id="30" name="Rectangle 29"/>
          <p:cNvSpPr/>
          <p:nvPr/>
        </p:nvSpPr>
        <p:spPr>
          <a:xfrm>
            <a:off x="5029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74920" y="1920240"/>
            <a:ext cx="2011680" cy="411480"/>
          </a:xfrm>
          <a:prstGeom prst="rect">
            <a:avLst/>
          </a:prstGeom>
          <a:noFill/>
        </p:spPr>
        <p:txBody>
          <a:bodyPr wrap="square">
            <a:spAutoFit/>
          </a:bodyPr>
          <a:lstStyle/>
          <a:p>
            <a:pPr algn="ctr"/>
            <a:r>
              <a:rPr sz="1400" b="1">
                <a:solidFill>
                  <a:srgbClr val="FFFFFF"/>
                </a:solidFill>
                <a:latin typeface="Meiryo"/>
              </a:rPr>
              <a:t>水曜日</a:t>
            </a:r>
          </a:p>
        </p:txBody>
      </p:sp>
      <p:sp>
        <p:nvSpPr>
          <p:cNvPr id="32" name="Rectangle 31"/>
          <p:cNvSpPr/>
          <p:nvPr/>
        </p:nvSpPr>
        <p:spPr>
          <a:xfrm>
            <a:off x="5029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74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34" name="Rectangle 33"/>
          <p:cNvSpPr/>
          <p:nvPr/>
        </p:nvSpPr>
        <p:spPr>
          <a:xfrm>
            <a:off x="5029200" y="288036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926080"/>
            <a:ext cx="2011680" cy="594360"/>
          </a:xfrm>
          <a:prstGeom prst="rect">
            <a:avLst/>
          </a:prstGeom>
          <a:noFill/>
        </p:spPr>
        <p:txBody>
          <a:bodyPr wrap="square">
            <a:spAutoFit/>
          </a:bodyPr>
          <a:lstStyle/>
          <a:p>
            <a:pPr algn="ctr"/>
            <a:r>
              <a:rPr sz="1200" b="1">
                <a:solidFill>
                  <a:srgbClr val="FFFFFF"/>
                </a:solidFill>
                <a:latin typeface="Meiryo"/>
              </a:rPr>
              <a:t>高強度・上半身</a:t>
            </a:r>
          </a:p>
        </p:txBody>
      </p:sp>
      <p:sp>
        <p:nvSpPr>
          <p:cNvPr id="36" name="Rectangle 35"/>
          <p:cNvSpPr/>
          <p:nvPr/>
        </p:nvSpPr>
        <p:spPr>
          <a:xfrm>
            <a:off x="5029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74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38" name="Rectangle 37"/>
          <p:cNvSpPr/>
          <p:nvPr/>
        </p:nvSpPr>
        <p:spPr>
          <a:xfrm>
            <a:off x="5029200" y="411480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74920" y="4160520"/>
            <a:ext cx="2011680" cy="594360"/>
          </a:xfrm>
          <a:prstGeom prst="rect">
            <a:avLst/>
          </a:prstGeom>
          <a:noFill/>
        </p:spPr>
        <p:txBody>
          <a:bodyPr wrap="square">
            <a:spAutoFit/>
          </a:bodyPr>
          <a:lstStyle/>
          <a:p>
            <a:pPr algn="ctr"/>
            <a:r>
              <a:rPr sz="1200" b="1">
                <a:solidFill>
                  <a:srgbClr val="FFFFFF"/>
                </a:solidFill>
                <a:latin typeface="Meiryo"/>
              </a:rPr>
              <a:t>低強度・下半身</a:t>
            </a:r>
          </a:p>
        </p:txBody>
      </p:sp>
      <p:sp>
        <p:nvSpPr>
          <p:cNvPr id="40" name="Rectangle 39"/>
          <p:cNvSpPr/>
          <p:nvPr/>
        </p:nvSpPr>
        <p:spPr>
          <a:xfrm>
            <a:off x="7315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0920" y="1920240"/>
            <a:ext cx="2011680" cy="411480"/>
          </a:xfrm>
          <a:prstGeom prst="rect">
            <a:avLst/>
          </a:prstGeom>
          <a:noFill/>
        </p:spPr>
        <p:txBody>
          <a:bodyPr wrap="square">
            <a:spAutoFit/>
          </a:bodyPr>
          <a:lstStyle/>
          <a:p>
            <a:pPr algn="ctr"/>
            <a:r>
              <a:rPr sz="1400" b="1">
                <a:solidFill>
                  <a:srgbClr val="FFFFFF"/>
                </a:solidFill>
                <a:latin typeface="Meiryo"/>
              </a:rPr>
              <a:t>木曜日</a:t>
            </a:r>
          </a:p>
        </p:txBody>
      </p:sp>
      <p:sp>
        <p:nvSpPr>
          <p:cNvPr id="42" name="Rectangle 41"/>
          <p:cNvSpPr/>
          <p:nvPr/>
        </p:nvSpPr>
        <p:spPr>
          <a:xfrm>
            <a:off x="7315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60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44" name="Rectangle 43"/>
          <p:cNvSpPr/>
          <p:nvPr/>
        </p:nvSpPr>
        <p:spPr>
          <a:xfrm>
            <a:off x="7315200" y="2880360"/>
            <a:ext cx="2103120" cy="731520"/>
          </a:xfrm>
          <a:prstGeom prst="rect">
            <a:avLst/>
          </a:prstGeom>
          <a:solidFill>
            <a:srgbClr val="7F8C8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60920" y="2926080"/>
            <a:ext cx="2011680" cy="594360"/>
          </a:xfrm>
          <a:prstGeom prst="rect">
            <a:avLst/>
          </a:prstGeom>
          <a:noFill/>
        </p:spPr>
        <p:txBody>
          <a:bodyPr wrap="square">
            <a:spAutoFit/>
          </a:bodyPr>
          <a:lstStyle/>
          <a:p>
            <a:pPr algn="ctr"/>
            <a:r>
              <a:rPr sz="1200" b="1">
                <a:solidFill>
                  <a:srgbClr val="FFFFFF"/>
                </a:solidFill>
                <a:latin typeface="Meiryo"/>
              </a:rPr>
              <a:t>休息</a:t>
            </a:r>
          </a:p>
        </p:txBody>
      </p:sp>
      <p:sp>
        <p:nvSpPr>
          <p:cNvPr id="46" name="Rectangle 45"/>
          <p:cNvSpPr/>
          <p:nvPr/>
        </p:nvSpPr>
        <p:spPr>
          <a:xfrm>
            <a:off x="7315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60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48" name="Rectangle 47"/>
          <p:cNvSpPr/>
          <p:nvPr/>
        </p:nvSpPr>
        <p:spPr>
          <a:xfrm>
            <a:off x="7315200" y="4114800"/>
            <a:ext cx="2103120" cy="731520"/>
          </a:xfrm>
          <a:prstGeom prst="rect">
            <a:avLst/>
          </a:prstGeom>
          <a:solidFill>
            <a:srgbClr val="7F8C8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60920" y="4160520"/>
            <a:ext cx="2011680" cy="594360"/>
          </a:xfrm>
          <a:prstGeom prst="rect">
            <a:avLst/>
          </a:prstGeom>
          <a:noFill/>
        </p:spPr>
        <p:txBody>
          <a:bodyPr wrap="square">
            <a:spAutoFit/>
          </a:bodyPr>
          <a:lstStyle/>
          <a:p>
            <a:pPr algn="ctr"/>
            <a:r>
              <a:rPr sz="1200" b="1">
                <a:solidFill>
                  <a:srgbClr val="FFFFFF"/>
                </a:solidFill>
                <a:latin typeface="Meiryo"/>
              </a:rPr>
              <a:t>休息</a:t>
            </a:r>
          </a:p>
        </p:txBody>
      </p:sp>
      <p:sp>
        <p:nvSpPr>
          <p:cNvPr id="50" name="Rectangle 49"/>
          <p:cNvSpPr/>
          <p:nvPr/>
        </p:nvSpPr>
        <p:spPr>
          <a:xfrm>
            <a:off x="9601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46920" y="1920240"/>
            <a:ext cx="2011680" cy="411480"/>
          </a:xfrm>
          <a:prstGeom prst="rect">
            <a:avLst/>
          </a:prstGeom>
          <a:noFill/>
        </p:spPr>
        <p:txBody>
          <a:bodyPr wrap="square">
            <a:spAutoFit/>
          </a:bodyPr>
          <a:lstStyle/>
          <a:p>
            <a:pPr algn="ctr"/>
            <a:r>
              <a:rPr sz="1400" b="1">
                <a:solidFill>
                  <a:srgbClr val="FFFFFF"/>
                </a:solidFill>
                <a:latin typeface="Meiryo"/>
              </a:rPr>
              <a:t>金曜日</a:t>
            </a:r>
          </a:p>
        </p:txBody>
      </p:sp>
      <p:sp>
        <p:nvSpPr>
          <p:cNvPr id="52" name="Rectangle 51"/>
          <p:cNvSpPr/>
          <p:nvPr/>
        </p:nvSpPr>
        <p:spPr>
          <a:xfrm>
            <a:off x="9601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54" name="Rectangle 53"/>
          <p:cNvSpPr/>
          <p:nvPr/>
        </p:nvSpPr>
        <p:spPr>
          <a:xfrm>
            <a:off x="9601200" y="288036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646920" y="2926080"/>
            <a:ext cx="2011680" cy="594360"/>
          </a:xfrm>
          <a:prstGeom prst="rect">
            <a:avLst/>
          </a:prstGeom>
          <a:noFill/>
        </p:spPr>
        <p:txBody>
          <a:bodyPr wrap="square">
            <a:spAutoFit/>
          </a:bodyPr>
          <a:lstStyle/>
          <a:p>
            <a:pPr algn="ctr"/>
            <a:r>
              <a:rPr sz="1200" b="1">
                <a:solidFill>
                  <a:srgbClr val="FFFFFF"/>
                </a:solidFill>
                <a:latin typeface="Meiryo"/>
              </a:rPr>
              <a:t>高強度・下半身</a:t>
            </a:r>
          </a:p>
        </p:txBody>
      </p:sp>
      <p:sp>
        <p:nvSpPr>
          <p:cNvPr id="56" name="Rectangle 55"/>
          <p:cNvSpPr/>
          <p:nvPr/>
        </p:nvSpPr>
        <p:spPr>
          <a:xfrm>
            <a:off x="9601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646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58" name="Rectangle 57"/>
          <p:cNvSpPr/>
          <p:nvPr/>
        </p:nvSpPr>
        <p:spPr>
          <a:xfrm>
            <a:off x="9601200" y="411480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646920" y="4160520"/>
            <a:ext cx="2011680" cy="594360"/>
          </a:xfrm>
          <a:prstGeom prst="rect">
            <a:avLst/>
          </a:prstGeom>
          <a:noFill/>
        </p:spPr>
        <p:txBody>
          <a:bodyPr wrap="square">
            <a:spAutoFit/>
          </a:bodyPr>
          <a:lstStyle/>
          <a:p>
            <a:pPr algn="ctr"/>
            <a:r>
              <a:rPr sz="1200" b="1">
                <a:solidFill>
                  <a:srgbClr val="FFFFFF"/>
                </a:solidFill>
                <a:latin typeface="Meiryo"/>
              </a:rPr>
              <a:t>低強度・上半身</a:t>
            </a:r>
          </a:p>
        </p:txBody>
      </p:sp>
      <p:sp>
        <p:nvSpPr>
          <p:cNvPr id="60" name="Rectangle 59"/>
          <p:cNvSpPr/>
          <p:nvPr/>
        </p:nvSpPr>
        <p:spPr>
          <a:xfrm>
            <a:off x="274320" y="5074920"/>
            <a:ext cx="11640312" cy="123444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5166360"/>
            <a:ext cx="11247120" cy="1097280"/>
          </a:xfrm>
          <a:prstGeom prst="rect">
            <a:avLst/>
          </a:prstGeom>
          <a:noFill/>
        </p:spPr>
        <p:txBody>
          <a:bodyPr wrap="square">
            <a:spAutoFit/>
          </a:bodyPr>
          <a:lstStyle/>
          <a:p>
            <a:pPr algn="l"/>
            <a:r>
              <a:rPr sz="1300" b="0">
                <a:solidFill>
                  <a:srgbClr val="1A3A5C"/>
                </a:solidFill>
                <a:latin typeface="Meiryo"/>
              </a:rPr>
              <a:t>● 同一ワークアウトでの組み合わせは、プライオメトリクス → レジスタンストレーニングの順で行う
● 同一筋群のレジスタンスとプライオメトリクスを組み合わせると高いパフォーマンス改善効果が得られる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まとめ</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Summary — 7 Key Points</a:t>
            </a:r>
          </a:p>
        </p:txBody>
      </p:sp>
      <p:sp>
        <p:nvSpPr>
          <p:cNvPr id="7" name="Rectangle 6"/>
          <p:cNvSpPr/>
          <p:nvPr/>
        </p:nvSpPr>
        <p:spPr>
          <a:xfrm>
            <a:off x="274320" y="1371600"/>
            <a:ext cx="11640312" cy="6400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44752"/>
            <a:ext cx="11247120" cy="502920"/>
          </a:xfrm>
          <a:prstGeom prst="rect">
            <a:avLst/>
          </a:prstGeom>
          <a:noFill/>
        </p:spPr>
        <p:txBody>
          <a:bodyPr wrap="square">
            <a:spAutoFit/>
          </a:bodyPr>
          <a:lstStyle/>
          <a:p>
            <a:pPr algn="l"/>
            <a:r>
              <a:rPr sz="1400" b="1">
                <a:solidFill>
                  <a:srgbClr val="FFFFFF"/>
                </a:solidFill>
                <a:latin typeface="Meiryo"/>
              </a:rPr>
              <a:t>プライオメトリックトレーニングの目的：主動筋に適切な負荷をかけながら最大の力を発揮する能力を高める</a:t>
            </a:r>
          </a:p>
        </p:txBody>
      </p:sp>
      <p:sp>
        <p:nvSpPr>
          <p:cNvPr id="9" name="Rectangle 8"/>
          <p:cNvSpPr/>
          <p:nvPr/>
        </p:nvSpPr>
        <p:spPr>
          <a:xfrm>
            <a:off x="274320" y="2194560"/>
            <a:ext cx="50292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286000"/>
            <a:ext cx="411480" cy="502920"/>
          </a:xfrm>
          <a:prstGeom prst="rect">
            <a:avLst/>
          </a:prstGeom>
          <a:noFill/>
        </p:spPr>
        <p:txBody>
          <a:bodyPr wrap="square">
            <a:spAutoFit/>
          </a:bodyPr>
          <a:lstStyle/>
          <a:p>
            <a:pPr algn="ctr"/>
            <a:r>
              <a:rPr sz="1800" b="1">
                <a:solidFill>
                  <a:srgbClr val="FFFFFF"/>
                </a:solidFill>
                <a:latin typeface="Meiryo"/>
              </a:rPr>
              <a:t>1</a:t>
            </a:r>
          </a:p>
        </p:txBody>
      </p:sp>
      <p:sp>
        <p:nvSpPr>
          <p:cNvPr id="11" name="Rectangle 10"/>
          <p:cNvSpPr/>
          <p:nvPr/>
        </p:nvSpPr>
        <p:spPr>
          <a:xfrm>
            <a:off x="822959" y="219456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231136"/>
            <a:ext cx="5029200" cy="347472"/>
          </a:xfrm>
          <a:prstGeom prst="rect">
            <a:avLst/>
          </a:prstGeom>
          <a:noFill/>
        </p:spPr>
        <p:txBody>
          <a:bodyPr wrap="square">
            <a:spAutoFit/>
          </a:bodyPr>
          <a:lstStyle/>
          <a:p>
            <a:pPr algn="l"/>
            <a:r>
              <a:rPr sz="1300" b="1">
                <a:solidFill>
                  <a:srgbClr val="1A3A5C"/>
                </a:solidFill>
                <a:latin typeface="Meiryo"/>
              </a:rPr>
              <a:t>正しいテクニックが最優先</a:t>
            </a:r>
          </a:p>
        </p:txBody>
      </p:sp>
      <p:sp>
        <p:nvSpPr>
          <p:cNvPr id="13" name="TextBox 12"/>
          <p:cNvSpPr txBox="1"/>
          <p:nvPr/>
        </p:nvSpPr>
        <p:spPr>
          <a:xfrm>
            <a:off x="932688" y="2560320"/>
            <a:ext cx="5029200" cy="292608"/>
          </a:xfrm>
          <a:prstGeom prst="rect">
            <a:avLst/>
          </a:prstGeom>
          <a:noFill/>
        </p:spPr>
        <p:txBody>
          <a:bodyPr wrap="square">
            <a:spAutoFit/>
          </a:bodyPr>
          <a:lstStyle/>
          <a:p>
            <a:pPr algn="l"/>
            <a:r>
              <a:rPr sz="1100" b="0">
                <a:solidFill>
                  <a:srgbClr val="7F8C8D"/>
                </a:solidFill>
                <a:latin typeface="Meiryo"/>
              </a:rPr>
              <a:t>量より質。動作の崩れを見逃さない</a:t>
            </a:r>
          </a:p>
        </p:txBody>
      </p:sp>
      <p:sp>
        <p:nvSpPr>
          <p:cNvPr id="14" name="Rectangle 13"/>
          <p:cNvSpPr/>
          <p:nvPr/>
        </p:nvSpPr>
        <p:spPr>
          <a:xfrm>
            <a:off x="6263640" y="2194560"/>
            <a:ext cx="502920" cy="685800"/>
          </a:xfrm>
          <a:prstGeom prst="rect">
            <a:avLst/>
          </a:prstGeom>
          <a:solidFill>
            <a:srgbClr val="5DADE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59" y="2286000"/>
            <a:ext cx="411480" cy="502920"/>
          </a:xfrm>
          <a:prstGeom prst="rect">
            <a:avLst/>
          </a:prstGeom>
          <a:noFill/>
        </p:spPr>
        <p:txBody>
          <a:bodyPr wrap="square">
            <a:spAutoFit/>
          </a:bodyPr>
          <a:lstStyle/>
          <a:p>
            <a:pPr algn="ctr"/>
            <a:r>
              <a:rPr sz="1800" b="1">
                <a:solidFill>
                  <a:srgbClr val="FFFFFF"/>
                </a:solidFill>
                <a:latin typeface="Meiryo"/>
              </a:rPr>
              <a:t>2</a:t>
            </a:r>
          </a:p>
        </p:txBody>
      </p:sp>
      <p:sp>
        <p:nvSpPr>
          <p:cNvPr id="16" name="Rectangle 15"/>
          <p:cNvSpPr/>
          <p:nvPr/>
        </p:nvSpPr>
        <p:spPr>
          <a:xfrm>
            <a:off x="6812279" y="219456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22007" y="2231136"/>
            <a:ext cx="5029200" cy="347472"/>
          </a:xfrm>
          <a:prstGeom prst="rect">
            <a:avLst/>
          </a:prstGeom>
          <a:noFill/>
        </p:spPr>
        <p:txBody>
          <a:bodyPr wrap="square">
            <a:spAutoFit/>
          </a:bodyPr>
          <a:lstStyle/>
          <a:p>
            <a:pPr algn="l"/>
            <a:r>
              <a:rPr sz="1300" b="1">
                <a:solidFill>
                  <a:srgbClr val="1A3A5C"/>
                </a:solidFill>
                <a:latin typeface="Meiryo"/>
              </a:rPr>
              <a:t>ニーズ分析から始める</a:t>
            </a:r>
          </a:p>
        </p:txBody>
      </p:sp>
      <p:sp>
        <p:nvSpPr>
          <p:cNvPr id="18" name="TextBox 17"/>
          <p:cNvSpPr txBox="1"/>
          <p:nvPr/>
        </p:nvSpPr>
        <p:spPr>
          <a:xfrm>
            <a:off x="6922007" y="2560320"/>
            <a:ext cx="5029200" cy="292608"/>
          </a:xfrm>
          <a:prstGeom prst="rect">
            <a:avLst/>
          </a:prstGeom>
          <a:noFill/>
        </p:spPr>
        <p:txBody>
          <a:bodyPr wrap="square">
            <a:spAutoFit/>
          </a:bodyPr>
          <a:lstStyle/>
          <a:p>
            <a:pPr algn="l"/>
            <a:r>
              <a:rPr sz="1100" b="0">
                <a:solidFill>
                  <a:srgbClr val="7F8C8D"/>
                </a:solidFill>
                <a:latin typeface="Meiryo"/>
              </a:rPr>
              <a:t>競技・ポジション・体力レベルの分析が必須</a:t>
            </a:r>
          </a:p>
        </p:txBody>
      </p:sp>
      <p:sp>
        <p:nvSpPr>
          <p:cNvPr id="19" name="Rectangle 18"/>
          <p:cNvSpPr/>
          <p:nvPr/>
        </p:nvSpPr>
        <p:spPr>
          <a:xfrm>
            <a:off x="274320" y="3291839"/>
            <a:ext cx="50292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3383279"/>
            <a:ext cx="411480" cy="502920"/>
          </a:xfrm>
          <a:prstGeom prst="rect">
            <a:avLst/>
          </a:prstGeom>
          <a:noFill/>
        </p:spPr>
        <p:txBody>
          <a:bodyPr wrap="square">
            <a:spAutoFit/>
          </a:bodyPr>
          <a:lstStyle/>
          <a:p>
            <a:pPr algn="ctr"/>
            <a:r>
              <a:rPr sz="1800" b="1">
                <a:solidFill>
                  <a:srgbClr val="FFFFFF"/>
                </a:solidFill>
                <a:latin typeface="Meiryo"/>
              </a:rPr>
              <a:t>3</a:t>
            </a:r>
          </a:p>
        </p:txBody>
      </p:sp>
      <p:sp>
        <p:nvSpPr>
          <p:cNvPr id="21" name="Rectangle 20"/>
          <p:cNvSpPr/>
          <p:nvPr/>
        </p:nvSpPr>
        <p:spPr>
          <a:xfrm>
            <a:off x="822959" y="3291839"/>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3328415"/>
            <a:ext cx="5029200" cy="347472"/>
          </a:xfrm>
          <a:prstGeom prst="rect">
            <a:avLst/>
          </a:prstGeom>
          <a:noFill/>
        </p:spPr>
        <p:txBody>
          <a:bodyPr wrap="square">
            <a:spAutoFit/>
          </a:bodyPr>
          <a:lstStyle/>
          <a:p>
            <a:pPr algn="l"/>
            <a:r>
              <a:rPr sz="1300" b="1">
                <a:solidFill>
                  <a:srgbClr val="1A3A5C"/>
                </a:solidFill>
                <a:latin typeface="Meiryo"/>
              </a:rPr>
              <a:t>段階的に強度を上げる</a:t>
            </a:r>
          </a:p>
        </p:txBody>
      </p:sp>
      <p:sp>
        <p:nvSpPr>
          <p:cNvPr id="23" name="TextBox 22"/>
          <p:cNvSpPr txBox="1"/>
          <p:nvPr/>
        </p:nvSpPr>
        <p:spPr>
          <a:xfrm>
            <a:off x="932688" y="3657599"/>
            <a:ext cx="5029200" cy="292608"/>
          </a:xfrm>
          <a:prstGeom prst="rect">
            <a:avLst/>
          </a:prstGeom>
          <a:noFill/>
        </p:spPr>
        <p:txBody>
          <a:bodyPr wrap="square">
            <a:spAutoFit/>
          </a:bodyPr>
          <a:lstStyle/>
          <a:p>
            <a:pPr algn="l"/>
            <a:r>
              <a:rPr sz="1100" b="0">
                <a:solidFill>
                  <a:srgbClr val="7F8C8D"/>
                </a:solidFill>
                <a:latin typeface="Meiryo"/>
              </a:rPr>
              <a:t>漸進性の原則に従いプログラムを組む</a:t>
            </a:r>
          </a:p>
        </p:txBody>
      </p:sp>
      <p:sp>
        <p:nvSpPr>
          <p:cNvPr id="24" name="Rectangle 23"/>
          <p:cNvSpPr/>
          <p:nvPr/>
        </p:nvSpPr>
        <p:spPr>
          <a:xfrm>
            <a:off x="6263640" y="3291839"/>
            <a:ext cx="502920" cy="68580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59" y="3383279"/>
            <a:ext cx="411480" cy="502920"/>
          </a:xfrm>
          <a:prstGeom prst="rect">
            <a:avLst/>
          </a:prstGeom>
          <a:noFill/>
        </p:spPr>
        <p:txBody>
          <a:bodyPr wrap="square">
            <a:spAutoFit/>
          </a:bodyPr>
          <a:lstStyle/>
          <a:p>
            <a:pPr algn="ctr"/>
            <a:r>
              <a:rPr sz="1800" b="1">
                <a:solidFill>
                  <a:srgbClr val="FFFFFF"/>
                </a:solidFill>
                <a:latin typeface="Meiryo"/>
              </a:rPr>
              <a:t>4</a:t>
            </a:r>
          </a:p>
        </p:txBody>
      </p:sp>
      <p:sp>
        <p:nvSpPr>
          <p:cNvPr id="26" name="Rectangle 25"/>
          <p:cNvSpPr/>
          <p:nvPr/>
        </p:nvSpPr>
        <p:spPr>
          <a:xfrm>
            <a:off x="6812279" y="3291839"/>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22007" y="3328415"/>
            <a:ext cx="5029200" cy="347472"/>
          </a:xfrm>
          <a:prstGeom prst="rect">
            <a:avLst/>
          </a:prstGeom>
          <a:noFill/>
        </p:spPr>
        <p:txBody>
          <a:bodyPr wrap="square">
            <a:spAutoFit/>
          </a:bodyPr>
          <a:lstStyle/>
          <a:p>
            <a:pPr algn="l"/>
            <a:r>
              <a:rPr sz="1300" b="1">
                <a:solidFill>
                  <a:srgbClr val="1A3A5C"/>
                </a:solidFill>
                <a:latin typeface="Meiryo"/>
              </a:rPr>
              <a:t>週2〜3回・48時間の回復</a:t>
            </a:r>
          </a:p>
        </p:txBody>
      </p:sp>
      <p:sp>
        <p:nvSpPr>
          <p:cNvPr id="28" name="TextBox 27"/>
          <p:cNvSpPr txBox="1"/>
          <p:nvPr/>
        </p:nvSpPr>
        <p:spPr>
          <a:xfrm>
            <a:off x="6922007" y="3657599"/>
            <a:ext cx="5029200" cy="292608"/>
          </a:xfrm>
          <a:prstGeom prst="rect">
            <a:avLst/>
          </a:prstGeom>
          <a:noFill/>
        </p:spPr>
        <p:txBody>
          <a:bodyPr wrap="square">
            <a:spAutoFit/>
          </a:bodyPr>
          <a:lstStyle/>
          <a:p>
            <a:pPr algn="l"/>
            <a:r>
              <a:rPr sz="1100" b="0">
                <a:solidFill>
                  <a:srgbClr val="7F8C8D"/>
                </a:solidFill>
                <a:latin typeface="Meiryo"/>
              </a:rPr>
              <a:t>過剰トレーニングを避け十分な回復を確保</a:t>
            </a:r>
          </a:p>
        </p:txBody>
      </p:sp>
      <p:sp>
        <p:nvSpPr>
          <p:cNvPr id="29" name="Rectangle 28"/>
          <p:cNvSpPr/>
          <p:nvPr/>
        </p:nvSpPr>
        <p:spPr>
          <a:xfrm>
            <a:off x="274320" y="4389120"/>
            <a:ext cx="502920" cy="68580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 y="4480559"/>
            <a:ext cx="411480" cy="502920"/>
          </a:xfrm>
          <a:prstGeom prst="rect">
            <a:avLst/>
          </a:prstGeom>
          <a:noFill/>
        </p:spPr>
        <p:txBody>
          <a:bodyPr wrap="square">
            <a:spAutoFit/>
          </a:bodyPr>
          <a:lstStyle/>
          <a:p>
            <a:pPr algn="ctr"/>
            <a:r>
              <a:rPr sz="1800" b="1">
                <a:solidFill>
                  <a:srgbClr val="FFFFFF"/>
                </a:solidFill>
                <a:latin typeface="Meiryo"/>
              </a:rPr>
              <a:t>5</a:t>
            </a:r>
          </a:p>
        </p:txBody>
      </p:sp>
      <p:sp>
        <p:nvSpPr>
          <p:cNvPr id="31" name="Rectangle 30"/>
          <p:cNvSpPr/>
          <p:nvPr/>
        </p:nvSpPr>
        <p:spPr>
          <a:xfrm>
            <a:off x="822959" y="438912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 y="4425696"/>
            <a:ext cx="5029200" cy="347472"/>
          </a:xfrm>
          <a:prstGeom prst="rect">
            <a:avLst/>
          </a:prstGeom>
          <a:noFill/>
        </p:spPr>
        <p:txBody>
          <a:bodyPr wrap="square">
            <a:spAutoFit/>
          </a:bodyPr>
          <a:lstStyle/>
          <a:p>
            <a:pPr algn="l"/>
            <a:r>
              <a:rPr sz="1300" b="1">
                <a:solidFill>
                  <a:srgbClr val="1A3A5C"/>
                </a:solidFill>
                <a:latin typeface="Meiryo"/>
              </a:rPr>
              <a:t>ウォームアップを必ず実施</a:t>
            </a:r>
          </a:p>
        </p:txBody>
      </p:sp>
      <p:sp>
        <p:nvSpPr>
          <p:cNvPr id="33" name="TextBox 32"/>
          <p:cNvSpPr txBox="1"/>
          <p:nvPr/>
        </p:nvSpPr>
        <p:spPr>
          <a:xfrm>
            <a:off x="932688" y="4754880"/>
            <a:ext cx="5029200" cy="292608"/>
          </a:xfrm>
          <a:prstGeom prst="rect">
            <a:avLst/>
          </a:prstGeom>
          <a:noFill/>
        </p:spPr>
        <p:txBody>
          <a:bodyPr wrap="square">
            <a:spAutoFit/>
          </a:bodyPr>
          <a:lstStyle/>
          <a:p>
            <a:pPr algn="l"/>
            <a:r>
              <a:rPr sz="1100" b="0">
                <a:solidFill>
                  <a:srgbClr val="7F8C8D"/>
                </a:solidFill>
                <a:latin typeface="Meiryo"/>
              </a:rPr>
              <a:t>マーチング・ジョギング・スキップ等</a:t>
            </a:r>
          </a:p>
        </p:txBody>
      </p:sp>
      <p:sp>
        <p:nvSpPr>
          <p:cNvPr id="34" name="Rectangle 33"/>
          <p:cNvSpPr/>
          <p:nvPr/>
        </p:nvSpPr>
        <p:spPr>
          <a:xfrm>
            <a:off x="6263640" y="4389120"/>
            <a:ext cx="502920" cy="685800"/>
          </a:xfrm>
          <a:prstGeom prst="rect">
            <a:avLst/>
          </a:prstGeom>
          <a:solidFill>
            <a:srgbClr val="E67E2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59" y="4480559"/>
            <a:ext cx="411480" cy="502920"/>
          </a:xfrm>
          <a:prstGeom prst="rect">
            <a:avLst/>
          </a:prstGeom>
          <a:noFill/>
        </p:spPr>
        <p:txBody>
          <a:bodyPr wrap="square">
            <a:spAutoFit/>
          </a:bodyPr>
          <a:lstStyle/>
          <a:p>
            <a:pPr algn="ctr"/>
            <a:r>
              <a:rPr sz="1800" b="1">
                <a:solidFill>
                  <a:srgbClr val="FFFFFF"/>
                </a:solidFill>
                <a:latin typeface="Meiryo"/>
              </a:rPr>
              <a:t>6</a:t>
            </a:r>
          </a:p>
        </p:txBody>
      </p:sp>
      <p:sp>
        <p:nvSpPr>
          <p:cNvPr id="36" name="Rectangle 35"/>
          <p:cNvSpPr/>
          <p:nvPr/>
        </p:nvSpPr>
        <p:spPr>
          <a:xfrm>
            <a:off x="6812279" y="438912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22007" y="4425696"/>
            <a:ext cx="5029200" cy="347472"/>
          </a:xfrm>
          <a:prstGeom prst="rect">
            <a:avLst/>
          </a:prstGeom>
          <a:noFill/>
        </p:spPr>
        <p:txBody>
          <a:bodyPr wrap="square">
            <a:spAutoFit/>
          </a:bodyPr>
          <a:lstStyle/>
          <a:p>
            <a:pPr algn="l"/>
            <a:r>
              <a:rPr sz="1300" b="1">
                <a:solidFill>
                  <a:srgbClr val="1A3A5C"/>
                </a:solidFill>
                <a:latin typeface="Meiryo"/>
              </a:rPr>
              <a:t>施設・用具の安全確認</a:t>
            </a:r>
          </a:p>
        </p:txBody>
      </p:sp>
      <p:sp>
        <p:nvSpPr>
          <p:cNvPr id="38" name="TextBox 37"/>
          <p:cNvSpPr txBox="1"/>
          <p:nvPr/>
        </p:nvSpPr>
        <p:spPr>
          <a:xfrm>
            <a:off x="6922007" y="4754880"/>
            <a:ext cx="5029200" cy="292608"/>
          </a:xfrm>
          <a:prstGeom prst="rect">
            <a:avLst/>
          </a:prstGeom>
          <a:noFill/>
        </p:spPr>
        <p:txBody>
          <a:bodyPr wrap="square">
            <a:spAutoFit/>
          </a:bodyPr>
          <a:lstStyle/>
          <a:p>
            <a:pPr algn="l"/>
            <a:r>
              <a:rPr sz="1100" b="0">
                <a:solidFill>
                  <a:srgbClr val="7F8C8D"/>
                </a:solidFill>
                <a:latin typeface="Meiryo"/>
              </a:rPr>
              <a:t>床面・天井高・ボックス高・シューズ</a:t>
            </a:r>
          </a:p>
        </p:txBody>
      </p:sp>
      <p:sp>
        <p:nvSpPr>
          <p:cNvPr id="39" name="Rectangle 38"/>
          <p:cNvSpPr/>
          <p:nvPr/>
        </p:nvSpPr>
        <p:spPr>
          <a:xfrm>
            <a:off x="3200400" y="5806440"/>
            <a:ext cx="502920" cy="68580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6120" y="5897879"/>
            <a:ext cx="411480" cy="502920"/>
          </a:xfrm>
          <a:prstGeom prst="rect">
            <a:avLst/>
          </a:prstGeom>
          <a:noFill/>
        </p:spPr>
        <p:txBody>
          <a:bodyPr wrap="square">
            <a:spAutoFit/>
          </a:bodyPr>
          <a:lstStyle/>
          <a:p>
            <a:pPr algn="ctr"/>
            <a:r>
              <a:rPr sz="1800" b="1">
                <a:solidFill>
                  <a:srgbClr val="FFFFFF"/>
                </a:solidFill>
                <a:latin typeface="Meiryo"/>
              </a:rPr>
              <a:t>7</a:t>
            </a:r>
          </a:p>
        </p:txBody>
      </p:sp>
      <p:sp>
        <p:nvSpPr>
          <p:cNvPr id="41" name="Rectangle 40"/>
          <p:cNvSpPr/>
          <p:nvPr/>
        </p:nvSpPr>
        <p:spPr>
          <a:xfrm>
            <a:off x="3749039" y="580644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858768" y="5843016"/>
            <a:ext cx="5029200" cy="347472"/>
          </a:xfrm>
          <a:prstGeom prst="rect">
            <a:avLst/>
          </a:prstGeom>
          <a:noFill/>
        </p:spPr>
        <p:txBody>
          <a:bodyPr wrap="square">
            <a:spAutoFit/>
          </a:bodyPr>
          <a:lstStyle/>
          <a:p>
            <a:pPr algn="l"/>
            <a:r>
              <a:rPr sz="1300" b="1">
                <a:solidFill>
                  <a:srgbClr val="1A3A5C"/>
                </a:solidFill>
                <a:latin typeface="Meiryo"/>
              </a:rPr>
              <a:t>対象者の特性に合わせる</a:t>
            </a:r>
          </a:p>
        </p:txBody>
      </p:sp>
      <p:sp>
        <p:nvSpPr>
          <p:cNvPr id="43" name="TextBox 42"/>
          <p:cNvSpPr txBox="1"/>
          <p:nvPr/>
        </p:nvSpPr>
        <p:spPr>
          <a:xfrm>
            <a:off x="3858768" y="6172200"/>
            <a:ext cx="5029200" cy="292608"/>
          </a:xfrm>
          <a:prstGeom prst="rect">
            <a:avLst/>
          </a:prstGeom>
          <a:noFill/>
        </p:spPr>
        <p:txBody>
          <a:bodyPr wrap="square">
            <a:spAutoFit/>
          </a:bodyPr>
          <a:lstStyle/>
          <a:p>
            <a:pPr algn="l"/>
            <a:r>
              <a:rPr sz="1100" b="0">
                <a:solidFill>
                  <a:srgbClr val="7F8C8D"/>
                </a:solidFill>
                <a:latin typeface="Meiryo"/>
              </a:rPr>
              <a:t>年齢・経験・体力に応じた個別プログラム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確認クイズ（5問）</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Check Quiz</a:t>
            </a:r>
          </a:p>
        </p:txBody>
      </p:sp>
      <p:sp>
        <p:nvSpPr>
          <p:cNvPr id="7" name="Rectangle 6"/>
          <p:cNvSpPr/>
          <p:nvPr/>
        </p:nvSpPr>
        <p:spPr>
          <a:xfrm>
            <a:off x="274320" y="1417320"/>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417320"/>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72184"/>
            <a:ext cx="5486400" cy="292608"/>
          </a:xfrm>
          <a:prstGeom prst="rect">
            <a:avLst/>
          </a:prstGeom>
          <a:noFill/>
        </p:spPr>
        <p:txBody>
          <a:bodyPr wrap="square">
            <a:spAutoFit/>
          </a:bodyPr>
          <a:lstStyle/>
          <a:p>
            <a:pPr algn="l"/>
            <a:r>
              <a:rPr sz="1200" b="1">
                <a:solidFill>
                  <a:srgbClr val="FFFFFF"/>
                </a:solidFill>
                <a:latin typeface="Meiryo"/>
              </a:rPr>
              <a:t>Q1  SSCの第1段階は何か？</a:t>
            </a:r>
          </a:p>
        </p:txBody>
      </p:sp>
      <p:sp>
        <p:nvSpPr>
          <p:cNvPr id="10" name="Rectangle 9"/>
          <p:cNvSpPr/>
          <p:nvPr/>
        </p:nvSpPr>
        <p:spPr>
          <a:xfrm>
            <a:off x="365760" y="1920240"/>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011680"/>
            <a:ext cx="5303520" cy="1005840"/>
          </a:xfrm>
          <a:prstGeom prst="rect">
            <a:avLst/>
          </a:prstGeom>
          <a:noFill/>
        </p:spPr>
        <p:txBody>
          <a:bodyPr wrap="square">
            <a:spAutoFit/>
          </a:bodyPr>
          <a:lstStyle/>
          <a:p>
            <a:pPr algn="l"/>
            <a:r>
              <a:rPr sz="1300" b="0">
                <a:solidFill>
                  <a:srgbClr val="1F5C8B"/>
                </a:solidFill>
                <a:latin typeface="Meiryo"/>
              </a:rPr>
              <a:t>答え：伸張性局面（主動筋が引き伸ばされエネルギーを蓄積）</a:t>
            </a:r>
          </a:p>
        </p:txBody>
      </p:sp>
      <p:sp>
        <p:nvSpPr>
          <p:cNvPr id="12" name="Rectangle 11"/>
          <p:cNvSpPr/>
          <p:nvPr/>
        </p:nvSpPr>
        <p:spPr>
          <a:xfrm>
            <a:off x="6263640" y="1417320"/>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417320"/>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79" y="1472184"/>
            <a:ext cx="5486400" cy="292608"/>
          </a:xfrm>
          <a:prstGeom prst="rect">
            <a:avLst/>
          </a:prstGeom>
          <a:noFill/>
        </p:spPr>
        <p:txBody>
          <a:bodyPr wrap="square">
            <a:spAutoFit/>
          </a:bodyPr>
          <a:lstStyle/>
          <a:p>
            <a:pPr algn="l"/>
            <a:r>
              <a:rPr sz="1200" b="1">
                <a:solidFill>
                  <a:srgbClr val="FFFFFF"/>
                </a:solidFill>
                <a:latin typeface="Meiryo"/>
              </a:rPr>
              <a:t>Q2  プライオメトリクスで弾性エネルギーを主に蓄える要素は？</a:t>
            </a:r>
          </a:p>
        </p:txBody>
      </p:sp>
      <p:sp>
        <p:nvSpPr>
          <p:cNvPr id="15" name="Rectangle 14"/>
          <p:cNvSpPr/>
          <p:nvPr/>
        </p:nvSpPr>
        <p:spPr>
          <a:xfrm>
            <a:off x="6355079" y="1920240"/>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2011680"/>
            <a:ext cx="5303520" cy="1005840"/>
          </a:xfrm>
          <a:prstGeom prst="rect">
            <a:avLst/>
          </a:prstGeom>
          <a:noFill/>
        </p:spPr>
        <p:txBody>
          <a:bodyPr wrap="square">
            <a:spAutoFit/>
          </a:bodyPr>
          <a:lstStyle/>
          <a:p>
            <a:pPr algn="l"/>
            <a:r>
              <a:rPr sz="1300" b="0">
                <a:solidFill>
                  <a:srgbClr val="1F5C8B"/>
                </a:solidFill>
                <a:latin typeface="Meiryo"/>
              </a:rPr>
              <a:t>答え：SEC（直列弾性要素）</a:t>
            </a:r>
          </a:p>
        </p:txBody>
      </p:sp>
      <p:sp>
        <p:nvSpPr>
          <p:cNvPr id="17" name="Rectangle 16"/>
          <p:cNvSpPr/>
          <p:nvPr/>
        </p:nvSpPr>
        <p:spPr>
          <a:xfrm>
            <a:off x="274320" y="3520439"/>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3520439"/>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575303"/>
            <a:ext cx="5486400" cy="292608"/>
          </a:xfrm>
          <a:prstGeom prst="rect">
            <a:avLst/>
          </a:prstGeom>
          <a:noFill/>
        </p:spPr>
        <p:txBody>
          <a:bodyPr wrap="square">
            <a:spAutoFit/>
          </a:bodyPr>
          <a:lstStyle/>
          <a:p>
            <a:pPr algn="l"/>
            <a:r>
              <a:rPr sz="1200" b="1">
                <a:solidFill>
                  <a:srgbClr val="FFFFFF"/>
                </a:solidFill>
                <a:latin typeface="Meiryo"/>
              </a:rPr>
              <a:t>Q3  初心者の1セッション当たりの回数は？</a:t>
            </a:r>
          </a:p>
        </p:txBody>
      </p:sp>
      <p:sp>
        <p:nvSpPr>
          <p:cNvPr id="20" name="Rectangle 19"/>
          <p:cNvSpPr/>
          <p:nvPr/>
        </p:nvSpPr>
        <p:spPr>
          <a:xfrm>
            <a:off x="365760" y="4023359"/>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114800"/>
            <a:ext cx="5303520" cy="1005840"/>
          </a:xfrm>
          <a:prstGeom prst="rect">
            <a:avLst/>
          </a:prstGeom>
          <a:noFill/>
        </p:spPr>
        <p:txBody>
          <a:bodyPr wrap="square">
            <a:spAutoFit/>
          </a:bodyPr>
          <a:lstStyle/>
          <a:p>
            <a:pPr algn="l"/>
            <a:r>
              <a:rPr sz="1300" b="0">
                <a:solidFill>
                  <a:srgbClr val="1F5C8B"/>
                </a:solidFill>
                <a:latin typeface="Meiryo"/>
              </a:rPr>
              <a:t>答え：80〜100回</a:t>
            </a:r>
          </a:p>
        </p:txBody>
      </p:sp>
      <p:sp>
        <p:nvSpPr>
          <p:cNvPr id="22" name="Rectangle 21"/>
          <p:cNvSpPr/>
          <p:nvPr/>
        </p:nvSpPr>
        <p:spPr>
          <a:xfrm>
            <a:off x="6263640" y="3520439"/>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3520439"/>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79" y="3575303"/>
            <a:ext cx="5486400" cy="292608"/>
          </a:xfrm>
          <a:prstGeom prst="rect">
            <a:avLst/>
          </a:prstGeom>
          <a:noFill/>
        </p:spPr>
        <p:txBody>
          <a:bodyPr wrap="square">
            <a:spAutoFit/>
          </a:bodyPr>
          <a:lstStyle/>
          <a:p>
            <a:pPr algn="l"/>
            <a:r>
              <a:rPr sz="1200" b="1">
                <a:solidFill>
                  <a:srgbClr val="FFFFFF"/>
                </a:solidFill>
                <a:latin typeface="Meiryo"/>
              </a:rPr>
              <a:t>Q4  デプスジャンプのボックス最大高さは？</a:t>
            </a:r>
          </a:p>
        </p:txBody>
      </p:sp>
      <p:sp>
        <p:nvSpPr>
          <p:cNvPr id="25" name="Rectangle 24"/>
          <p:cNvSpPr/>
          <p:nvPr/>
        </p:nvSpPr>
        <p:spPr>
          <a:xfrm>
            <a:off x="6355079" y="4023359"/>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114800"/>
            <a:ext cx="5303520" cy="1005840"/>
          </a:xfrm>
          <a:prstGeom prst="rect">
            <a:avLst/>
          </a:prstGeom>
          <a:noFill/>
        </p:spPr>
        <p:txBody>
          <a:bodyPr wrap="square">
            <a:spAutoFit/>
          </a:bodyPr>
          <a:lstStyle/>
          <a:p>
            <a:pPr algn="l"/>
            <a:r>
              <a:rPr sz="1300" b="0">
                <a:solidFill>
                  <a:srgbClr val="1F5C8B"/>
                </a:solidFill>
                <a:latin typeface="Meiryo"/>
              </a:rPr>
              <a:t>答え：1.2m（48インチ）</a:t>
            </a:r>
          </a:p>
        </p:txBody>
      </p:sp>
      <p:sp>
        <p:nvSpPr>
          <p:cNvPr id="27" name="Rectangle 26"/>
          <p:cNvSpPr/>
          <p:nvPr/>
        </p:nvSpPr>
        <p:spPr>
          <a:xfrm>
            <a:off x="3200400" y="5486400"/>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00400" y="5486400"/>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1840" y="5541264"/>
            <a:ext cx="5486400" cy="292608"/>
          </a:xfrm>
          <a:prstGeom prst="rect">
            <a:avLst/>
          </a:prstGeom>
          <a:noFill/>
        </p:spPr>
        <p:txBody>
          <a:bodyPr wrap="square">
            <a:spAutoFit/>
          </a:bodyPr>
          <a:lstStyle/>
          <a:p>
            <a:pPr algn="l"/>
            <a:r>
              <a:rPr sz="1200" b="1">
                <a:solidFill>
                  <a:srgbClr val="FFFFFF"/>
                </a:solidFill>
                <a:latin typeface="Meiryo"/>
              </a:rPr>
              <a:t>Q5  青年期に推奨されないドリルは？</a:t>
            </a:r>
          </a:p>
        </p:txBody>
      </p:sp>
      <p:sp>
        <p:nvSpPr>
          <p:cNvPr id="30" name="Rectangle 29"/>
          <p:cNvSpPr/>
          <p:nvPr/>
        </p:nvSpPr>
        <p:spPr>
          <a:xfrm>
            <a:off x="3291840" y="5989320"/>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83280" y="6080760"/>
            <a:ext cx="5303520" cy="1005840"/>
          </a:xfrm>
          <a:prstGeom prst="rect">
            <a:avLst/>
          </a:prstGeom>
          <a:noFill/>
        </p:spPr>
        <p:txBody>
          <a:bodyPr wrap="square">
            <a:spAutoFit/>
          </a:bodyPr>
          <a:lstStyle/>
          <a:p>
            <a:pPr algn="l"/>
            <a:r>
              <a:rPr sz="1300" b="0">
                <a:solidFill>
                  <a:srgbClr val="1F5C8B"/>
                </a:solidFill>
                <a:latin typeface="Meiryo"/>
              </a:rPr>
              <a:t>答え：デプスジャンプや高強度の下半身プライオメトリクス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